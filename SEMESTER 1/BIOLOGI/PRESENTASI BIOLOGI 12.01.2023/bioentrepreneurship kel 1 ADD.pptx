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6"/>
  </p:notesMasterIdLst>
  <p:sldIdLst>
    <p:sldId id="256" r:id="rId2"/>
    <p:sldId id="263" r:id="rId3"/>
    <p:sldId id="262" r:id="rId4"/>
    <p:sldId id="257" r:id="rId5"/>
    <p:sldId id="258" r:id="rId6"/>
    <p:sldId id="296" r:id="rId7"/>
    <p:sldId id="259" r:id="rId8"/>
    <p:sldId id="260" r:id="rId9"/>
    <p:sldId id="297" r:id="rId10"/>
    <p:sldId id="261" r:id="rId11"/>
    <p:sldId id="298" r:id="rId12"/>
    <p:sldId id="281" r:id="rId13"/>
    <p:sldId id="300" r:id="rId14"/>
    <p:sldId id="266" r:id="rId15"/>
  </p:sldIdLst>
  <p:sldSz cx="9144000" cy="5143500" type="screen16x9"/>
  <p:notesSz cx="6858000" cy="9144000"/>
  <p:embeddedFontLst>
    <p:embeddedFont>
      <p:font typeface="Fira Sans Extra Condensed Medium" panose="020B0604020202020204" charset="0"/>
      <p:regular r:id="rId17"/>
      <p:bold r:id="rId18"/>
      <p:italic r:id="rId19"/>
      <p:boldItalic r:id="rId20"/>
    </p:embeddedFont>
    <p:embeddedFont>
      <p:font typeface="Montserrat" panose="00000500000000000000" pitchFamily="2" charset="0"/>
      <p:regular r:id="rId21"/>
      <p:bold r:id="rId22"/>
      <p:italic r:id="rId23"/>
      <p:boldItalic r:id="rId24"/>
    </p:embeddedFont>
    <p:embeddedFont>
      <p:font typeface="Montserrat Black" panose="00000A00000000000000" pitchFamily="2" charset="0"/>
      <p:bold r:id="rId25"/>
      <p:boldItalic r:id="rId26"/>
    </p:embeddedFont>
    <p:embeddedFont>
      <p:font typeface="Niagara Solid" panose="04020502070702020202" pitchFamily="82" charset="0"/>
      <p:regular r:id="rId27"/>
    </p:embeddedFont>
    <p:embeddedFont>
      <p:font typeface="Raleway SemiBold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648ABA58-3949-496E-AE51-3EF333248984}">
          <p14:sldIdLst>
            <p14:sldId id="256"/>
            <p14:sldId id="263"/>
            <p14:sldId id="262"/>
            <p14:sldId id="257"/>
            <p14:sldId id="258"/>
            <p14:sldId id="296"/>
            <p14:sldId id="259"/>
            <p14:sldId id="260"/>
            <p14:sldId id="297"/>
          </p14:sldIdLst>
        </p14:section>
        <p14:section name="Untitled Section" id="{B22CD64A-D85D-4877-B890-A05CA38FEA5C}">
          <p14:sldIdLst>
            <p14:sldId id="261"/>
            <p14:sldId id="298"/>
            <p14:sldId id="281"/>
            <p14:sldId id="300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B172C7E-A1EC-4D94-9C7D-0BA907CA70BF}">
  <a:tblStyle styleId="{8B172C7E-A1EC-4D94-9C7D-0BA907CA70B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82" autoAdjust="0"/>
    <p:restoredTop sz="94660"/>
  </p:normalViewPr>
  <p:slideViewPr>
    <p:cSldViewPr snapToGrid="0">
      <p:cViewPr varScale="1">
        <p:scale>
          <a:sx n="91" d="100"/>
          <a:sy n="91" d="100"/>
        </p:scale>
        <p:origin x="3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75b2f7bb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175b2f7bbf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3da6b54aad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13da6b54aad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13d7f5dbcf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13d7f5dbcf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3da6b54aad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13da6b54aad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3d7f5dbcf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13d7f5dbcf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3da6b54aad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3da6b54aad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3da6b54aad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13da6b54aad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76a07d953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76a07d953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13da6b54aad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13da6b54aad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13da6b54aad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13da6b54aad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36274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3d7f5dbcf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13d7f5dbcf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75800" y="1322150"/>
            <a:ext cx="4920600" cy="18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45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887025" y="3396766"/>
            <a:ext cx="4557000" cy="4353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 amt="6000"/>
          </a:blip>
          <a:stretch>
            <a:fillRect/>
          </a:stretch>
        </p:blipFill>
        <p:spPr>
          <a:xfrm>
            <a:off x="6265850" y="-465850"/>
            <a:ext cx="3751726" cy="378374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>
            <a:spLocks noGrp="1"/>
          </p:cNvSpPr>
          <p:nvPr>
            <p:ph type="pic" idx="2"/>
          </p:nvPr>
        </p:nvSpPr>
        <p:spPr>
          <a:xfrm>
            <a:off x="5848800" y="861100"/>
            <a:ext cx="2519400" cy="3434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715100" y="2760050"/>
            <a:ext cx="3897600" cy="64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1613650" y="3385400"/>
            <a:ext cx="2999100" cy="64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 hasCustomPrompt="1"/>
          </p:nvPr>
        </p:nvSpPr>
        <p:spPr>
          <a:xfrm>
            <a:off x="2842425" y="1230449"/>
            <a:ext cx="1669200" cy="1220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8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pic>
        <p:nvPicPr>
          <p:cNvPr id="17" name="Google Shape;17;p3"/>
          <p:cNvPicPr preferRelativeResize="0"/>
          <p:nvPr/>
        </p:nvPicPr>
        <p:blipFill>
          <a:blip r:embed="rId2">
            <a:alphaModFix amt="8000"/>
          </a:blip>
          <a:stretch>
            <a:fillRect/>
          </a:stretch>
        </p:blipFill>
        <p:spPr>
          <a:xfrm rot="5400000">
            <a:off x="5886725" y="1572963"/>
            <a:ext cx="3751726" cy="378374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>
            <a:spLocks noGrp="1"/>
          </p:cNvSpPr>
          <p:nvPr>
            <p:ph type="pic" idx="3"/>
          </p:nvPr>
        </p:nvSpPr>
        <p:spPr>
          <a:xfrm>
            <a:off x="5145900" y="762300"/>
            <a:ext cx="3282900" cy="3618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715100" y="563625"/>
            <a:ext cx="7713900" cy="6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34" name="Google Shape;34;p6"/>
          <p:cNvPicPr preferRelativeResize="0"/>
          <p:nvPr/>
        </p:nvPicPr>
        <p:blipFill>
          <a:blip r:embed="rId2">
            <a:alphaModFix amt="6000"/>
          </a:blip>
          <a:stretch>
            <a:fillRect/>
          </a:stretch>
        </p:blipFill>
        <p:spPr>
          <a:xfrm>
            <a:off x="7201125" y="-252950"/>
            <a:ext cx="2934099" cy="29591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" name="Google Shape;35;p6"/>
          <p:cNvCxnSpPr/>
          <p:nvPr/>
        </p:nvCxnSpPr>
        <p:spPr>
          <a:xfrm rot="10800000">
            <a:off x="738900" y="546875"/>
            <a:ext cx="7666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4915975" y="907463"/>
            <a:ext cx="3513000" cy="16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4915975" y="2667048"/>
            <a:ext cx="3513000" cy="13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pic>
        <p:nvPicPr>
          <p:cNvPr id="47" name="Google Shape;47;p9"/>
          <p:cNvPicPr preferRelativeResize="0"/>
          <p:nvPr/>
        </p:nvPicPr>
        <p:blipFill>
          <a:blip r:embed="rId2">
            <a:alphaModFix amt="8000"/>
          </a:blip>
          <a:stretch>
            <a:fillRect/>
          </a:stretch>
        </p:blipFill>
        <p:spPr>
          <a:xfrm>
            <a:off x="-524379" y="2133338"/>
            <a:ext cx="2853875" cy="343402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9"/>
          <p:cNvSpPr>
            <a:spLocks noGrp="1"/>
          </p:cNvSpPr>
          <p:nvPr>
            <p:ph type="pic" idx="2"/>
          </p:nvPr>
        </p:nvSpPr>
        <p:spPr>
          <a:xfrm>
            <a:off x="715975" y="700125"/>
            <a:ext cx="3637800" cy="3743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title"/>
          </p:nvPr>
        </p:nvSpPr>
        <p:spPr>
          <a:xfrm>
            <a:off x="5507398" y="972188"/>
            <a:ext cx="2921400" cy="20292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1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1695997" y="1476156"/>
            <a:ext cx="2654700" cy="40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1"/>
          </p:nvPr>
        </p:nvSpPr>
        <p:spPr>
          <a:xfrm>
            <a:off x="1695997" y="1757599"/>
            <a:ext cx="26547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title" idx="2" hasCustomPrompt="1"/>
          </p:nvPr>
        </p:nvSpPr>
        <p:spPr>
          <a:xfrm>
            <a:off x="831474" y="1627365"/>
            <a:ext cx="740400" cy="5778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>
            <a:spLocks noGrp="1"/>
          </p:cNvSpPr>
          <p:nvPr>
            <p:ph type="ctrTitle" idx="3"/>
          </p:nvPr>
        </p:nvSpPr>
        <p:spPr>
          <a:xfrm>
            <a:off x="1695997" y="2596942"/>
            <a:ext cx="2654700" cy="40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4"/>
          </p:nvPr>
        </p:nvSpPr>
        <p:spPr>
          <a:xfrm>
            <a:off x="1695997" y="2878385"/>
            <a:ext cx="26547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5" hasCustomPrompt="1"/>
          </p:nvPr>
        </p:nvSpPr>
        <p:spPr>
          <a:xfrm>
            <a:off x="831474" y="2747570"/>
            <a:ext cx="740400" cy="5778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ctrTitle" idx="6"/>
          </p:nvPr>
        </p:nvSpPr>
        <p:spPr>
          <a:xfrm>
            <a:off x="1695997" y="3717728"/>
            <a:ext cx="2654700" cy="40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7"/>
          </p:nvPr>
        </p:nvSpPr>
        <p:spPr>
          <a:xfrm>
            <a:off x="1695997" y="3999171"/>
            <a:ext cx="26547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title" idx="8" hasCustomPrompt="1"/>
          </p:nvPr>
        </p:nvSpPr>
        <p:spPr>
          <a:xfrm>
            <a:off x="831474" y="3867775"/>
            <a:ext cx="740400" cy="5778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>
            <a:spLocks noGrp="1"/>
          </p:cNvSpPr>
          <p:nvPr>
            <p:ph type="ctrTitle" idx="9"/>
          </p:nvPr>
        </p:nvSpPr>
        <p:spPr>
          <a:xfrm>
            <a:off x="5657924" y="1476156"/>
            <a:ext cx="2654700" cy="40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3"/>
          </p:nvPr>
        </p:nvSpPr>
        <p:spPr>
          <a:xfrm>
            <a:off x="5657924" y="1757593"/>
            <a:ext cx="26547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 idx="14" hasCustomPrompt="1"/>
          </p:nvPr>
        </p:nvSpPr>
        <p:spPr>
          <a:xfrm>
            <a:off x="4790704" y="1626790"/>
            <a:ext cx="740400" cy="5778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>
            <a:spLocks noGrp="1"/>
          </p:cNvSpPr>
          <p:nvPr>
            <p:ph type="ctrTitle" idx="15"/>
          </p:nvPr>
        </p:nvSpPr>
        <p:spPr>
          <a:xfrm>
            <a:off x="5657924" y="2596945"/>
            <a:ext cx="2654700" cy="40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16"/>
          </p:nvPr>
        </p:nvSpPr>
        <p:spPr>
          <a:xfrm>
            <a:off x="5657924" y="2878382"/>
            <a:ext cx="26547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title" idx="17" hasCustomPrompt="1"/>
          </p:nvPr>
        </p:nvSpPr>
        <p:spPr>
          <a:xfrm>
            <a:off x="4790704" y="2747582"/>
            <a:ext cx="740400" cy="5778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72" name="Google Shape;72;p13"/>
          <p:cNvSpPr txBox="1">
            <a:spLocks noGrp="1"/>
          </p:cNvSpPr>
          <p:nvPr>
            <p:ph type="ctrTitle" idx="18"/>
          </p:nvPr>
        </p:nvSpPr>
        <p:spPr>
          <a:xfrm>
            <a:off x="5657924" y="3717734"/>
            <a:ext cx="2654700" cy="40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19"/>
          </p:nvPr>
        </p:nvSpPr>
        <p:spPr>
          <a:xfrm>
            <a:off x="5657924" y="3999171"/>
            <a:ext cx="26547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title" idx="20" hasCustomPrompt="1"/>
          </p:nvPr>
        </p:nvSpPr>
        <p:spPr>
          <a:xfrm>
            <a:off x="4790704" y="3868375"/>
            <a:ext cx="740400" cy="5778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75" name="Google Shape;75;p13"/>
          <p:cNvSpPr txBox="1">
            <a:spLocks noGrp="1"/>
          </p:cNvSpPr>
          <p:nvPr>
            <p:ph type="title" idx="21"/>
          </p:nvPr>
        </p:nvSpPr>
        <p:spPr>
          <a:xfrm>
            <a:off x="715100" y="563625"/>
            <a:ext cx="7713900" cy="6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76" name="Google Shape;76;p13"/>
          <p:cNvPicPr preferRelativeResize="0"/>
          <p:nvPr/>
        </p:nvPicPr>
        <p:blipFill>
          <a:blip r:embed="rId2">
            <a:alphaModFix amt="6000"/>
          </a:blip>
          <a:stretch>
            <a:fillRect/>
          </a:stretch>
        </p:blipFill>
        <p:spPr>
          <a:xfrm flipH="1">
            <a:off x="-646850" y="-478700"/>
            <a:ext cx="3102640" cy="3129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7" name="Google Shape;77;p13"/>
          <p:cNvCxnSpPr/>
          <p:nvPr/>
        </p:nvCxnSpPr>
        <p:spPr>
          <a:xfrm rot="10800000">
            <a:off x="738900" y="546875"/>
            <a:ext cx="7666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">
    <p:bg>
      <p:bgPr>
        <a:solidFill>
          <a:schemeClr val="lt2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>
            <a:spLocks noGrp="1"/>
          </p:cNvSpPr>
          <p:nvPr>
            <p:ph type="title"/>
          </p:nvPr>
        </p:nvSpPr>
        <p:spPr>
          <a:xfrm>
            <a:off x="715100" y="2968650"/>
            <a:ext cx="6147000" cy="47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18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subTitle" idx="1"/>
          </p:nvPr>
        </p:nvSpPr>
        <p:spPr>
          <a:xfrm>
            <a:off x="715100" y="1804500"/>
            <a:ext cx="6147000" cy="116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pic>
        <p:nvPicPr>
          <p:cNvPr id="81" name="Google Shape;81;p14"/>
          <p:cNvPicPr preferRelativeResize="0"/>
          <p:nvPr/>
        </p:nvPicPr>
        <p:blipFill>
          <a:blip r:embed="rId2">
            <a:alphaModFix amt="6000"/>
          </a:blip>
          <a:stretch>
            <a:fillRect/>
          </a:stretch>
        </p:blipFill>
        <p:spPr>
          <a:xfrm>
            <a:off x="5174100" y="-866225"/>
            <a:ext cx="4760926" cy="480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3_1_1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>
            <a:spLocks noGrp="1"/>
          </p:cNvSpPr>
          <p:nvPr>
            <p:ph type="title"/>
          </p:nvPr>
        </p:nvSpPr>
        <p:spPr>
          <a:xfrm>
            <a:off x="715100" y="563625"/>
            <a:ext cx="7713900" cy="6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2">
            <a:alphaModFix amt="6000"/>
          </a:blip>
          <a:stretch>
            <a:fillRect/>
          </a:stretch>
        </p:blipFill>
        <p:spPr>
          <a:xfrm rot="10800000">
            <a:off x="7565574" y="-286752"/>
            <a:ext cx="2018376" cy="24286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" name="Google Shape;89;p16"/>
          <p:cNvCxnSpPr/>
          <p:nvPr/>
        </p:nvCxnSpPr>
        <p:spPr>
          <a:xfrm rot="10800000">
            <a:off x="738900" y="546875"/>
            <a:ext cx="7666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6_1_1_2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>
            <a:spLocks noGrp="1"/>
          </p:cNvSpPr>
          <p:nvPr>
            <p:ph type="title"/>
          </p:nvPr>
        </p:nvSpPr>
        <p:spPr>
          <a:xfrm>
            <a:off x="877590" y="1484756"/>
            <a:ext cx="4602000" cy="54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18"/>
          <p:cNvSpPr txBox="1">
            <a:spLocks noGrp="1"/>
          </p:cNvSpPr>
          <p:nvPr>
            <p:ph type="subTitle" idx="1"/>
          </p:nvPr>
        </p:nvSpPr>
        <p:spPr>
          <a:xfrm>
            <a:off x="877590" y="2041930"/>
            <a:ext cx="4602000" cy="15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2">
            <a:alphaModFix amt="6000"/>
          </a:blip>
          <a:stretch>
            <a:fillRect/>
          </a:stretch>
        </p:blipFill>
        <p:spPr>
          <a:xfrm rot="5400000">
            <a:off x="5998324" y="2138350"/>
            <a:ext cx="3366626" cy="3395376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8"/>
          <p:cNvSpPr>
            <a:spLocks noGrp="1"/>
          </p:cNvSpPr>
          <p:nvPr>
            <p:ph type="pic" idx="2"/>
          </p:nvPr>
        </p:nvSpPr>
        <p:spPr>
          <a:xfrm>
            <a:off x="5773215" y="1014113"/>
            <a:ext cx="2504400" cy="3115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7_2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>
            <a:spLocks noGrp="1"/>
          </p:cNvSpPr>
          <p:nvPr>
            <p:ph type="subTitle" idx="1"/>
          </p:nvPr>
        </p:nvSpPr>
        <p:spPr>
          <a:xfrm>
            <a:off x="990825" y="3759278"/>
            <a:ext cx="2018400" cy="8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23"/>
          <p:cNvSpPr txBox="1">
            <a:spLocks noGrp="1"/>
          </p:cNvSpPr>
          <p:nvPr>
            <p:ph type="subTitle" idx="2"/>
          </p:nvPr>
        </p:nvSpPr>
        <p:spPr>
          <a:xfrm>
            <a:off x="990825" y="3164325"/>
            <a:ext cx="2018400" cy="71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9" name="Google Shape;129;p23"/>
          <p:cNvSpPr txBox="1">
            <a:spLocks noGrp="1"/>
          </p:cNvSpPr>
          <p:nvPr>
            <p:ph type="title"/>
          </p:nvPr>
        </p:nvSpPr>
        <p:spPr>
          <a:xfrm>
            <a:off x="715100" y="563625"/>
            <a:ext cx="7713900" cy="6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3"/>
          <p:cNvSpPr txBox="1">
            <a:spLocks noGrp="1"/>
          </p:cNvSpPr>
          <p:nvPr>
            <p:ph type="subTitle" idx="3"/>
          </p:nvPr>
        </p:nvSpPr>
        <p:spPr>
          <a:xfrm>
            <a:off x="3562850" y="3759278"/>
            <a:ext cx="2018400" cy="8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1" name="Google Shape;131;p23"/>
          <p:cNvSpPr txBox="1">
            <a:spLocks noGrp="1"/>
          </p:cNvSpPr>
          <p:nvPr>
            <p:ph type="subTitle" idx="4"/>
          </p:nvPr>
        </p:nvSpPr>
        <p:spPr>
          <a:xfrm>
            <a:off x="3562850" y="3164325"/>
            <a:ext cx="2018400" cy="71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2" name="Google Shape;132;p23"/>
          <p:cNvSpPr txBox="1">
            <a:spLocks noGrp="1"/>
          </p:cNvSpPr>
          <p:nvPr>
            <p:ph type="subTitle" idx="5"/>
          </p:nvPr>
        </p:nvSpPr>
        <p:spPr>
          <a:xfrm>
            <a:off x="6134775" y="3759278"/>
            <a:ext cx="2018400" cy="8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23"/>
          <p:cNvSpPr txBox="1">
            <a:spLocks noGrp="1"/>
          </p:cNvSpPr>
          <p:nvPr>
            <p:ph type="subTitle" idx="6"/>
          </p:nvPr>
        </p:nvSpPr>
        <p:spPr>
          <a:xfrm>
            <a:off x="6134775" y="3164325"/>
            <a:ext cx="2018400" cy="71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pic>
        <p:nvPicPr>
          <p:cNvPr id="134" name="Google Shape;134;p23"/>
          <p:cNvPicPr preferRelativeResize="0"/>
          <p:nvPr/>
        </p:nvPicPr>
        <p:blipFill>
          <a:blip r:embed="rId2">
            <a:alphaModFix amt="6000"/>
          </a:blip>
          <a:stretch>
            <a:fillRect/>
          </a:stretch>
        </p:blipFill>
        <p:spPr>
          <a:xfrm rot="9033167" flipH="1">
            <a:off x="-609568" y="-716309"/>
            <a:ext cx="2314710" cy="27852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5" name="Google Shape;135;p23"/>
          <p:cNvCxnSpPr/>
          <p:nvPr/>
        </p:nvCxnSpPr>
        <p:spPr>
          <a:xfrm rot="10800000">
            <a:off x="738900" y="546875"/>
            <a:ext cx="7666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8"/>
          <p:cNvPicPr preferRelativeResize="0"/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 rot="10800000">
            <a:off x="7001959" y="-906037"/>
            <a:ext cx="2853875" cy="343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9"/>
          <p:cNvPicPr preferRelativeResize="0"/>
          <p:nvPr/>
        </p:nvPicPr>
        <p:blipFill>
          <a:blip r:embed="rId2">
            <a:alphaModFix amt="6000"/>
          </a:blip>
          <a:stretch>
            <a:fillRect/>
          </a:stretch>
        </p:blipFill>
        <p:spPr>
          <a:xfrm rot="5400000">
            <a:off x="5376275" y="2268375"/>
            <a:ext cx="3751726" cy="37837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00100" y="445025"/>
            <a:ext cx="7543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28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leway SemiBold"/>
              <a:buNone/>
              <a:defRPr sz="28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leway SemiBold"/>
              <a:buNone/>
              <a:defRPr sz="28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leway SemiBold"/>
              <a:buNone/>
              <a:defRPr sz="28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leway SemiBold"/>
              <a:buNone/>
              <a:defRPr sz="28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leway SemiBold"/>
              <a:buNone/>
              <a:defRPr sz="28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leway SemiBold"/>
              <a:buNone/>
              <a:defRPr sz="28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leway SemiBold"/>
              <a:buNone/>
              <a:defRPr sz="28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leway SemiBold"/>
              <a:buNone/>
              <a:defRPr sz="28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00100" y="1152475"/>
            <a:ext cx="7543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  <a:defRPr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○"/>
              <a:defRPr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■"/>
              <a:defRPr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  <a:defRPr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○"/>
              <a:defRPr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■"/>
              <a:defRPr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  <a:defRPr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○"/>
              <a:defRPr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■"/>
              <a:defRPr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5" r:id="rId4"/>
    <p:sldLayoutId id="2147483656" r:id="rId5"/>
    <p:sldLayoutId id="2147483658" r:id="rId6"/>
    <p:sldLayoutId id="2147483659" r:id="rId7"/>
    <p:sldLayoutId id="2147483660" r:id="rId8"/>
    <p:sldLayoutId id="2147483662" r:id="rId9"/>
    <p:sldLayoutId id="2147483664" r:id="rId10"/>
    <p:sldLayoutId id="2147483669" r:id="rId11"/>
    <p:sldLayoutId id="2147483674" r:id="rId12"/>
    <p:sldLayoutId id="2147483675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jpeg"/><Relationship Id="rId5" Type="http://schemas.openxmlformats.org/officeDocument/2006/relationships/image" Target="../media/image8.jpeg"/><Relationship Id="rId4" Type="http://schemas.openxmlformats.org/officeDocument/2006/relationships/image" Target="../media/image7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3"/>
          <p:cNvSpPr txBox="1">
            <a:spLocks noGrp="1"/>
          </p:cNvSpPr>
          <p:nvPr>
            <p:ph type="ctrTitle"/>
          </p:nvPr>
        </p:nvSpPr>
        <p:spPr>
          <a:xfrm>
            <a:off x="775800" y="1322150"/>
            <a:ext cx="4920600" cy="18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LeJU</a:t>
            </a: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 </a:t>
            </a:r>
            <a:br>
              <a:rPr lang="en" dirty="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3200" dirty="0">
                <a:ea typeface="Montserrat"/>
                <a:cs typeface="Montserrat"/>
              </a:rPr>
              <a:t>FACE SCRUB</a:t>
            </a:r>
            <a:endParaRPr sz="3200" dirty="0">
              <a:solidFill>
                <a:schemeClr val="dk2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93" name="Google Shape;193;p33"/>
          <p:cNvSpPr txBox="1">
            <a:spLocks noGrp="1"/>
          </p:cNvSpPr>
          <p:nvPr>
            <p:ph type="subTitle" idx="1"/>
          </p:nvPr>
        </p:nvSpPr>
        <p:spPr>
          <a:xfrm>
            <a:off x="887025" y="3396766"/>
            <a:ext cx="4557000" cy="43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“Scrub away impurities”</a:t>
            </a:r>
            <a:endParaRPr sz="1400" dirty="0"/>
          </a:p>
        </p:txBody>
      </p:sp>
      <p:cxnSp>
        <p:nvCxnSpPr>
          <p:cNvPr id="194" name="Google Shape;194;p33"/>
          <p:cNvCxnSpPr/>
          <p:nvPr/>
        </p:nvCxnSpPr>
        <p:spPr>
          <a:xfrm rot="10800000">
            <a:off x="854125" y="4282375"/>
            <a:ext cx="4591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5" name="Google Shape;195;p33"/>
          <p:cNvCxnSpPr/>
          <p:nvPr/>
        </p:nvCxnSpPr>
        <p:spPr>
          <a:xfrm rot="10800000">
            <a:off x="854200" y="861100"/>
            <a:ext cx="4590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28" name="Picture 4" descr="Logo Telkom University: Makna dan Variasinya - Anak Telkom">
            <a:extLst>
              <a:ext uri="{FF2B5EF4-FFF2-40B4-BE49-F238E27FC236}">
                <a16:creationId xmlns:a16="http://schemas.microsoft.com/office/drawing/2014/main" id="{09593AEB-A90D-797B-EE6F-45EB81F29B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50" y="0"/>
            <a:ext cx="1916852" cy="845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CA13F7-6D83-97C3-87D1-EA5EE23A3E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9334" y="845004"/>
            <a:ext cx="2871897" cy="34373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0"/>
          <p:cNvSpPr txBox="1">
            <a:spLocks noGrp="1"/>
          </p:cNvSpPr>
          <p:nvPr>
            <p:ph type="subTitle" idx="1"/>
          </p:nvPr>
        </p:nvSpPr>
        <p:spPr>
          <a:xfrm>
            <a:off x="742754" y="1805583"/>
            <a:ext cx="6147000" cy="244603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latin typeface="Montserrat Black" panose="00000A00000000000000" pitchFamily="2" charset="0"/>
              </a:rPr>
              <a:t>“</a:t>
            </a:r>
            <a:r>
              <a:rPr lang="en-US" sz="3600" dirty="0" err="1">
                <a:latin typeface="Montserrat Black" panose="00000A00000000000000" pitchFamily="2" charset="0"/>
              </a:rPr>
              <a:t>Mengatasi</a:t>
            </a:r>
            <a:r>
              <a:rPr lang="en-US" sz="3600" dirty="0">
                <a:latin typeface="Montserrat Black" panose="00000A00000000000000" pitchFamily="2" charset="0"/>
              </a:rPr>
              <a:t> </a:t>
            </a:r>
            <a:r>
              <a:rPr lang="en-US" sz="3600" dirty="0" err="1">
                <a:latin typeface="Montserrat Black" panose="00000A00000000000000" pitchFamily="2" charset="0"/>
              </a:rPr>
              <a:t>Semua</a:t>
            </a:r>
            <a:r>
              <a:rPr lang="en-US" sz="3600" dirty="0">
                <a:latin typeface="Montserrat Black" panose="00000A00000000000000" pitchFamily="2" charset="0"/>
              </a:rPr>
              <a:t> </a:t>
            </a:r>
            <a:r>
              <a:rPr lang="en-US" sz="3600" dirty="0" err="1">
                <a:latin typeface="Montserrat Black" panose="00000A00000000000000" pitchFamily="2" charset="0"/>
              </a:rPr>
              <a:t>Kekurangan</a:t>
            </a:r>
            <a:r>
              <a:rPr lang="en-US" sz="3600" dirty="0">
                <a:latin typeface="Montserrat Black" panose="00000A00000000000000" pitchFamily="2" charset="0"/>
              </a:rPr>
              <a:t> </a:t>
            </a:r>
            <a:r>
              <a:rPr lang="en-US" sz="3600" dirty="0" err="1">
                <a:latin typeface="Montserrat Black" panose="00000A00000000000000" pitchFamily="2" charset="0"/>
              </a:rPr>
              <a:t>Muka</a:t>
            </a:r>
            <a:r>
              <a:rPr lang="en-US" sz="3600" dirty="0">
                <a:latin typeface="Montserrat Black" panose="00000A00000000000000" pitchFamily="2" charset="0"/>
              </a:rPr>
              <a:t> dan </a:t>
            </a:r>
            <a:r>
              <a:rPr lang="en-US" sz="3600" dirty="0" err="1">
                <a:latin typeface="Montserrat Black" panose="00000A00000000000000" pitchFamily="2" charset="0"/>
              </a:rPr>
              <a:t>merubahnya</a:t>
            </a:r>
            <a:r>
              <a:rPr lang="en-US" sz="3600" dirty="0">
                <a:latin typeface="Montserrat Black" panose="00000A00000000000000" pitchFamily="2" charset="0"/>
              </a:rPr>
              <a:t> </a:t>
            </a:r>
            <a:r>
              <a:rPr lang="en-US" sz="3600" dirty="0" err="1">
                <a:latin typeface="Montserrat Black" panose="00000A00000000000000" pitchFamily="2" charset="0"/>
              </a:rPr>
              <a:t>menjadi</a:t>
            </a:r>
            <a:r>
              <a:rPr lang="en-US" sz="3600" dirty="0">
                <a:latin typeface="Montserrat Black" panose="00000A00000000000000" pitchFamily="2" charset="0"/>
              </a:rPr>
              <a:t> </a:t>
            </a:r>
            <a:r>
              <a:rPr lang="en-US" sz="3600" dirty="0" err="1">
                <a:latin typeface="Montserrat Black" panose="00000A00000000000000" pitchFamily="2" charset="0"/>
              </a:rPr>
              <a:t>lebih</a:t>
            </a:r>
            <a:r>
              <a:rPr lang="en-US" sz="3600" dirty="0">
                <a:latin typeface="Montserrat Black" panose="00000A00000000000000" pitchFamily="2" charset="0"/>
              </a:rPr>
              <a:t> </a:t>
            </a:r>
            <a:r>
              <a:rPr lang="en-US" sz="3600" dirty="0" err="1">
                <a:latin typeface="Montserrat Black" panose="00000A00000000000000" pitchFamily="2" charset="0"/>
              </a:rPr>
              <a:t>Anggun</a:t>
            </a:r>
            <a:r>
              <a:rPr lang="en-US" sz="3600" dirty="0">
                <a:latin typeface="Montserrat Black" panose="00000A00000000000000" pitchFamily="2" charset="0"/>
              </a:rPr>
              <a:t>”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3600" dirty="0">
              <a:latin typeface="Montserrat Black" panose="00000A00000000000000" pitchFamily="2" charset="0"/>
            </a:endParaRPr>
          </a:p>
        </p:txBody>
      </p:sp>
      <p:cxnSp>
        <p:nvCxnSpPr>
          <p:cNvPr id="283" name="Google Shape;283;p40"/>
          <p:cNvCxnSpPr/>
          <p:nvPr/>
        </p:nvCxnSpPr>
        <p:spPr>
          <a:xfrm>
            <a:off x="869522" y="3918992"/>
            <a:ext cx="5787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4" name="Google Shape;284;p40"/>
          <p:cNvCxnSpPr/>
          <p:nvPr/>
        </p:nvCxnSpPr>
        <p:spPr>
          <a:xfrm>
            <a:off x="922604" y="1038467"/>
            <a:ext cx="5787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282;p40">
            <a:extLst>
              <a:ext uri="{FF2B5EF4-FFF2-40B4-BE49-F238E27FC236}">
                <a16:creationId xmlns:a16="http://schemas.microsoft.com/office/drawing/2014/main" id="{8B8F452F-EE4D-5D6B-A03E-25EFA4838D67}"/>
              </a:ext>
            </a:extLst>
          </p:cNvPr>
          <p:cNvSpPr txBox="1">
            <a:spLocks/>
          </p:cNvSpPr>
          <p:nvPr/>
        </p:nvSpPr>
        <p:spPr>
          <a:xfrm>
            <a:off x="6766588" y="4456066"/>
            <a:ext cx="3145229" cy="687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5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en-US" sz="6600" dirty="0" err="1">
                <a:latin typeface="Niagara Solid" panose="04020502070702020202" pitchFamily="82" charset="0"/>
              </a:rPr>
              <a:t>LeJU</a:t>
            </a:r>
            <a:r>
              <a:rPr lang="en-US" sz="6600" dirty="0">
                <a:latin typeface="Niagara Solid" panose="04020502070702020202" pitchFamily="82" charset="0"/>
              </a:rPr>
              <a:t> Corp.</a:t>
            </a:r>
          </a:p>
        </p:txBody>
      </p:sp>
      <p:pic>
        <p:nvPicPr>
          <p:cNvPr id="3" name="Picture Placeholder 5">
            <a:extLst>
              <a:ext uri="{FF2B5EF4-FFF2-40B4-BE49-F238E27FC236}">
                <a16:creationId xmlns:a16="http://schemas.microsoft.com/office/drawing/2014/main" id="{37D87DA1-BC62-E70A-93B8-94F45A477E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99" r="1399"/>
          <a:stretch>
            <a:fillRect/>
          </a:stretch>
        </p:blipFill>
        <p:spPr>
          <a:xfrm>
            <a:off x="0" y="0"/>
            <a:ext cx="816678" cy="85492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9"/>
          <p:cNvSpPr txBox="1">
            <a:spLocks noGrp="1"/>
          </p:cNvSpPr>
          <p:nvPr>
            <p:ph type="subTitle" idx="1"/>
          </p:nvPr>
        </p:nvSpPr>
        <p:spPr>
          <a:xfrm>
            <a:off x="877590" y="2041930"/>
            <a:ext cx="4602000" cy="15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Menurut</a:t>
            </a:r>
            <a:r>
              <a:rPr lang="en-US" dirty="0"/>
              <a:t> kami </a:t>
            </a:r>
            <a:r>
              <a:rPr lang="en-US" dirty="0" err="1"/>
              <a:t>peluang</a:t>
            </a:r>
            <a:r>
              <a:rPr lang="en-US" dirty="0"/>
              <a:t> pasar yang </a:t>
            </a:r>
            <a:r>
              <a:rPr lang="en-US" dirty="0" err="1"/>
              <a:t>dimiliki</a:t>
            </a:r>
            <a:r>
              <a:rPr lang="en-US" dirty="0"/>
              <a:t> pada </a:t>
            </a:r>
            <a:r>
              <a:rPr lang="en-US" dirty="0" err="1"/>
              <a:t>produk</a:t>
            </a:r>
            <a:r>
              <a:rPr lang="en-US" dirty="0"/>
              <a:t> kami sangat </a:t>
            </a:r>
            <a:r>
              <a:rPr lang="en-US" dirty="0" err="1"/>
              <a:t>tinggi</a:t>
            </a:r>
            <a:r>
              <a:rPr lang="en-US" dirty="0"/>
              <a:t>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produk</a:t>
            </a:r>
            <a:r>
              <a:rPr lang="en-US" dirty="0"/>
              <a:t> yang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bahan</a:t>
            </a:r>
            <a:r>
              <a:rPr lang="en-US" dirty="0"/>
              <a:t> </a:t>
            </a:r>
            <a:r>
              <a:rPr lang="en-US" dirty="0" err="1"/>
              <a:t>dasar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licorice sangat </a:t>
            </a:r>
            <a:r>
              <a:rPr lang="en-US" dirty="0" err="1"/>
              <a:t>dikit</a:t>
            </a:r>
            <a:r>
              <a:rPr lang="en-US" dirty="0"/>
              <a:t> </a:t>
            </a:r>
            <a:r>
              <a:rPr lang="en-US" dirty="0" err="1"/>
              <a:t>walau</a:t>
            </a:r>
            <a:r>
              <a:rPr lang="en-US" dirty="0"/>
              <a:t> effect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penggunaannya</a:t>
            </a:r>
            <a:r>
              <a:rPr lang="en-US" dirty="0"/>
              <a:t> sangat </a:t>
            </a:r>
            <a:r>
              <a:rPr lang="en-US" dirty="0" err="1"/>
              <a:t>banyak</a:t>
            </a:r>
            <a:endParaRPr lang="en-US" dirty="0"/>
          </a:p>
        </p:txBody>
      </p:sp>
      <p:sp>
        <p:nvSpPr>
          <p:cNvPr id="273" name="Google Shape;273;p39"/>
          <p:cNvSpPr txBox="1">
            <a:spLocks noGrp="1"/>
          </p:cNvSpPr>
          <p:nvPr>
            <p:ph type="title"/>
          </p:nvPr>
        </p:nvSpPr>
        <p:spPr>
          <a:xfrm>
            <a:off x="877590" y="1484756"/>
            <a:ext cx="4602000" cy="54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Montserrat"/>
                <a:sym typeface="Montserrat"/>
              </a:rPr>
              <a:t>Peluang</a:t>
            </a:r>
            <a:r>
              <a:rPr lang="en" dirty="0"/>
              <a:t> </a:t>
            </a:r>
            <a:r>
              <a:rPr lang="en" dirty="0">
                <a:solidFill>
                  <a:schemeClr val="dk2"/>
                </a:solidFill>
              </a:rPr>
              <a:t>Pasar</a:t>
            </a:r>
            <a:endParaRPr dirty="0">
              <a:solidFill>
                <a:schemeClr val="dk2"/>
              </a:solidFill>
            </a:endParaRPr>
          </a:p>
        </p:txBody>
      </p:sp>
      <p:cxnSp>
        <p:nvCxnSpPr>
          <p:cNvPr id="274" name="Google Shape;274;p39"/>
          <p:cNvCxnSpPr/>
          <p:nvPr/>
        </p:nvCxnSpPr>
        <p:spPr>
          <a:xfrm>
            <a:off x="973315" y="4129388"/>
            <a:ext cx="4422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5" name="Google Shape;275;p39"/>
          <p:cNvCxnSpPr/>
          <p:nvPr/>
        </p:nvCxnSpPr>
        <p:spPr>
          <a:xfrm>
            <a:off x="973315" y="1014113"/>
            <a:ext cx="4422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76" name="Google Shape;276;p39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8547" b="8547"/>
          <a:stretch/>
        </p:blipFill>
        <p:spPr>
          <a:xfrm>
            <a:off x="5773215" y="1014113"/>
            <a:ext cx="2504400" cy="3115203"/>
          </a:xfrm>
          <a:prstGeom prst="rect">
            <a:avLst/>
          </a:prstGeom>
        </p:spPr>
      </p:pic>
      <p:pic>
        <p:nvPicPr>
          <p:cNvPr id="2" name="Picture Placeholder 5">
            <a:extLst>
              <a:ext uri="{FF2B5EF4-FFF2-40B4-BE49-F238E27FC236}">
                <a16:creationId xmlns:a16="http://schemas.microsoft.com/office/drawing/2014/main" id="{A873B8E3-7323-E196-A1A7-29D007A7C57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99" r="1399"/>
          <a:stretch>
            <a:fillRect/>
          </a:stretch>
        </p:blipFill>
        <p:spPr>
          <a:xfrm>
            <a:off x="0" y="0"/>
            <a:ext cx="816678" cy="8549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4"/>
          <p:cNvSpPr txBox="1">
            <a:spLocks noGrp="1"/>
          </p:cNvSpPr>
          <p:nvPr>
            <p:ph type="title"/>
          </p:nvPr>
        </p:nvSpPr>
        <p:spPr>
          <a:xfrm>
            <a:off x="715100" y="563625"/>
            <a:ext cx="7713900" cy="6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Montserrat"/>
                <a:sym typeface="Montserrat"/>
              </a:rPr>
              <a:t>Target</a:t>
            </a:r>
            <a:r>
              <a:rPr lang="en" dirty="0">
                <a:solidFill>
                  <a:schemeClr val="dk2"/>
                </a:solidFill>
              </a:rPr>
              <a:t> Pasar</a:t>
            </a:r>
            <a:endParaRPr dirty="0">
              <a:solidFill>
                <a:schemeClr val="dk2"/>
              </a:solidFill>
            </a:endParaRPr>
          </a:p>
        </p:txBody>
      </p:sp>
      <p:sp>
        <p:nvSpPr>
          <p:cNvPr id="201" name="Google Shape;201;p34"/>
          <p:cNvSpPr txBox="1"/>
          <p:nvPr/>
        </p:nvSpPr>
        <p:spPr>
          <a:xfrm>
            <a:off x="800100" y="1401163"/>
            <a:ext cx="7543800" cy="3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04" name="Google Shape;204;p34"/>
          <p:cNvGraphicFramePr/>
          <p:nvPr>
            <p:extLst>
              <p:ext uri="{D42A27DB-BD31-4B8C-83A1-F6EECF244321}">
                <p14:modId xmlns:p14="http://schemas.microsoft.com/office/powerpoint/2010/main" val="1530822664"/>
              </p:ext>
            </p:extLst>
          </p:nvPr>
        </p:nvGraphicFramePr>
        <p:xfrm>
          <a:off x="678656" y="1433535"/>
          <a:ext cx="7726444" cy="3108780"/>
        </p:xfrm>
        <a:graphic>
          <a:graphicData uri="http://schemas.openxmlformats.org/drawingml/2006/table">
            <a:tbl>
              <a:tblPr>
                <a:noFill/>
                <a:tableStyleId>{8B172C7E-A1EC-4D94-9C7D-0BA907CA70BF}</a:tableStyleId>
              </a:tblPr>
              <a:tblGrid>
                <a:gridCol w="2643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3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8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Perempuan</a:t>
                      </a:r>
                      <a:endParaRPr sz="1100" b="1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ID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Sebagian </a:t>
                      </a:r>
                      <a:r>
                        <a:rPr lang="en-ID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besar</a:t>
                      </a:r>
                      <a:r>
                        <a:rPr lang="en-ID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ID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Licorice</a:t>
                      </a:r>
                      <a:r>
                        <a:rPr lang="en-ID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Face Scrub </a:t>
                      </a:r>
                      <a:r>
                        <a:rPr lang="en-ID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dipasarkan</a:t>
                      </a:r>
                      <a:r>
                        <a:rPr lang="en-ID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ID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untuk</a:t>
                      </a:r>
                      <a:r>
                        <a:rPr lang="en-ID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ID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wanita</a:t>
                      </a:r>
                      <a:r>
                        <a:rPr lang="en-ID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ID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karena</a:t>
                      </a:r>
                      <a:r>
                        <a:rPr lang="en-ID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ID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sifatnya</a:t>
                      </a:r>
                      <a:r>
                        <a:rPr lang="en-ID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yang </a:t>
                      </a:r>
                      <a:r>
                        <a:rPr lang="en-ID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mencerahkan</a:t>
                      </a:r>
                      <a:r>
                        <a:rPr lang="en-ID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ID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kulit</a:t>
                      </a:r>
                      <a:r>
                        <a:rPr lang="en-ID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dan anti </a:t>
                      </a:r>
                      <a:r>
                        <a:rPr lang="en-ID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penuaan</a:t>
                      </a:r>
                      <a:r>
                        <a:rPr lang="en-ID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.</a:t>
                      </a:r>
                      <a:endParaRPr sz="11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100" b="1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Orang </a:t>
                      </a:r>
                      <a:r>
                        <a:rPr lang="en-ID" sz="1100" b="1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dengan</a:t>
                      </a:r>
                      <a:r>
                        <a:rPr lang="en-ID" sz="1100" b="1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ID" sz="1100" b="1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kulit</a:t>
                      </a:r>
                      <a:r>
                        <a:rPr lang="en-ID" sz="1100" b="1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ID" sz="1100" b="1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berjerawat</a:t>
                      </a:r>
                      <a:endParaRPr sz="1100" b="1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ID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Ekstrak</a:t>
                      </a:r>
                      <a:r>
                        <a:rPr lang="en-ID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ID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licorice</a:t>
                      </a:r>
                      <a:r>
                        <a:rPr lang="en-ID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ID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memiliki</a:t>
                      </a:r>
                      <a:r>
                        <a:rPr lang="en-ID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ID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sifat</a:t>
                      </a:r>
                      <a:r>
                        <a:rPr lang="en-ID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anti-</a:t>
                      </a:r>
                      <a:r>
                        <a:rPr lang="en-ID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inflamasi</a:t>
                      </a:r>
                      <a:r>
                        <a:rPr lang="en-ID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dan </a:t>
                      </a:r>
                      <a:r>
                        <a:rPr lang="en-ID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dapat</a:t>
                      </a:r>
                      <a:r>
                        <a:rPr lang="en-ID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ID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membantu</a:t>
                      </a:r>
                      <a:r>
                        <a:rPr lang="en-ID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ID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mengurangi</a:t>
                      </a:r>
                      <a:r>
                        <a:rPr lang="en-ID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ID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kemerahan</a:t>
                      </a:r>
                      <a:r>
                        <a:rPr lang="en-ID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dan </a:t>
                      </a:r>
                      <a:r>
                        <a:rPr lang="en-ID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pembengkakan</a:t>
                      </a:r>
                      <a:r>
                        <a:rPr lang="en-ID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yang </a:t>
                      </a:r>
                      <a:r>
                        <a:rPr lang="en-ID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terkait</a:t>
                      </a:r>
                      <a:r>
                        <a:rPr lang="en-ID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ID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dengan</a:t>
                      </a:r>
                      <a:r>
                        <a:rPr lang="en-ID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ID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jerawat</a:t>
                      </a:r>
                      <a:r>
                        <a:rPr lang="en-ID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.</a:t>
                      </a:r>
                      <a:endParaRPr sz="11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100" b="1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Orang </a:t>
                      </a:r>
                      <a:r>
                        <a:rPr lang="en-ID" sz="1100" b="1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dengan</a:t>
                      </a:r>
                      <a:r>
                        <a:rPr lang="en-ID" sz="1100" b="1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ID" sz="1100" b="1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warna</a:t>
                      </a:r>
                      <a:r>
                        <a:rPr lang="en-ID" sz="1100" b="1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ID" sz="1100" b="1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kulit</a:t>
                      </a:r>
                      <a:r>
                        <a:rPr lang="en-ID" sz="1100" b="1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ID" sz="1100" b="1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tidak</a:t>
                      </a:r>
                      <a:r>
                        <a:rPr lang="en-ID" sz="1100" b="1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rata</a:t>
                      </a:r>
                      <a:endParaRPr sz="1100" b="1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ID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Ekstrak</a:t>
                      </a:r>
                      <a:r>
                        <a:rPr lang="en-ID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ID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licorice</a:t>
                      </a:r>
                      <a:r>
                        <a:rPr lang="en-ID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ID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dapat</a:t>
                      </a:r>
                      <a:r>
                        <a:rPr lang="en-ID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ID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membantu</a:t>
                      </a:r>
                      <a:r>
                        <a:rPr lang="en-ID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ID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mencerahkan</a:t>
                      </a:r>
                      <a:r>
                        <a:rPr lang="en-ID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ID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bintik</a:t>
                      </a:r>
                      <a:r>
                        <a:rPr lang="en-ID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ID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hitam</a:t>
                      </a:r>
                      <a:r>
                        <a:rPr lang="en-ID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dan </a:t>
                      </a:r>
                      <a:r>
                        <a:rPr lang="en-ID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memperbaiki</a:t>
                      </a:r>
                      <a:r>
                        <a:rPr lang="en-ID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ID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warna</a:t>
                      </a:r>
                      <a:r>
                        <a:rPr lang="en-ID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ID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kulit</a:t>
                      </a:r>
                      <a:r>
                        <a:rPr lang="en-ID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ID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secara</a:t>
                      </a:r>
                      <a:r>
                        <a:rPr lang="en-ID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ID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keseluruhan</a:t>
                      </a:r>
                      <a:r>
                        <a:rPr lang="en-ID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.</a:t>
                      </a:r>
                      <a:endParaRPr sz="11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100" b="1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Orang </a:t>
                      </a:r>
                      <a:r>
                        <a:rPr lang="en-ID" sz="1100" b="1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dengan</a:t>
                      </a:r>
                      <a:r>
                        <a:rPr lang="en-ID" sz="1100" b="1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ID" sz="1100" b="1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kulit</a:t>
                      </a:r>
                      <a:r>
                        <a:rPr lang="en-ID" sz="1100" b="1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ID" sz="1100" b="1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sensitif</a:t>
                      </a:r>
                      <a:endParaRPr sz="1100" b="1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ID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Ekstrak</a:t>
                      </a:r>
                      <a:r>
                        <a:rPr lang="en-ID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ID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licorice</a:t>
                      </a:r>
                      <a:r>
                        <a:rPr lang="en-ID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lembut dan </a:t>
                      </a:r>
                      <a:r>
                        <a:rPr lang="en-ID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dapat</a:t>
                      </a:r>
                      <a:r>
                        <a:rPr lang="en-ID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ID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digunakan</a:t>
                      </a:r>
                      <a:r>
                        <a:rPr lang="en-ID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pada </a:t>
                      </a:r>
                      <a:r>
                        <a:rPr lang="en-ID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kulit</a:t>
                      </a:r>
                      <a:r>
                        <a:rPr lang="en-ID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ID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sensitif</a:t>
                      </a:r>
                      <a:r>
                        <a:rPr lang="en-ID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ID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tanpa</a:t>
                      </a:r>
                      <a:r>
                        <a:rPr lang="en-ID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ID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menyebabkan</a:t>
                      </a:r>
                      <a:r>
                        <a:rPr lang="en-ID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ID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iritasi</a:t>
                      </a:r>
                      <a:r>
                        <a:rPr lang="en-ID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.</a:t>
                      </a:r>
                      <a:endParaRPr sz="11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100" b="1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Orang </a:t>
                      </a:r>
                      <a:r>
                        <a:rPr lang="en-ID" sz="1100" b="1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dengan</a:t>
                      </a:r>
                      <a:r>
                        <a:rPr lang="en-ID" sz="1100" b="1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ID" sz="1100" b="1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kulit</a:t>
                      </a:r>
                      <a:r>
                        <a:rPr lang="en-ID" sz="1100" b="1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ID" sz="1100" b="1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kering</a:t>
                      </a:r>
                      <a:r>
                        <a:rPr lang="en-ID" sz="1100" b="1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ID" sz="1100" b="1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atau</a:t>
                      </a:r>
                      <a:r>
                        <a:rPr lang="en-ID" sz="1100" b="1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ID" sz="1100" b="1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dehidrasi</a:t>
                      </a:r>
                      <a:endParaRPr sz="1100" b="1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Licorice</a:t>
                      </a:r>
                      <a:r>
                        <a:rPr lang="en-ID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extract </a:t>
                      </a:r>
                      <a:r>
                        <a:rPr lang="en-ID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dapat</a:t>
                      </a:r>
                      <a:r>
                        <a:rPr lang="en-ID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ID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membantu</a:t>
                      </a:r>
                      <a:r>
                        <a:rPr lang="en-ID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ID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melembabkan</a:t>
                      </a:r>
                      <a:r>
                        <a:rPr lang="en-ID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dan </a:t>
                      </a:r>
                      <a:r>
                        <a:rPr lang="en-ID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menghidrasi</a:t>
                      </a:r>
                      <a:r>
                        <a:rPr lang="en-ID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ID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kulit</a:t>
                      </a:r>
                      <a:r>
                        <a:rPr lang="en-ID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.</a:t>
                      </a:r>
                      <a:endParaRPr sz="11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sz="11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205" name="Google Shape;205;p34"/>
          <p:cNvCxnSpPr/>
          <p:nvPr/>
        </p:nvCxnSpPr>
        <p:spPr>
          <a:xfrm rot="10800000">
            <a:off x="738900" y="1193875"/>
            <a:ext cx="7666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" name="Picture Placeholder 5">
            <a:extLst>
              <a:ext uri="{FF2B5EF4-FFF2-40B4-BE49-F238E27FC236}">
                <a16:creationId xmlns:a16="http://schemas.microsoft.com/office/drawing/2014/main" id="{71650B38-430E-3BEE-13EF-08CDE59342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99" r="1399"/>
          <a:stretch>
            <a:fillRect/>
          </a:stretch>
        </p:blipFill>
        <p:spPr>
          <a:xfrm>
            <a:off x="0" y="0"/>
            <a:ext cx="816678" cy="8549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>
            <a:spLocks noGrp="1"/>
          </p:cNvSpPr>
          <p:nvPr>
            <p:ph type="subTitle" idx="1"/>
          </p:nvPr>
        </p:nvSpPr>
        <p:spPr>
          <a:xfrm>
            <a:off x="1632587" y="1547639"/>
            <a:ext cx="3094707" cy="6620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 err="1"/>
              <a:t>Mengandung</a:t>
            </a:r>
            <a:r>
              <a:rPr lang="en-ID" sz="1200" dirty="0"/>
              <a:t> </a:t>
            </a:r>
            <a:r>
              <a:rPr lang="en-ID" sz="1200" dirty="0" err="1"/>
              <a:t>ekstrak</a:t>
            </a:r>
            <a:r>
              <a:rPr lang="en-ID" sz="1200" dirty="0"/>
              <a:t> </a:t>
            </a:r>
            <a:r>
              <a:rPr lang="en-ID" sz="1200" dirty="0" err="1"/>
              <a:t>Akar</a:t>
            </a:r>
            <a:r>
              <a:rPr lang="en-ID" sz="1200" dirty="0"/>
              <a:t> Manis </a:t>
            </a:r>
            <a:r>
              <a:rPr lang="en-ID" sz="1200" dirty="0" err="1"/>
              <a:t>alami</a:t>
            </a:r>
            <a:r>
              <a:rPr lang="en-ID" sz="1200" dirty="0"/>
              <a:t> </a:t>
            </a:r>
            <a:r>
              <a:rPr lang="en-ID" sz="1200" dirty="0" err="1"/>
              <a:t>untuk</a:t>
            </a:r>
            <a:r>
              <a:rPr lang="en-ID" sz="1200" dirty="0"/>
              <a:t> </a:t>
            </a:r>
            <a:r>
              <a:rPr lang="en-ID" sz="1200" dirty="0" err="1"/>
              <a:t>mencerahkan</a:t>
            </a:r>
            <a:r>
              <a:rPr lang="en-ID" sz="1200" dirty="0"/>
              <a:t> dan </a:t>
            </a:r>
            <a:r>
              <a:rPr lang="en-ID" sz="1200" dirty="0" err="1"/>
              <a:t>meratakan</a:t>
            </a:r>
            <a:r>
              <a:rPr lang="en-ID" sz="1200" dirty="0"/>
              <a:t> </a:t>
            </a:r>
            <a:r>
              <a:rPr lang="en-ID" sz="1200" dirty="0" err="1"/>
              <a:t>warna</a:t>
            </a:r>
            <a:r>
              <a:rPr lang="en-ID" sz="1200" dirty="0"/>
              <a:t> </a:t>
            </a:r>
            <a:r>
              <a:rPr lang="en-ID" sz="1200" dirty="0" err="1"/>
              <a:t>kulit</a:t>
            </a:r>
            <a:endParaRPr sz="1200" dirty="0"/>
          </a:p>
        </p:txBody>
      </p:sp>
      <p:sp>
        <p:nvSpPr>
          <p:cNvPr id="211" name="Google Shape;211;p35"/>
          <p:cNvSpPr txBox="1">
            <a:spLocks noGrp="1"/>
          </p:cNvSpPr>
          <p:nvPr>
            <p:ph type="title" idx="21"/>
          </p:nvPr>
        </p:nvSpPr>
        <p:spPr>
          <a:xfrm>
            <a:off x="715100" y="563625"/>
            <a:ext cx="7713900" cy="6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Montserrat"/>
                <a:sym typeface="Montserrat"/>
              </a:rPr>
              <a:t>Unique Selling</a:t>
            </a:r>
            <a:r>
              <a:rPr lang="en" dirty="0"/>
              <a:t> Points</a:t>
            </a:r>
            <a:endParaRPr dirty="0">
              <a:solidFill>
                <a:schemeClr val="dk2"/>
              </a:solidFill>
            </a:endParaRPr>
          </a:p>
        </p:txBody>
      </p:sp>
      <p:sp>
        <p:nvSpPr>
          <p:cNvPr id="213" name="Google Shape;213;p35"/>
          <p:cNvSpPr txBox="1">
            <a:spLocks noGrp="1"/>
          </p:cNvSpPr>
          <p:nvPr>
            <p:ph type="title" idx="2"/>
          </p:nvPr>
        </p:nvSpPr>
        <p:spPr>
          <a:xfrm>
            <a:off x="831474" y="1627365"/>
            <a:ext cx="7404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215" name="Google Shape;215;p35"/>
          <p:cNvSpPr txBox="1">
            <a:spLocks noGrp="1"/>
          </p:cNvSpPr>
          <p:nvPr>
            <p:ph type="subTitle" idx="4"/>
          </p:nvPr>
        </p:nvSpPr>
        <p:spPr>
          <a:xfrm>
            <a:off x="1632587" y="2396276"/>
            <a:ext cx="3094707" cy="10599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 err="1"/>
              <a:t>Manik-manik</a:t>
            </a:r>
            <a:r>
              <a:rPr lang="en-ID" sz="1200" dirty="0"/>
              <a:t> </a:t>
            </a:r>
            <a:r>
              <a:rPr lang="en-ID" sz="1200" dirty="0" err="1"/>
              <a:t>pengelupas</a:t>
            </a:r>
            <a:r>
              <a:rPr lang="en-ID" sz="1200" dirty="0"/>
              <a:t> yang lembut </a:t>
            </a:r>
            <a:r>
              <a:rPr lang="en-ID" sz="1200" dirty="0" err="1"/>
              <a:t>membantu</a:t>
            </a:r>
            <a:r>
              <a:rPr lang="en-ID" sz="1200" dirty="0"/>
              <a:t> </a:t>
            </a:r>
            <a:r>
              <a:rPr lang="en-ID" sz="1200" dirty="0" err="1"/>
              <a:t>mengangkat</a:t>
            </a:r>
            <a:r>
              <a:rPr lang="en-ID" sz="1200" dirty="0"/>
              <a:t> </a:t>
            </a:r>
            <a:r>
              <a:rPr lang="en-ID" sz="1200" dirty="0" err="1"/>
              <a:t>sel</a:t>
            </a:r>
            <a:r>
              <a:rPr lang="en-ID" sz="1200" dirty="0"/>
              <a:t> </a:t>
            </a:r>
            <a:r>
              <a:rPr lang="en-ID" sz="1200" dirty="0" err="1"/>
              <a:t>kulit</a:t>
            </a:r>
            <a:r>
              <a:rPr lang="en-ID" sz="1200" dirty="0"/>
              <a:t> </a:t>
            </a:r>
            <a:r>
              <a:rPr lang="en-ID" sz="1200" dirty="0" err="1"/>
              <a:t>mati</a:t>
            </a:r>
            <a:r>
              <a:rPr lang="en-ID" sz="1200" dirty="0"/>
              <a:t> dan </a:t>
            </a:r>
            <a:r>
              <a:rPr lang="en-ID" sz="1200" dirty="0" err="1"/>
              <a:t>membuka</a:t>
            </a:r>
            <a:r>
              <a:rPr lang="en-ID" sz="1200" dirty="0"/>
              <a:t> </a:t>
            </a:r>
            <a:r>
              <a:rPr lang="en-ID" sz="1200" dirty="0" err="1"/>
              <a:t>pori-pori</a:t>
            </a:r>
            <a:r>
              <a:rPr lang="en-ID" sz="1200" dirty="0"/>
              <a:t> yang </a:t>
            </a:r>
            <a:r>
              <a:rPr lang="en-ID" sz="1200" dirty="0" err="1"/>
              <a:t>tersumbat</a:t>
            </a:r>
            <a:r>
              <a:rPr lang="en-ID" sz="1200" dirty="0"/>
              <a:t>, </a:t>
            </a:r>
            <a:r>
              <a:rPr lang="en-ID" sz="1200" dirty="0" err="1"/>
              <a:t>membuat</a:t>
            </a:r>
            <a:r>
              <a:rPr lang="en-ID" sz="1200" dirty="0"/>
              <a:t> </a:t>
            </a:r>
            <a:r>
              <a:rPr lang="en-ID" sz="1200" dirty="0" err="1"/>
              <a:t>kulit</a:t>
            </a:r>
            <a:r>
              <a:rPr lang="en-ID" sz="1200" dirty="0"/>
              <a:t> </a:t>
            </a:r>
            <a:r>
              <a:rPr lang="en-ID" sz="1200" dirty="0" err="1"/>
              <a:t>tampak</a:t>
            </a:r>
            <a:r>
              <a:rPr lang="en-ID" sz="1200" dirty="0"/>
              <a:t> segar dan </a:t>
            </a:r>
            <a:r>
              <a:rPr lang="en-ID" sz="1200" dirty="0" err="1"/>
              <a:t>bercahaya</a:t>
            </a:r>
            <a:r>
              <a:rPr lang="en-ID" sz="1200" dirty="0"/>
              <a:t>.</a:t>
            </a:r>
            <a:endParaRPr sz="1200" dirty="0"/>
          </a:p>
        </p:txBody>
      </p:sp>
      <p:sp>
        <p:nvSpPr>
          <p:cNvPr id="216" name="Google Shape;216;p35"/>
          <p:cNvSpPr txBox="1">
            <a:spLocks noGrp="1"/>
          </p:cNvSpPr>
          <p:nvPr>
            <p:ph type="title" idx="5"/>
          </p:nvPr>
        </p:nvSpPr>
        <p:spPr>
          <a:xfrm>
            <a:off x="831474" y="2508295"/>
            <a:ext cx="7404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219" name="Google Shape;219;p35"/>
          <p:cNvSpPr txBox="1">
            <a:spLocks noGrp="1"/>
          </p:cNvSpPr>
          <p:nvPr>
            <p:ph type="title" idx="8"/>
          </p:nvPr>
        </p:nvSpPr>
        <p:spPr>
          <a:xfrm>
            <a:off x="831474" y="3629084"/>
            <a:ext cx="7404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221" name="Google Shape;221;p35"/>
          <p:cNvSpPr txBox="1">
            <a:spLocks noGrp="1"/>
          </p:cNvSpPr>
          <p:nvPr>
            <p:ph type="subTitle" idx="13"/>
          </p:nvPr>
        </p:nvSpPr>
        <p:spPr>
          <a:xfrm>
            <a:off x="5657924" y="1540674"/>
            <a:ext cx="3264620" cy="9096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/>
              <a:t>Formulanya yang kaya dan creamy </a:t>
            </a:r>
            <a:r>
              <a:rPr lang="en-ID" sz="1200" dirty="0" err="1"/>
              <a:t>terasa</a:t>
            </a:r>
            <a:r>
              <a:rPr lang="en-ID" sz="1200" dirty="0"/>
              <a:t> lembut di </a:t>
            </a:r>
            <a:r>
              <a:rPr lang="en-ID" sz="1200" dirty="0" err="1"/>
              <a:t>kulit</a:t>
            </a:r>
            <a:r>
              <a:rPr lang="en-ID" sz="1200" dirty="0"/>
              <a:t> dan </a:t>
            </a:r>
            <a:r>
              <a:rPr lang="en-ID" sz="1200" dirty="0" err="1"/>
              <a:t>membuatnya</a:t>
            </a:r>
            <a:r>
              <a:rPr lang="en-ID" sz="1200" dirty="0"/>
              <a:t> </a:t>
            </a:r>
            <a:r>
              <a:rPr lang="en-ID" sz="1200" dirty="0" err="1"/>
              <a:t>terasa</a:t>
            </a:r>
            <a:r>
              <a:rPr lang="en-ID" sz="1200" dirty="0"/>
              <a:t> lembut dan </a:t>
            </a:r>
            <a:r>
              <a:rPr lang="en-ID" sz="1200" dirty="0" err="1"/>
              <a:t>terhidrasi</a:t>
            </a:r>
            <a:r>
              <a:rPr lang="en-ID" sz="1200" dirty="0"/>
              <a:t> </a:t>
            </a:r>
            <a:r>
              <a:rPr lang="en-ID" sz="1200" dirty="0" err="1"/>
              <a:t>setelah</a:t>
            </a:r>
            <a:r>
              <a:rPr lang="en-ID" sz="1200" dirty="0"/>
              <a:t> </a:t>
            </a:r>
            <a:r>
              <a:rPr lang="en-ID" sz="1200" dirty="0" err="1"/>
              <a:t>digunakan</a:t>
            </a:r>
            <a:r>
              <a:rPr lang="en-ID" dirty="0"/>
              <a:t>.</a:t>
            </a:r>
            <a:endParaRPr dirty="0"/>
          </a:p>
        </p:txBody>
      </p:sp>
      <p:sp>
        <p:nvSpPr>
          <p:cNvPr id="222" name="Google Shape;222;p35"/>
          <p:cNvSpPr txBox="1">
            <a:spLocks noGrp="1"/>
          </p:cNvSpPr>
          <p:nvPr>
            <p:ph type="title" idx="14"/>
          </p:nvPr>
        </p:nvSpPr>
        <p:spPr>
          <a:xfrm>
            <a:off x="4790704" y="1626790"/>
            <a:ext cx="7404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24" name="Google Shape;224;p35"/>
          <p:cNvSpPr txBox="1">
            <a:spLocks noGrp="1"/>
          </p:cNvSpPr>
          <p:nvPr>
            <p:ph type="subTitle" idx="16"/>
          </p:nvPr>
        </p:nvSpPr>
        <p:spPr>
          <a:xfrm>
            <a:off x="5657924" y="2501152"/>
            <a:ext cx="3094706" cy="7091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 err="1"/>
              <a:t>Dibuat</a:t>
            </a:r>
            <a:r>
              <a:rPr lang="en-ID" sz="1200" dirty="0"/>
              <a:t> </a:t>
            </a:r>
            <a:r>
              <a:rPr lang="en-ID" sz="1200" dirty="0" err="1"/>
              <a:t>dengan</a:t>
            </a:r>
            <a:r>
              <a:rPr lang="en-ID" sz="1200" dirty="0"/>
              <a:t> </a:t>
            </a:r>
            <a:r>
              <a:rPr lang="en-ID" sz="1200" dirty="0" err="1"/>
              <a:t>bahan</a:t>
            </a:r>
            <a:r>
              <a:rPr lang="en-ID" sz="1200" dirty="0"/>
              <a:t> </a:t>
            </a:r>
            <a:r>
              <a:rPr lang="en-ID" sz="1200" dirty="0" err="1"/>
              <a:t>organik</a:t>
            </a:r>
            <a:r>
              <a:rPr lang="en-ID" sz="1200" dirty="0"/>
              <a:t> </a:t>
            </a:r>
            <a:r>
              <a:rPr lang="en-ID" sz="1200" dirty="0" err="1"/>
              <a:t>alami</a:t>
            </a:r>
            <a:r>
              <a:rPr lang="en-ID" sz="1200" dirty="0"/>
              <a:t> </a:t>
            </a:r>
            <a:r>
              <a:rPr lang="en-ID" sz="1200" dirty="0" err="1"/>
              <a:t>untuk</a:t>
            </a:r>
            <a:r>
              <a:rPr lang="en-ID" sz="1200" dirty="0"/>
              <a:t> </a:t>
            </a:r>
            <a:r>
              <a:rPr lang="en-ID" sz="1200" dirty="0" err="1"/>
              <a:t>rutinitas</a:t>
            </a:r>
            <a:r>
              <a:rPr lang="en-ID" sz="1200" dirty="0"/>
              <a:t> </a:t>
            </a:r>
            <a:r>
              <a:rPr lang="en-ID" sz="1200" dirty="0" err="1"/>
              <a:t>perawatan</a:t>
            </a:r>
            <a:r>
              <a:rPr lang="en-ID" sz="1200" dirty="0"/>
              <a:t> </a:t>
            </a:r>
            <a:r>
              <a:rPr lang="en-ID" sz="1200" dirty="0" err="1"/>
              <a:t>kulit</a:t>
            </a:r>
            <a:r>
              <a:rPr lang="en-ID" sz="1200" dirty="0"/>
              <a:t> yang </a:t>
            </a:r>
            <a:r>
              <a:rPr lang="en-ID" sz="1200" dirty="0" err="1"/>
              <a:t>lebih</a:t>
            </a:r>
            <a:r>
              <a:rPr lang="en-ID" sz="1200" dirty="0"/>
              <a:t> </a:t>
            </a:r>
            <a:r>
              <a:rPr lang="en-ID" sz="1200" dirty="0" err="1"/>
              <a:t>aman</a:t>
            </a:r>
            <a:r>
              <a:rPr lang="en-ID" sz="1200" dirty="0"/>
              <a:t> dan </a:t>
            </a:r>
            <a:r>
              <a:rPr lang="en-ID" sz="1200" dirty="0" err="1"/>
              <a:t>ramah</a:t>
            </a:r>
            <a:r>
              <a:rPr lang="en-ID" sz="1200" dirty="0"/>
              <a:t> </a:t>
            </a:r>
            <a:r>
              <a:rPr lang="en-ID" sz="1200" dirty="0" err="1"/>
              <a:t>lingkungan</a:t>
            </a:r>
            <a:endParaRPr sz="1200" dirty="0"/>
          </a:p>
        </p:txBody>
      </p:sp>
      <p:sp>
        <p:nvSpPr>
          <p:cNvPr id="225" name="Google Shape;225;p35"/>
          <p:cNvSpPr txBox="1">
            <a:spLocks noGrp="1"/>
          </p:cNvSpPr>
          <p:nvPr>
            <p:ph type="title" idx="17"/>
          </p:nvPr>
        </p:nvSpPr>
        <p:spPr>
          <a:xfrm>
            <a:off x="4788007" y="2508295"/>
            <a:ext cx="7404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227" name="Google Shape;227;p35"/>
          <p:cNvSpPr txBox="1">
            <a:spLocks noGrp="1"/>
          </p:cNvSpPr>
          <p:nvPr>
            <p:ph type="subTitle" idx="19"/>
          </p:nvPr>
        </p:nvSpPr>
        <p:spPr>
          <a:xfrm>
            <a:off x="5657924" y="3563410"/>
            <a:ext cx="3036020" cy="7091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 err="1"/>
              <a:t>Tanpa</a:t>
            </a:r>
            <a:r>
              <a:rPr lang="en-ID" sz="1200" dirty="0"/>
              <a:t> </a:t>
            </a:r>
            <a:r>
              <a:rPr lang="en-ID" sz="1200" dirty="0" err="1"/>
              <a:t>pewangi</a:t>
            </a:r>
            <a:r>
              <a:rPr lang="en-ID" sz="1200" dirty="0"/>
              <a:t>, </a:t>
            </a:r>
            <a:r>
              <a:rPr lang="en-ID" sz="1200" dirty="0" err="1"/>
              <a:t>sehingga</a:t>
            </a:r>
            <a:r>
              <a:rPr lang="en-ID" sz="1200" dirty="0"/>
              <a:t> </a:t>
            </a:r>
            <a:r>
              <a:rPr lang="en-ID" sz="1200" dirty="0" err="1"/>
              <a:t>cocok</a:t>
            </a:r>
            <a:r>
              <a:rPr lang="en-ID" sz="1200" dirty="0"/>
              <a:t> </a:t>
            </a:r>
            <a:r>
              <a:rPr lang="en-ID" sz="1200" dirty="0" err="1"/>
              <a:t>untuk</a:t>
            </a:r>
            <a:r>
              <a:rPr lang="en-ID" sz="1200" dirty="0"/>
              <a:t> </a:t>
            </a:r>
            <a:r>
              <a:rPr lang="en-ID" sz="1200" dirty="0" err="1"/>
              <a:t>mereka</a:t>
            </a:r>
            <a:r>
              <a:rPr lang="en-ID" sz="1200" dirty="0"/>
              <a:t> yang </a:t>
            </a:r>
            <a:r>
              <a:rPr lang="en-ID" sz="1200" dirty="0" err="1"/>
              <a:t>alergi</a:t>
            </a:r>
            <a:r>
              <a:rPr lang="en-ID" sz="1200" dirty="0"/>
              <a:t> </a:t>
            </a:r>
            <a:r>
              <a:rPr lang="en-ID" sz="1200" dirty="0" err="1"/>
              <a:t>atau</a:t>
            </a:r>
            <a:r>
              <a:rPr lang="en-ID" sz="1200" dirty="0"/>
              <a:t> </a:t>
            </a:r>
            <a:r>
              <a:rPr lang="en-ID" sz="1200" dirty="0" err="1"/>
              <a:t>sensitif</a:t>
            </a:r>
            <a:r>
              <a:rPr lang="en-ID" sz="1200" dirty="0"/>
              <a:t> </a:t>
            </a:r>
            <a:r>
              <a:rPr lang="en-ID" sz="1200" dirty="0" err="1"/>
              <a:t>terhadap</a:t>
            </a:r>
            <a:r>
              <a:rPr lang="en-ID" sz="1200" dirty="0"/>
              <a:t> </a:t>
            </a:r>
            <a:r>
              <a:rPr lang="en-ID" sz="1200" dirty="0" err="1"/>
              <a:t>wewangian</a:t>
            </a:r>
            <a:r>
              <a:rPr lang="en-ID" sz="1200" dirty="0"/>
              <a:t>.</a:t>
            </a:r>
            <a:endParaRPr sz="1200" dirty="0"/>
          </a:p>
        </p:txBody>
      </p:sp>
      <p:sp>
        <p:nvSpPr>
          <p:cNvPr id="228" name="Google Shape;228;p35"/>
          <p:cNvSpPr txBox="1">
            <a:spLocks noGrp="1"/>
          </p:cNvSpPr>
          <p:nvPr>
            <p:ph type="title" idx="20"/>
          </p:nvPr>
        </p:nvSpPr>
        <p:spPr>
          <a:xfrm>
            <a:off x="4790704" y="3629084"/>
            <a:ext cx="7404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cxnSp>
        <p:nvCxnSpPr>
          <p:cNvPr id="229" name="Google Shape;229;p35"/>
          <p:cNvCxnSpPr/>
          <p:nvPr/>
        </p:nvCxnSpPr>
        <p:spPr>
          <a:xfrm rot="10800000">
            <a:off x="738900" y="1193875"/>
            <a:ext cx="7666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Subtitle 8">
            <a:extLst>
              <a:ext uri="{FF2B5EF4-FFF2-40B4-BE49-F238E27FC236}">
                <a16:creationId xmlns:a16="http://schemas.microsoft.com/office/drawing/2014/main" id="{E289570C-916B-5B39-A9F8-FB54C3F6052B}"/>
              </a:ext>
            </a:extLst>
          </p:cNvPr>
          <p:cNvSpPr>
            <a:spLocks noGrp="1"/>
          </p:cNvSpPr>
          <p:nvPr>
            <p:ph type="subTitle" idx="7"/>
          </p:nvPr>
        </p:nvSpPr>
        <p:spPr>
          <a:xfrm>
            <a:off x="1632587" y="3500611"/>
            <a:ext cx="2746486" cy="997119"/>
          </a:xfrm>
        </p:spPr>
        <p:txBody>
          <a:bodyPr>
            <a:noAutofit/>
          </a:bodyPr>
          <a:lstStyle/>
          <a:p>
            <a:pPr marL="0"/>
            <a:r>
              <a:rPr lang="en-ID" sz="1100" dirty="0" err="1"/>
              <a:t>Khasiat</a:t>
            </a:r>
            <a:r>
              <a:rPr lang="en-ID" sz="1100" dirty="0"/>
              <a:t> </a:t>
            </a:r>
            <a:r>
              <a:rPr lang="en-ID" sz="1100" dirty="0" err="1"/>
              <a:t>Akar</a:t>
            </a:r>
            <a:r>
              <a:rPr lang="en-ID" sz="1100" dirty="0"/>
              <a:t> </a:t>
            </a:r>
            <a:r>
              <a:rPr lang="en-ID" sz="1100" dirty="0" err="1"/>
              <a:t>manis</a:t>
            </a:r>
            <a:r>
              <a:rPr lang="en-ID" sz="1100" dirty="0"/>
              <a:t> yang </a:t>
            </a:r>
            <a:r>
              <a:rPr lang="en-ID" sz="1100" dirty="0" err="1"/>
              <a:t>menenangkan</a:t>
            </a:r>
            <a:r>
              <a:rPr lang="en-ID" sz="1100" dirty="0"/>
              <a:t> </a:t>
            </a:r>
            <a:r>
              <a:rPr lang="en-ID" sz="1100" dirty="0" err="1"/>
              <a:t>dapat</a:t>
            </a:r>
            <a:r>
              <a:rPr lang="en-ID" sz="1100" dirty="0"/>
              <a:t> </a:t>
            </a:r>
            <a:r>
              <a:rPr lang="en-ID" sz="1100" dirty="0" err="1"/>
              <a:t>membantu</a:t>
            </a:r>
            <a:r>
              <a:rPr lang="en-ID" sz="1100" dirty="0"/>
              <a:t> </a:t>
            </a:r>
            <a:r>
              <a:rPr lang="en-ID" sz="1100" dirty="0" err="1"/>
              <a:t>mengurangi</a:t>
            </a:r>
            <a:r>
              <a:rPr lang="en-ID" sz="1100" dirty="0"/>
              <a:t> </a:t>
            </a:r>
            <a:r>
              <a:rPr lang="en-ID" sz="1100" dirty="0" err="1"/>
              <a:t>kemerahan</a:t>
            </a:r>
            <a:r>
              <a:rPr lang="en-ID" sz="1100" dirty="0"/>
              <a:t> dan </a:t>
            </a:r>
            <a:r>
              <a:rPr lang="en-ID" sz="1100" dirty="0" err="1"/>
              <a:t>peradangan</a:t>
            </a:r>
            <a:r>
              <a:rPr lang="en-ID" sz="1100" dirty="0"/>
              <a:t>, </a:t>
            </a:r>
            <a:r>
              <a:rPr lang="en-ID" sz="1100" dirty="0" err="1"/>
              <a:t>sehingga</a:t>
            </a:r>
            <a:r>
              <a:rPr lang="en-ID" sz="1100" dirty="0"/>
              <a:t> </a:t>
            </a:r>
            <a:r>
              <a:rPr lang="en-ID" sz="1100" dirty="0" err="1"/>
              <a:t>cocok</a:t>
            </a:r>
            <a:r>
              <a:rPr lang="en-ID" sz="1100" dirty="0"/>
              <a:t> </a:t>
            </a:r>
            <a:r>
              <a:rPr lang="en-ID" sz="1100" dirty="0" err="1"/>
              <a:t>untuk</a:t>
            </a:r>
            <a:r>
              <a:rPr lang="en-ID" sz="1100" dirty="0"/>
              <a:t> </a:t>
            </a:r>
            <a:r>
              <a:rPr lang="en-ID" sz="1100" dirty="0" err="1"/>
              <a:t>mereka</a:t>
            </a:r>
            <a:r>
              <a:rPr lang="en-ID" sz="1100" dirty="0"/>
              <a:t> yang </a:t>
            </a:r>
            <a:r>
              <a:rPr lang="en-ID" sz="1100" dirty="0" err="1"/>
              <a:t>memiliki</a:t>
            </a:r>
            <a:r>
              <a:rPr lang="en-ID" sz="1100" dirty="0"/>
              <a:t> </a:t>
            </a:r>
            <a:r>
              <a:rPr lang="en-ID" sz="1100" dirty="0" err="1"/>
              <a:t>kulit</a:t>
            </a:r>
            <a:r>
              <a:rPr lang="en-ID" sz="1100" dirty="0"/>
              <a:t> </a:t>
            </a:r>
            <a:r>
              <a:rPr lang="en-ID" sz="1100" dirty="0" err="1"/>
              <a:t>sensitif</a:t>
            </a:r>
            <a:r>
              <a:rPr lang="en-ID" sz="1100" dirty="0"/>
              <a:t>.</a:t>
            </a:r>
          </a:p>
        </p:txBody>
      </p:sp>
      <p:pic>
        <p:nvPicPr>
          <p:cNvPr id="2" name="Picture Placeholder 5">
            <a:extLst>
              <a:ext uri="{FF2B5EF4-FFF2-40B4-BE49-F238E27FC236}">
                <a16:creationId xmlns:a16="http://schemas.microsoft.com/office/drawing/2014/main" id="{EDC220C0-E11C-6109-6687-983AE9C4AE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99" r="1399"/>
          <a:stretch>
            <a:fillRect/>
          </a:stretch>
        </p:blipFill>
        <p:spPr>
          <a:xfrm>
            <a:off x="0" y="0"/>
            <a:ext cx="816678" cy="8549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FF0F6-28A7-F712-57DC-DF3CCBE93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678" y="1203476"/>
            <a:ext cx="3897600" cy="644100"/>
          </a:xfrm>
        </p:spPr>
        <p:txBody>
          <a:bodyPr/>
          <a:lstStyle/>
          <a:p>
            <a:pPr algn="l"/>
            <a:r>
              <a:rPr lang="en-US" dirty="0"/>
              <a:t>Strategi </a:t>
            </a:r>
            <a:r>
              <a:rPr lang="en-US" dirty="0" err="1"/>
              <a:t>Pemasaran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2A782C-C251-4888-2FD1-196DCB530D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678" y="1847576"/>
            <a:ext cx="5038435" cy="1705322"/>
          </a:xfrm>
        </p:spPr>
        <p:txBody>
          <a:bodyPr/>
          <a:lstStyle/>
          <a:p>
            <a:pPr algn="l"/>
            <a:r>
              <a:rPr lang="en-US" dirty="0"/>
              <a:t>Pada </a:t>
            </a:r>
            <a:r>
              <a:rPr lang="en-US" dirty="0" err="1"/>
              <a:t>awal</a:t>
            </a:r>
            <a:r>
              <a:rPr lang="en-US" dirty="0"/>
              <a:t> </a:t>
            </a:r>
            <a:r>
              <a:rPr lang="en-US" dirty="0" err="1"/>
              <a:t>pemulaian</a:t>
            </a:r>
            <a:r>
              <a:rPr lang="en-US" dirty="0"/>
              <a:t> </a:t>
            </a:r>
            <a:r>
              <a:rPr lang="en-US" dirty="0" err="1"/>
              <a:t>perusahaan</a:t>
            </a:r>
            <a:r>
              <a:rPr lang="en-US" dirty="0"/>
              <a:t> </a:t>
            </a:r>
            <a:r>
              <a:rPr lang="en-US" dirty="0" err="1"/>
              <a:t>kami,kita</a:t>
            </a:r>
            <a:endParaRPr lang="en-US" dirty="0"/>
          </a:p>
          <a:p>
            <a:pPr algn="l"/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membikin</a:t>
            </a:r>
            <a:r>
              <a:rPr lang="en-US" dirty="0"/>
              <a:t> website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melakukan</a:t>
            </a:r>
            <a:endParaRPr lang="en-US" dirty="0"/>
          </a:p>
          <a:p>
            <a:pPr algn="l"/>
            <a:r>
              <a:rPr lang="en-US" dirty="0" err="1"/>
              <a:t>penjualan</a:t>
            </a:r>
            <a:r>
              <a:rPr lang="en-US" dirty="0"/>
              <a:t> dan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produk</a:t>
            </a:r>
            <a:r>
              <a:rPr lang="en-US" dirty="0"/>
              <a:t> yang</a:t>
            </a:r>
          </a:p>
          <a:p>
            <a:pPr algn="l"/>
            <a:r>
              <a:rPr lang="en-US" dirty="0" err="1"/>
              <a:t>dibeli,kami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mengasih</a:t>
            </a:r>
            <a:r>
              <a:rPr lang="en-US" dirty="0"/>
              <a:t> bonus </a:t>
            </a:r>
            <a:r>
              <a:rPr lang="en-US" dirty="0" err="1"/>
              <a:t>berupa</a:t>
            </a:r>
            <a:endParaRPr lang="en-US" dirty="0"/>
          </a:p>
          <a:p>
            <a:pPr algn="l"/>
            <a:r>
              <a:rPr lang="en-US" dirty="0" err="1"/>
              <a:t>tambahan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produk</a:t>
            </a:r>
            <a:r>
              <a:rPr lang="en-US" dirty="0"/>
              <a:t> yang </a:t>
            </a:r>
            <a:r>
              <a:rPr lang="en-US" dirty="0" err="1"/>
              <a:t>dibeli</a:t>
            </a:r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BB6405CB-AFE4-C4A2-CEFD-E4D92962DF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99" r="1399"/>
          <a:stretch>
            <a:fillRect/>
          </a:stretch>
        </p:blipFill>
        <p:spPr>
          <a:xfrm>
            <a:off x="0" y="0"/>
            <a:ext cx="816678" cy="854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595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EEC79C7-CA30-BAFE-F344-58E1972C93FC}"/>
              </a:ext>
            </a:extLst>
          </p:cNvPr>
          <p:cNvSpPr/>
          <p:nvPr/>
        </p:nvSpPr>
        <p:spPr>
          <a:xfrm>
            <a:off x="1342642" y="2732225"/>
            <a:ext cx="6459506" cy="894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4C78EF-1C0D-DEF1-1361-A5E0F94F2238}"/>
              </a:ext>
            </a:extLst>
          </p:cNvPr>
          <p:cNvSpPr/>
          <p:nvPr/>
        </p:nvSpPr>
        <p:spPr>
          <a:xfrm>
            <a:off x="1342642" y="2738023"/>
            <a:ext cx="1615074" cy="83654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5D3C52-3CCC-0434-1D90-C6B06ECA6FE3}"/>
              </a:ext>
            </a:extLst>
          </p:cNvPr>
          <p:cNvSpPr/>
          <p:nvPr/>
        </p:nvSpPr>
        <p:spPr>
          <a:xfrm>
            <a:off x="2958111" y="2735124"/>
            <a:ext cx="1385301" cy="89452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3" name="Google Shape;210;p35">
            <a:extLst>
              <a:ext uri="{FF2B5EF4-FFF2-40B4-BE49-F238E27FC236}">
                <a16:creationId xmlns:a16="http://schemas.microsoft.com/office/drawing/2014/main" id="{955F0402-9747-5635-D39E-9862D23AFA8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42247" y="2914878"/>
            <a:ext cx="1868624" cy="17754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/>
              <a:t>AWARENESS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b="1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Calon </a:t>
            </a:r>
            <a:r>
              <a:rPr lang="en-US" sz="1200" dirty="0" err="1"/>
              <a:t>Pembeli</a:t>
            </a:r>
            <a:r>
              <a:rPr lang="en-US" sz="1200" dirty="0"/>
              <a:t> 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/>
              <a:t>Menemukan</a:t>
            </a:r>
            <a:r>
              <a:rPr lang="en-US" sz="1200" dirty="0"/>
              <a:t> </a:t>
            </a:r>
            <a:r>
              <a:rPr lang="en-US" sz="1200" dirty="0" err="1"/>
              <a:t>Produk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media 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Social </a:t>
            </a:r>
            <a:r>
              <a:rPr lang="en-US" sz="1200" dirty="0" err="1"/>
              <a:t>seperti</a:t>
            </a:r>
            <a:r>
              <a:rPr lang="en-US" sz="1200" dirty="0"/>
              <a:t> : 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/>
              <a:t>Instagram,Facebook</a:t>
            </a:r>
            <a:endParaRPr lang="en-US" sz="1200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Dan Tik </a:t>
            </a:r>
            <a:r>
              <a:rPr lang="en-US" sz="1200" dirty="0" err="1"/>
              <a:t>tok</a:t>
            </a:r>
            <a:endParaRPr lang="en-US" sz="1200" dirty="0"/>
          </a:p>
        </p:txBody>
      </p:sp>
      <p:sp>
        <p:nvSpPr>
          <p:cNvPr id="24" name="Google Shape;210;p35">
            <a:extLst>
              <a:ext uri="{FF2B5EF4-FFF2-40B4-BE49-F238E27FC236}">
                <a16:creationId xmlns:a16="http://schemas.microsoft.com/office/drawing/2014/main" id="{E4FA6416-39C8-1DC8-7EA0-2F5922F18BAA}"/>
              </a:ext>
            </a:extLst>
          </p:cNvPr>
          <p:cNvSpPr txBox="1">
            <a:spLocks/>
          </p:cNvSpPr>
          <p:nvPr/>
        </p:nvSpPr>
        <p:spPr>
          <a:xfrm>
            <a:off x="2957518" y="897866"/>
            <a:ext cx="1614679" cy="1717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ctr"/>
            <a:r>
              <a:rPr lang="en-US" sz="1200" b="1" dirty="0"/>
              <a:t>CONSIDERATION</a:t>
            </a:r>
          </a:p>
          <a:p>
            <a:pPr marL="0" indent="0" algn="ctr"/>
            <a:endParaRPr lang="en-US" sz="1200" b="1" dirty="0"/>
          </a:p>
          <a:p>
            <a:pPr marL="0" indent="0" algn="just"/>
            <a:r>
              <a:rPr lang="en-US" sz="1200" dirty="0"/>
              <a:t>Calon </a:t>
            </a:r>
            <a:r>
              <a:rPr lang="en-US" sz="1200" dirty="0" err="1"/>
              <a:t>pembeli</a:t>
            </a:r>
            <a:endParaRPr lang="en-US" sz="1200" dirty="0"/>
          </a:p>
          <a:p>
            <a:pPr marL="0" indent="0" algn="just"/>
            <a:r>
              <a:rPr lang="en-US" sz="1200" dirty="0" err="1"/>
              <a:t>membandingkan</a:t>
            </a:r>
            <a:r>
              <a:rPr lang="en-US" sz="1200" dirty="0"/>
              <a:t> </a:t>
            </a:r>
            <a:r>
              <a:rPr lang="en-US" sz="1200" dirty="0" err="1"/>
              <a:t>produk</a:t>
            </a:r>
            <a:r>
              <a:rPr lang="en-US" sz="1200" dirty="0"/>
              <a:t> yang </a:t>
            </a:r>
            <a:r>
              <a:rPr lang="en-US" sz="1200" dirty="0" err="1"/>
              <a:t>ada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berbagai</a:t>
            </a:r>
            <a:r>
              <a:rPr lang="en-US" sz="1200" dirty="0"/>
              <a:t> review dan</a:t>
            </a:r>
          </a:p>
          <a:p>
            <a:pPr marL="0" indent="0" algn="just"/>
            <a:r>
              <a:rPr lang="en-US" sz="1200" dirty="0" err="1"/>
              <a:t>testimoni</a:t>
            </a:r>
            <a:r>
              <a:rPr lang="en-US" sz="1200" dirty="0"/>
              <a:t>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FD774BE-EF3A-B887-5F41-F5674277542F}"/>
              </a:ext>
            </a:extLst>
          </p:cNvPr>
          <p:cNvSpPr/>
          <p:nvPr/>
        </p:nvSpPr>
        <p:spPr>
          <a:xfrm>
            <a:off x="2957321" y="2738023"/>
            <a:ext cx="1615074" cy="83654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1F6B2DF-07B8-184D-AE94-C8BBE8548ACF}"/>
              </a:ext>
            </a:extLst>
          </p:cNvPr>
          <p:cNvSpPr/>
          <p:nvPr/>
        </p:nvSpPr>
        <p:spPr>
          <a:xfrm>
            <a:off x="4572000" y="2739473"/>
            <a:ext cx="1615074" cy="83654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C2F7A9C-881E-8976-D91D-E51081C932C5}"/>
              </a:ext>
            </a:extLst>
          </p:cNvPr>
          <p:cNvSpPr/>
          <p:nvPr/>
        </p:nvSpPr>
        <p:spPr>
          <a:xfrm>
            <a:off x="6187074" y="2738023"/>
            <a:ext cx="1615074" cy="83654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8" name="Google Shape;210;p35">
            <a:extLst>
              <a:ext uri="{FF2B5EF4-FFF2-40B4-BE49-F238E27FC236}">
                <a16:creationId xmlns:a16="http://schemas.microsoft.com/office/drawing/2014/main" id="{DF25181A-C3ED-EEF1-BFC5-8E72A5F55B4B}"/>
              </a:ext>
            </a:extLst>
          </p:cNvPr>
          <p:cNvSpPr txBox="1">
            <a:spLocks/>
          </p:cNvSpPr>
          <p:nvPr/>
        </p:nvSpPr>
        <p:spPr>
          <a:xfrm>
            <a:off x="4572197" y="2872425"/>
            <a:ext cx="1614679" cy="1753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ctr"/>
            <a:r>
              <a:rPr lang="en-US" sz="1200" b="1" dirty="0"/>
              <a:t>CONVERSION</a:t>
            </a:r>
          </a:p>
          <a:p>
            <a:pPr marL="0" indent="0" algn="ctr"/>
            <a:endParaRPr lang="en-US" sz="1200" b="1" dirty="0"/>
          </a:p>
          <a:p>
            <a:pPr marL="0" indent="0" algn="just"/>
            <a:r>
              <a:rPr lang="en-US" sz="1200" dirty="0"/>
              <a:t>Calon </a:t>
            </a:r>
            <a:r>
              <a:rPr lang="en-US" sz="1200" dirty="0" err="1"/>
              <a:t>pembeli</a:t>
            </a:r>
            <a:endParaRPr lang="en-US" sz="1200" dirty="0"/>
          </a:p>
          <a:p>
            <a:pPr marL="0" indent="0" algn="just"/>
            <a:r>
              <a:rPr lang="en-US" sz="1200" dirty="0" err="1"/>
              <a:t>Mencoba</a:t>
            </a:r>
            <a:r>
              <a:rPr lang="en-US" sz="1200" dirty="0"/>
              <a:t> </a:t>
            </a:r>
            <a:r>
              <a:rPr lang="en-US" sz="1200" dirty="0" err="1"/>
              <a:t>produk</a:t>
            </a:r>
            <a:endParaRPr lang="en-US" sz="1200" dirty="0"/>
          </a:p>
          <a:p>
            <a:pPr marL="0" indent="0" algn="just"/>
            <a:r>
              <a:rPr lang="en-US" sz="1200" dirty="0"/>
              <a:t>Tester </a:t>
            </a:r>
            <a:r>
              <a:rPr lang="en-US" sz="1200" dirty="0" err="1"/>
              <a:t>untuk</a:t>
            </a:r>
            <a:endParaRPr lang="en-US" sz="1200" dirty="0"/>
          </a:p>
          <a:p>
            <a:pPr marL="0" indent="0" algn="just"/>
            <a:r>
              <a:rPr lang="en-US" sz="1200" dirty="0" err="1"/>
              <a:t>meyakinkan</a:t>
            </a:r>
            <a:r>
              <a:rPr lang="en-US" sz="1200" dirty="0"/>
              <a:t> </a:t>
            </a:r>
            <a:r>
              <a:rPr lang="en-US" sz="1200" dirty="0" err="1"/>
              <a:t>pembeli</a:t>
            </a:r>
            <a:r>
              <a:rPr lang="en-US" sz="1200" dirty="0"/>
              <a:t> </a:t>
            </a:r>
            <a:r>
              <a:rPr lang="en-US" sz="1200" dirty="0" err="1"/>
              <a:t>melanjutkan</a:t>
            </a:r>
            <a:r>
              <a:rPr lang="en-US" sz="1200" dirty="0"/>
              <a:t> </a:t>
            </a:r>
            <a:r>
              <a:rPr lang="en-US" sz="1200" dirty="0" err="1"/>
              <a:t>sampai</a:t>
            </a:r>
            <a:r>
              <a:rPr lang="en-US" sz="1200" dirty="0"/>
              <a:t> </a:t>
            </a:r>
            <a:r>
              <a:rPr lang="en-US" sz="1200" dirty="0" err="1"/>
              <a:t>tahap</a:t>
            </a:r>
            <a:endParaRPr lang="en-US" sz="1200" dirty="0"/>
          </a:p>
          <a:p>
            <a:pPr marL="0" indent="0" algn="just"/>
            <a:r>
              <a:rPr lang="en-US" sz="1200" dirty="0" err="1"/>
              <a:t>pembelian</a:t>
            </a:r>
            <a:r>
              <a:rPr lang="en-US" sz="1200" dirty="0"/>
              <a:t>.</a:t>
            </a:r>
          </a:p>
        </p:txBody>
      </p:sp>
      <p:sp>
        <p:nvSpPr>
          <p:cNvPr id="29" name="Google Shape;210;p35">
            <a:extLst>
              <a:ext uri="{FF2B5EF4-FFF2-40B4-BE49-F238E27FC236}">
                <a16:creationId xmlns:a16="http://schemas.microsoft.com/office/drawing/2014/main" id="{AE251936-216A-9E5D-A5A5-CEDD2B420DA1}"/>
              </a:ext>
            </a:extLst>
          </p:cNvPr>
          <p:cNvSpPr txBox="1">
            <a:spLocks/>
          </p:cNvSpPr>
          <p:nvPr/>
        </p:nvSpPr>
        <p:spPr>
          <a:xfrm>
            <a:off x="6187469" y="897865"/>
            <a:ext cx="1614679" cy="1717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ctr"/>
            <a:r>
              <a:rPr lang="en-US" sz="1200" b="1" dirty="0"/>
              <a:t>ADVOCACY</a:t>
            </a:r>
          </a:p>
          <a:p>
            <a:pPr marL="0" indent="0" algn="just"/>
            <a:endParaRPr lang="en-US" sz="1200" b="1" dirty="0"/>
          </a:p>
          <a:p>
            <a:pPr marL="0" indent="0" algn="just"/>
            <a:r>
              <a:rPr lang="en-US" sz="1200" dirty="0" err="1"/>
              <a:t>Pembeli</a:t>
            </a:r>
            <a:r>
              <a:rPr lang="en-US" sz="1200" dirty="0"/>
              <a:t> </a:t>
            </a:r>
            <a:r>
              <a:rPr lang="en-US" sz="1200" dirty="0" err="1"/>
              <a:t>memberikan</a:t>
            </a:r>
            <a:r>
              <a:rPr lang="en-US" sz="1200" dirty="0"/>
              <a:t> review </a:t>
            </a:r>
            <a:r>
              <a:rPr lang="en-US" sz="1200" dirty="0" err="1"/>
              <a:t>produk</a:t>
            </a:r>
            <a:endParaRPr lang="en-US" sz="1200" dirty="0"/>
          </a:p>
          <a:p>
            <a:pPr marL="0" indent="0" algn="just"/>
            <a:r>
              <a:rPr lang="en-US" sz="1200" dirty="0"/>
              <a:t>yang </a:t>
            </a:r>
            <a:r>
              <a:rPr lang="en-US" sz="1200" dirty="0" err="1"/>
              <a:t>telah</a:t>
            </a:r>
            <a:r>
              <a:rPr lang="en-US" sz="1200" dirty="0"/>
              <a:t> </a:t>
            </a:r>
            <a:r>
              <a:rPr lang="en-US" sz="1200" dirty="0" err="1"/>
              <a:t>dibeli</a:t>
            </a:r>
            <a:r>
              <a:rPr lang="en-US" sz="1200" dirty="0"/>
              <a:t>.</a:t>
            </a:r>
          </a:p>
          <a:p>
            <a:pPr marL="0" indent="0" algn="ctr"/>
            <a:endParaRPr lang="en-US" sz="1200" b="1" dirty="0"/>
          </a:p>
        </p:txBody>
      </p:sp>
      <p:sp>
        <p:nvSpPr>
          <p:cNvPr id="30" name="Google Shape;211;p35">
            <a:extLst>
              <a:ext uri="{FF2B5EF4-FFF2-40B4-BE49-F238E27FC236}">
                <a16:creationId xmlns:a16="http://schemas.microsoft.com/office/drawing/2014/main" id="{72769064-7172-7CD1-7283-8525E0F7E59C}"/>
              </a:ext>
            </a:extLst>
          </p:cNvPr>
          <p:cNvSpPr txBox="1">
            <a:spLocks/>
          </p:cNvSpPr>
          <p:nvPr/>
        </p:nvSpPr>
        <p:spPr>
          <a:xfrm>
            <a:off x="715100" y="563625"/>
            <a:ext cx="7713900" cy="6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ID" dirty="0">
              <a:solidFill>
                <a:schemeClr val="dk2"/>
              </a:solidFill>
            </a:endParaRPr>
          </a:p>
        </p:txBody>
      </p:sp>
      <p:sp>
        <p:nvSpPr>
          <p:cNvPr id="31" name="Google Shape;211;p35">
            <a:extLst>
              <a:ext uri="{FF2B5EF4-FFF2-40B4-BE49-F238E27FC236}">
                <a16:creationId xmlns:a16="http://schemas.microsoft.com/office/drawing/2014/main" id="{9FBF5401-AFCA-16EE-3D8B-2A0D0D607C2C}"/>
              </a:ext>
            </a:extLst>
          </p:cNvPr>
          <p:cNvSpPr txBox="1">
            <a:spLocks/>
          </p:cNvSpPr>
          <p:nvPr/>
        </p:nvSpPr>
        <p:spPr>
          <a:xfrm>
            <a:off x="715000" y="198275"/>
            <a:ext cx="7713900" cy="6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200" dirty="0">
                <a:solidFill>
                  <a:schemeClr val="dk2"/>
                </a:solidFill>
                <a:latin typeface="Montserrat" panose="00000500000000000000" pitchFamily="2" charset="0"/>
              </a:rPr>
              <a:t>CUSTOMER </a:t>
            </a:r>
            <a:r>
              <a:rPr lang="en-US" sz="3200" dirty="0">
                <a:solidFill>
                  <a:schemeClr val="tx1"/>
                </a:solidFill>
                <a:latin typeface="Montserrat" panose="00000500000000000000" pitchFamily="2" charset="0"/>
              </a:rPr>
              <a:t>BUYING JOURNEY</a:t>
            </a:r>
            <a:endParaRPr lang="en-ID" sz="3200" dirty="0">
              <a:solidFill>
                <a:schemeClr val="dk2"/>
              </a:solidFill>
              <a:latin typeface="Montserrat" panose="00000500000000000000" pitchFamily="2" charset="0"/>
            </a:endParaRPr>
          </a:p>
        </p:txBody>
      </p:sp>
      <p:cxnSp>
        <p:nvCxnSpPr>
          <p:cNvPr id="32" name="Google Shape;229;p35">
            <a:extLst>
              <a:ext uri="{FF2B5EF4-FFF2-40B4-BE49-F238E27FC236}">
                <a16:creationId xmlns:a16="http://schemas.microsoft.com/office/drawing/2014/main" id="{205D5C8F-68CD-12B8-EFD3-7AF0D857F235}"/>
              </a:ext>
            </a:extLst>
          </p:cNvPr>
          <p:cNvCxnSpPr/>
          <p:nvPr/>
        </p:nvCxnSpPr>
        <p:spPr>
          <a:xfrm rot="10800000">
            <a:off x="762700" y="864712"/>
            <a:ext cx="7666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" name="Picture Placeholder 5">
            <a:extLst>
              <a:ext uri="{FF2B5EF4-FFF2-40B4-BE49-F238E27FC236}">
                <a16:creationId xmlns:a16="http://schemas.microsoft.com/office/drawing/2014/main" id="{1ED2741C-BB99-B933-0EBB-709FCC5720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99" r="1399"/>
          <a:stretch>
            <a:fillRect/>
          </a:stretch>
        </p:blipFill>
        <p:spPr>
          <a:xfrm>
            <a:off x="0" y="0"/>
            <a:ext cx="816678" cy="8549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D377D3B-D721-1955-4FFF-3848F68B9F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5073469"/>
              </p:ext>
            </p:extLst>
          </p:nvPr>
        </p:nvGraphicFramePr>
        <p:xfrm>
          <a:off x="862806" y="1457325"/>
          <a:ext cx="7418388" cy="324167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690568">
                  <a:extLst>
                    <a:ext uri="{9D8B030D-6E8A-4147-A177-3AD203B41FA5}">
                      <a16:colId xmlns:a16="http://schemas.microsoft.com/office/drawing/2014/main" val="3922840309"/>
                    </a:ext>
                  </a:extLst>
                </a:gridCol>
                <a:gridCol w="1690568">
                  <a:extLst>
                    <a:ext uri="{9D8B030D-6E8A-4147-A177-3AD203B41FA5}">
                      <a16:colId xmlns:a16="http://schemas.microsoft.com/office/drawing/2014/main" val="2423876256"/>
                    </a:ext>
                  </a:extLst>
                </a:gridCol>
                <a:gridCol w="1691291">
                  <a:extLst>
                    <a:ext uri="{9D8B030D-6E8A-4147-A177-3AD203B41FA5}">
                      <a16:colId xmlns:a16="http://schemas.microsoft.com/office/drawing/2014/main" val="1345015608"/>
                    </a:ext>
                  </a:extLst>
                </a:gridCol>
                <a:gridCol w="2345961">
                  <a:extLst>
                    <a:ext uri="{9D8B030D-6E8A-4147-A177-3AD203B41FA5}">
                      <a16:colId xmlns:a16="http://schemas.microsoft.com/office/drawing/2014/main" val="1879221196"/>
                    </a:ext>
                  </a:extLst>
                </a:gridCol>
              </a:tblGrid>
              <a:tr h="291089">
                <a:tc>
                  <a:txBody>
                    <a:bodyPr/>
                    <a:lstStyle/>
                    <a:p>
                      <a:r>
                        <a:rPr lang="en-ID" sz="1200">
                          <a:effectLst/>
                          <a:latin typeface="Montserrat" panose="00000500000000000000" pitchFamily="2" charset="0"/>
                        </a:rPr>
                        <a:t>Perbandingan</a:t>
                      </a:r>
                      <a:endParaRPr lang="en-ID" sz="1200">
                        <a:effectLst/>
                        <a:latin typeface="Montserrat" panose="00000500000000000000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D" sz="1200" dirty="0" err="1">
                          <a:effectLst/>
                          <a:latin typeface="Montserrat" panose="00000500000000000000" pitchFamily="2" charset="0"/>
                        </a:rPr>
                        <a:t>Trisia</a:t>
                      </a:r>
                      <a:endParaRPr lang="en-ID" sz="1200" dirty="0">
                        <a:effectLst/>
                        <a:latin typeface="Montserrat" panose="00000500000000000000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D" sz="1200">
                          <a:effectLst/>
                          <a:latin typeface="Montserrat" panose="00000500000000000000" pitchFamily="2" charset="0"/>
                        </a:rPr>
                        <a:t>Sociolla</a:t>
                      </a:r>
                      <a:endParaRPr lang="en-ID" sz="1200">
                        <a:effectLst/>
                        <a:latin typeface="Montserrat" panose="00000500000000000000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D" sz="1200">
                          <a:effectLst/>
                          <a:latin typeface="Montserrat" panose="00000500000000000000" pitchFamily="2" charset="0"/>
                        </a:rPr>
                        <a:t>Nadfaskin</a:t>
                      </a:r>
                      <a:endParaRPr lang="en-ID" sz="1200">
                        <a:effectLst/>
                        <a:latin typeface="Montserrat" panose="00000500000000000000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25099929"/>
                  </a:ext>
                </a:extLst>
              </a:tr>
              <a:tr h="833574">
                <a:tc>
                  <a:txBody>
                    <a:bodyPr/>
                    <a:lstStyle/>
                    <a:p>
                      <a:r>
                        <a:rPr lang="en-ID" sz="1200">
                          <a:effectLst/>
                          <a:latin typeface="Montserrat" panose="00000500000000000000" pitchFamily="2" charset="0"/>
                        </a:rPr>
                        <a:t>Keunggulan</a:t>
                      </a:r>
                      <a:endParaRPr lang="en-ID" sz="1200">
                        <a:effectLst/>
                        <a:latin typeface="Montserrat" panose="00000500000000000000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effectLst/>
                          <a:latin typeface="Montserrat" panose="00000500000000000000" pitchFamily="2" charset="0"/>
                        </a:rPr>
                        <a:t>membersihkan</a:t>
                      </a:r>
                      <a:r>
                        <a:rPr lang="en-US" sz="1100" dirty="0">
                          <a:effectLst/>
                          <a:latin typeface="Montserrat" panose="00000500000000000000" pitchFamily="2" charset="0"/>
                        </a:rPr>
                        <a:t> </a:t>
                      </a:r>
                      <a:r>
                        <a:rPr lang="en-US" sz="1100" dirty="0" err="1">
                          <a:effectLst/>
                          <a:latin typeface="Montserrat" panose="00000500000000000000" pitchFamily="2" charset="0"/>
                        </a:rPr>
                        <a:t>sisa</a:t>
                      </a:r>
                      <a:r>
                        <a:rPr lang="en-US" sz="1100" dirty="0">
                          <a:effectLst/>
                          <a:latin typeface="Montserrat" panose="00000500000000000000" pitchFamily="2" charset="0"/>
                        </a:rPr>
                        <a:t> make up, </a:t>
                      </a:r>
                      <a:r>
                        <a:rPr lang="en-US" sz="1100" dirty="0" err="1">
                          <a:effectLst/>
                          <a:latin typeface="Montserrat" panose="00000500000000000000" pitchFamily="2" charset="0"/>
                        </a:rPr>
                        <a:t>kotoran</a:t>
                      </a:r>
                      <a:r>
                        <a:rPr lang="en-US" sz="1100" dirty="0">
                          <a:effectLst/>
                          <a:latin typeface="Montserrat" panose="00000500000000000000" pitchFamily="2" charset="0"/>
                        </a:rPr>
                        <a:t>, dan </a:t>
                      </a:r>
                      <a:r>
                        <a:rPr lang="en-US" sz="1100" dirty="0" err="1">
                          <a:effectLst/>
                          <a:latin typeface="Montserrat" panose="00000500000000000000" pitchFamily="2" charset="0"/>
                        </a:rPr>
                        <a:t>debu</a:t>
                      </a:r>
                      <a:r>
                        <a:rPr lang="en-US" sz="1100" dirty="0">
                          <a:effectLst/>
                          <a:latin typeface="Montserrat" panose="00000500000000000000" pitchFamily="2" charset="0"/>
                        </a:rPr>
                        <a:t>.</a:t>
                      </a:r>
                      <a:endParaRPr lang="en-ID" sz="1200" dirty="0">
                        <a:effectLst/>
                        <a:latin typeface="Montserrat" panose="00000500000000000000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Montserrat" panose="00000500000000000000" pitchFamily="2" charset="0"/>
                        </a:rPr>
                        <a:t>Sesuai untuk kulit sensitif</a:t>
                      </a:r>
                      <a:endParaRPr lang="en-ID" sz="1200">
                        <a:effectLst/>
                        <a:latin typeface="Montserrat" panose="00000500000000000000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D" sz="1200">
                          <a:effectLst/>
                          <a:latin typeface="Montserrat" panose="00000500000000000000" pitchFamily="2" charset="0"/>
                        </a:rPr>
                        <a:t>Meredahkan Kemerahan wajah</a:t>
                      </a:r>
                      <a:endParaRPr lang="en-ID" sz="1200">
                        <a:effectLst/>
                        <a:latin typeface="Montserrat" panose="00000500000000000000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56834712"/>
                  </a:ext>
                </a:extLst>
              </a:tr>
              <a:tr h="291089">
                <a:tc>
                  <a:txBody>
                    <a:bodyPr/>
                    <a:lstStyle/>
                    <a:p>
                      <a:r>
                        <a:rPr lang="en-ID" sz="1200">
                          <a:effectLst/>
                          <a:latin typeface="Montserrat" panose="00000500000000000000" pitchFamily="2" charset="0"/>
                        </a:rPr>
                        <a:t>Harga</a:t>
                      </a:r>
                      <a:endParaRPr lang="en-ID" sz="1200">
                        <a:effectLst/>
                        <a:latin typeface="Montserrat" panose="00000500000000000000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D" sz="1200">
                          <a:effectLst/>
                          <a:latin typeface="Montserrat" panose="00000500000000000000" pitchFamily="2" charset="0"/>
                        </a:rPr>
                        <a:t>Rp.35.800</a:t>
                      </a:r>
                      <a:endParaRPr lang="en-ID" sz="1200">
                        <a:effectLst/>
                        <a:latin typeface="Montserrat" panose="00000500000000000000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D" sz="1200">
                          <a:effectLst/>
                          <a:latin typeface="Montserrat" panose="00000500000000000000" pitchFamily="2" charset="0"/>
                        </a:rPr>
                        <a:t>Rp.155.000</a:t>
                      </a:r>
                      <a:endParaRPr lang="en-ID" sz="1200">
                        <a:effectLst/>
                        <a:latin typeface="Montserrat" panose="00000500000000000000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D" sz="1200">
                          <a:effectLst/>
                          <a:latin typeface="Montserrat" panose="00000500000000000000" pitchFamily="2" charset="0"/>
                        </a:rPr>
                        <a:t>Rp.50.000-68.500</a:t>
                      </a:r>
                      <a:endParaRPr lang="en-ID" sz="1200">
                        <a:effectLst/>
                        <a:latin typeface="Montserrat" panose="00000500000000000000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20708883"/>
                  </a:ext>
                </a:extLst>
              </a:tr>
              <a:tr h="1825923">
                <a:tc>
                  <a:txBody>
                    <a:bodyPr/>
                    <a:lstStyle/>
                    <a:p>
                      <a:r>
                        <a:rPr lang="en-ID" sz="1200">
                          <a:effectLst/>
                          <a:latin typeface="Montserrat" panose="00000500000000000000" pitchFamily="2" charset="0"/>
                        </a:rPr>
                        <a:t>Review Customer</a:t>
                      </a:r>
                      <a:endParaRPr lang="en-ID" sz="1200">
                        <a:effectLst/>
                        <a:latin typeface="Montserrat" panose="00000500000000000000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D" sz="1200">
                          <a:effectLst/>
                          <a:latin typeface="Montserrat" panose="00000500000000000000" pitchFamily="2" charset="0"/>
                        </a:rPr>
                        <a:t>Produk ini bisa membersihkan sisa make up, dan kotoran dan juga debu</a:t>
                      </a:r>
                      <a:endParaRPr lang="en-ID" sz="1200">
                        <a:effectLst/>
                        <a:latin typeface="Montserrat" panose="00000500000000000000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D" sz="1200">
                          <a:effectLst/>
                          <a:latin typeface="Montserrat" panose="00000500000000000000" pitchFamily="2" charset="0"/>
                        </a:rPr>
                        <a:t>membuat wajah lembab, lembut dan glowing secara langsung setelah diaplikasikan mengurangi komedo</a:t>
                      </a:r>
                      <a:endParaRPr lang="en-ID" sz="1200">
                        <a:effectLst/>
                        <a:latin typeface="Montserrat" panose="00000500000000000000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D" sz="1200" dirty="0">
                          <a:effectLst/>
                          <a:latin typeface="Montserrat" panose="00000500000000000000" pitchFamily="2" charset="0"/>
                        </a:rPr>
                        <a:t>Rata </a:t>
                      </a:r>
                      <a:r>
                        <a:rPr lang="en-ID" sz="1200" dirty="0" err="1">
                          <a:effectLst/>
                          <a:latin typeface="Montserrat" panose="00000500000000000000" pitchFamily="2" charset="0"/>
                        </a:rPr>
                        <a:t>Rata</a:t>
                      </a:r>
                      <a:r>
                        <a:rPr lang="en-ID" sz="1200" dirty="0">
                          <a:effectLst/>
                          <a:latin typeface="Montserrat" panose="00000500000000000000" pitchFamily="2" charset="0"/>
                        </a:rPr>
                        <a:t> review Bintang 5 dan </a:t>
                      </a:r>
                      <a:r>
                        <a:rPr lang="en-ID" sz="1200" dirty="0" err="1">
                          <a:effectLst/>
                          <a:latin typeface="Montserrat" panose="00000500000000000000" pitchFamily="2" charset="0"/>
                        </a:rPr>
                        <a:t>puas</a:t>
                      </a:r>
                      <a:r>
                        <a:rPr lang="en-ID" sz="1200" dirty="0">
                          <a:effectLst/>
                          <a:latin typeface="Montserrat" panose="00000500000000000000" pitchFamily="2" charset="0"/>
                        </a:rPr>
                        <a:t> </a:t>
                      </a:r>
                      <a:r>
                        <a:rPr lang="en-ID" sz="1200" dirty="0" err="1">
                          <a:effectLst/>
                          <a:latin typeface="Montserrat" panose="00000500000000000000" pitchFamily="2" charset="0"/>
                        </a:rPr>
                        <a:t>dengan</a:t>
                      </a:r>
                      <a:r>
                        <a:rPr lang="en-ID" sz="1200" dirty="0">
                          <a:effectLst/>
                          <a:latin typeface="Montserrat" panose="00000500000000000000" pitchFamily="2" charset="0"/>
                        </a:rPr>
                        <a:t> </a:t>
                      </a:r>
                      <a:r>
                        <a:rPr lang="en-ID" sz="1200" dirty="0" err="1">
                          <a:effectLst/>
                          <a:latin typeface="Montserrat" panose="00000500000000000000" pitchFamily="2" charset="0"/>
                        </a:rPr>
                        <a:t>produk</a:t>
                      </a:r>
                      <a:r>
                        <a:rPr lang="en-ID" sz="1200" dirty="0">
                          <a:effectLst/>
                          <a:latin typeface="Montserrat" panose="00000500000000000000" pitchFamily="2" charset="0"/>
                        </a:rPr>
                        <a:t> </a:t>
                      </a:r>
                      <a:r>
                        <a:rPr lang="en-ID" sz="1200" dirty="0" err="1">
                          <a:effectLst/>
                          <a:latin typeface="Montserrat" panose="00000500000000000000" pitchFamily="2" charset="0"/>
                        </a:rPr>
                        <a:t>tersebut</a:t>
                      </a:r>
                      <a:r>
                        <a:rPr lang="en-ID" sz="1200" dirty="0">
                          <a:effectLst/>
                          <a:latin typeface="Montserrat" panose="00000500000000000000" pitchFamily="2" charset="0"/>
                        </a:rPr>
                        <a:t> </a:t>
                      </a:r>
                      <a:r>
                        <a:rPr lang="en-ID" sz="1200" dirty="0" err="1">
                          <a:effectLst/>
                          <a:latin typeface="Montserrat" panose="00000500000000000000" pitchFamily="2" charset="0"/>
                        </a:rPr>
                        <a:t>tetapi</a:t>
                      </a:r>
                      <a:r>
                        <a:rPr lang="en-ID" sz="1200" dirty="0">
                          <a:effectLst/>
                          <a:latin typeface="Montserrat" panose="00000500000000000000" pitchFamily="2" charset="0"/>
                        </a:rPr>
                        <a:t> </a:t>
                      </a:r>
                      <a:r>
                        <a:rPr lang="en-ID" sz="1200" dirty="0" err="1">
                          <a:effectLst/>
                          <a:latin typeface="Montserrat" panose="00000500000000000000" pitchFamily="2" charset="0"/>
                        </a:rPr>
                        <a:t>produk</a:t>
                      </a:r>
                      <a:r>
                        <a:rPr lang="en-ID" sz="1200" dirty="0">
                          <a:effectLst/>
                          <a:latin typeface="Montserrat" panose="00000500000000000000" pitchFamily="2" charset="0"/>
                        </a:rPr>
                        <a:t> yang </a:t>
                      </a:r>
                      <a:r>
                        <a:rPr lang="en-ID" sz="1200" dirty="0" err="1">
                          <a:effectLst/>
                          <a:latin typeface="Montserrat" panose="00000500000000000000" pitchFamily="2" charset="0"/>
                        </a:rPr>
                        <a:t>terjual</a:t>
                      </a:r>
                      <a:r>
                        <a:rPr lang="en-ID" sz="1200" dirty="0">
                          <a:effectLst/>
                          <a:latin typeface="Montserrat" panose="00000500000000000000" pitchFamily="2" charset="0"/>
                        </a:rPr>
                        <a:t> </a:t>
                      </a:r>
                      <a:r>
                        <a:rPr lang="en-ID" sz="1200" dirty="0" err="1">
                          <a:effectLst/>
                          <a:latin typeface="Montserrat" panose="00000500000000000000" pitchFamily="2" charset="0"/>
                        </a:rPr>
                        <a:t>masih</a:t>
                      </a:r>
                      <a:r>
                        <a:rPr lang="en-ID" sz="1200" dirty="0">
                          <a:effectLst/>
                          <a:latin typeface="Montserrat" panose="00000500000000000000" pitchFamily="2" charset="0"/>
                        </a:rPr>
                        <a:t> </a:t>
                      </a:r>
                      <a:r>
                        <a:rPr lang="en-ID" sz="1200" dirty="0" err="1">
                          <a:effectLst/>
                          <a:latin typeface="Montserrat" panose="00000500000000000000" pitchFamily="2" charset="0"/>
                        </a:rPr>
                        <a:t>dikit</a:t>
                      </a:r>
                      <a:endParaRPr lang="en-ID" sz="1200" dirty="0">
                        <a:effectLst/>
                        <a:latin typeface="Montserrat" panose="00000500000000000000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34915246"/>
                  </a:ext>
                </a:extLst>
              </a:tr>
            </a:tbl>
          </a:graphicData>
        </a:graphic>
      </p:graphicFrame>
      <p:sp>
        <p:nvSpPr>
          <p:cNvPr id="11" name="Google Shape;211;p35">
            <a:extLst>
              <a:ext uri="{FF2B5EF4-FFF2-40B4-BE49-F238E27FC236}">
                <a16:creationId xmlns:a16="http://schemas.microsoft.com/office/drawing/2014/main" id="{E6A0B759-6091-75C6-D5EB-B9EC41D6A440}"/>
              </a:ext>
            </a:extLst>
          </p:cNvPr>
          <p:cNvSpPr txBox="1">
            <a:spLocks/>
          </p:cNvSpPr>
          <p:nvPr/>
        </p:nvSpPr>
        <p:spPr>
          <a:xfrm>
            <a:off x="715000" y="198275"/>
            <a:ext cx="7713900" cy="6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200" dirty="0">
                <a:solidFill>
                  <a:schemeClr val="tx1">
                    <a:lumMod val="50000"/>
                  </a:schemeClr>
                </a:solidFill>
                <a:latin typeface="Montserrat" panose="00000500000000000000" pitchFamily="2" charset="0"/>
              </a:rPr>
              <a:t>ANALISIS</a:t>
            </a:r>
            <a:r>
              <a:rPr lang="en-US" sz="3200" dirty="0">
                <a:solidFill>
                  <a:schemeClr val="dk2"/>
                </a:solidFill>
                <a:latin typeface="Montserrat" panose="00000500000000000000" pitchFamily="2" charset="0"/>
              </a:rPr>
              <a:t> KOMPETITOR</a:t>
            </a:r>
            <a:endParaRPr lang="en-ID" sz="3200" dirty="0">
              <a:solidFill>
                <a:schemeClr val="dk2"/>
              </a:solidFill>
              <a:latin typeface="Montserrat" panose="00000500000000000000" pitchFamily="2" charset="0"/>
            </a:endParaRPr>
          </a:p>
        </p:txBody>
      </p:sp>
      <p:cxnSp>
        <p:nvCxnSpPr>
          <p:cNvPr id="12" name="Google Shape;229;p35">
            <a:extLst>
              <a:ext uri="{FF2B5EF4-FFF2-40B4-BE49-F238E27FC236}">
                <a16:creationId xmlns:a16="http://schemas.microsoft.com/office/drawing/2014/main" id="{555635B2-48F5-A1C6-E6D9-8C40A566AD05}"/>
              </a:ext>
            </a:extLst>
          </p:cNvPr>
          <p:cNvCxnSpPr/>
          <p:nvPr/>
        </p:nvCxnSpPr>
        <p:spPr>
          <a:xfrm rot="10800000">
            <a:off x="762700" y="864712"/>
            <a:ext cx="7666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" name="Picture Placeholder 5">
            <a:extLst>
              <a:ext uri="{FF2B5EF4-FFF2-40B4-BE49-F238E27FC236}">
                <a16:creationId xmlns:a16="http://schemas.microsoft.com/office/drawing/2014/main" id="{45EAEBE5-C455-1FF7-4A08-436D383958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99" r="1399"/>
          <a:stretch>
            <a:fillRect/>
          </a:stretch>
        </p:blipFill>
        <p:spPr>
          <a:xfrm>
            <a:off x="0" y="0"/>
            <a:ext cx="816678" cy="8549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1D3CE23-2318-1BAC-4186-346893549E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32397" y="700125"/>
            <a:ext cx="3996578" cy="3743400"/>
          </a:xfrm>
        </p:spPr>
        <p:txBody>
          <a:bodyPr/>
          <a:lstStyle/>
          <a:p>
            <a:pPr algn="l"/>
            <a:r>
              <a:rPr lang="en-US" sz="1400" dirty="0"/>
              <a:t>	</a:t>
            </a:r>
            <a:r>
              <a:rPr lang="en-US" sz="1400" dirty="0" err="1"/>
              <a:t>LeJU</a:t>
            </a:r>
            <a:r>
              <a:rPr lang="en-US" sz="1400" dirty="0"/>
              <a:t> Face Scrub </a:t>
            </a:r>
            <a:r>
              <a:rPr lang="en-US" sz="1400" dirty="0" err="1"/>
              <a:t>memberikan</a:t>
            </a:r>
            <a:r>
              <a:rPr lang="en-US" sz="1400" dirty="0"/>
              <a:t> </a:t>
            </a:r>
            <a:r>
              <a:rPr lang="en-US" sz="1400" dirty="0" err="1"/>
              <a:t>solusi</a:t>
            </a:r>
            <a:r>
              <a:rPr lang="en-US" sz="1400" dirty="0"/>
              <a:t> </a:t>
            </a:r>
            <a:r>
              <a:rPr lang="en-US" sz="1400" dirty="0" err="1"/>
              <a:t>perawatan</a:t>
            </a:r>
            <a:r>
              <a:rPr lang="en-US" sz="1400" dirty="0"/>
              <a:t> </a:t>
            </a:r>
            <a:r>
              <a:rPr lang="en-US" sz="1400" dirty="0" err="1"/>
              <a:t>kulit</a:t>
            </a:r>
            <a:r>
              <a:rPr lang="en-US" sz="1400" dirty="0"/>
              <a:t> yang </a:t>
            </a:r>
            <a:r>
              <a:rPr lang="en-US" sz="1400" dirty="0" err="1"/>
              <a:t>alami</a:t>
            </a:r>
            <a:r>
              <a:rPr lang="en-US" sz="1400" dirty="0"/>
              <a:t> dan </a:t>
            </a:r>
            <a:r>
              <a:rPr lang="en-US" sz="1400" dirty="0" err="1"/>
              <a:t>efektif</a:t>
            </a:r>
            <a:r>
              <a:rPr lang="en-US" sz="1400" dirty="0"/>
              <a:t> </a:t>
            </a:r>
            <a:r>
              <a:rPr lang="en-US" sz="1400" dirty="0" err="1"/>
              <a:t>kepada</a:t>
            </a:r>
            <a:r>
              <a:rPr lang="en-US" sz="1400" dirty="0"/>
              <a:t> </a:t>
            </a:r>
            <a:r>
              <a:rPr lang="en-US" sz="1400" dirty="0" err="1"/>
              <a:t>pelanggan</a:t>
            </a:r>
            <a:r>
              <a:rPr lang="en-US" sz="1400" dirty="0"/>
              <a:t> kami yang </a:t>
            </a:r>
            <a:r>
              <a:rPr lang="en-US" sz="1400" dirty="0" err="1"/>
              <a:t>membuat</a:t>
            </a:r>
            <a:r>
              <a:rPr lang="en-US" sz="1400" dirty="0"/>
              <a:t> </a:t>
            </a:r>
            <a:r>
              <a:rPr lang="en-US" sz="1400" dirty="0" err="1"/>
              <a:t>kulit</a:t>
            </a:r>
            <a:r>
              <a:rPr lang="en-US" sz="1400" dirty="0"/>
              <a:t> </a:t>
            </a:r>
            <a:r>
              <a:rPr lang="en-US" sz="1400" dirty="0" err="1"/>
              <a:t>mereka</a:t>
            </a:r>
            <a:r>
              <a:rPr lang="en-US" sz="1400" dirty="0"/>
              <a:t> </a:t>
            </a:r>
            <a:r>
              <a:rPr lang="en-US" sz="1400" dirty="0" err="1"/>
              <a:t>terasa</a:t>
            </a:r>
            <a:r>
              <a:rPr lang="en-US" sz="1400" dirty="0"/>
              <a:t> </a:t>
            </a:r>
            <a:r>
              <a:rPr lang="en-US" sz="1400" dirty="0" err="1"/>
              <a:t>bersih</a:t>
            </a:r>
            <a:r>
              <a:rPr lang="en-US" sz="1400" dirty="0"/>
              <a:t>, segar, dan </a:t>
            </a:r>
            <a:r>
              <a:rPr lang="en-US" sz="1400" dirty="0" err="1"/>
              <a:t>bercahaya</a:t>
            </a:r>
            <a:r>
              <a:rPr lang="en-US" sz="1400" dirty="0"/>
              <a:t>. Kami </a:t>
            </a:r>
            <a:r>
              <a:rPr lang="en-US" sz="1400" dirty="0" err="1"/>
              <a:t>bertujuan</a:t>
            </a:r>
            <a:r>
              <a:rPr lang="en-US" sz="1400" dirty="0"/>
              <a:t>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menggunakan</a:t>
            </a:r>
            <a:r>
              <a:rPr lang="en-US" sz="1400" dirty="0"/>
              <a:t> </a:t>
            </a:r>
            <a:r>
              <a:rPr lang="en-US" sz="1400" dirty="0" err="1"/>
              <a:t>bahan-bahan</a:t>
            </a:r>
            <a:r>
              <a:rPr lang="en-US" sz="1400" dirty="0"/>
              <a:t> </a:t>
            </a:r>
            <a:r>
              <a:rPr lang="en-US" sz="1400" dirty="0" err="1"/>
              <a:t>berkualitas</a:t>
            </a:r>
            <a:r>
              <a:rPr lang="en-US" sz="1400" dirty="0"/>
              <a:t> </a:t>
            </a:r>
            <a:r>
              <a:rPr lang="en-US" sz="1400" dirty="0" err="1"/>
              <a:t>tinggi</a:t>
            </a:r>
            <a:r>
              <a:rPr lang="en-US" sz="1400" dirty="0"/>
              <a:t>, </a:t>
            </a:r>
            <a:r>
              <a:rPr lang="en-US" sz="1400" dirty="0" err="1"/>
              <a:t>sekaligus</a:t>
            </a:r>
            <a:r>
              <a:rPr lang="en-US" sz="1400" dirty="0"/>
              <a:t> </a:t>
            </a:r>
            <a:r>
              <a:rPr lang="en-US" sz="1400" dirty="0" err="1"/>
              <a:t>sadar</a:t>
            </a:r>
            <a:r>
              <a:rPr lang="en-US" sz="1400" dirty="0"/>
              <a:t> </a:t>
            </a:r>
            <a:r>
              <a:rPr lang="en-US" sz="1400" dirty="0" err="1"/>
              <a:t>lingkungan</a:t>
            </a:r>
            <a:r>
              <a:rPr lang="en-US" sz="1400" dirty="0"/>
              <a:t> </a:t>
            </a:r>
            <a:r>
              <a:rPr lang="en-US" sz="1400" dirty="0" err="1"/>
              <a:t>dalam</a:t>
            </a:r>
            <a:r>
              <a:rPr lang="en-US" sz="1400" dirty="0"/>
              <a:t> </a:t>
            </a:r>
            <a:r>
              <a:rPr lang="en-US" sz="1400" dirty="0" err="1"/>
              <a:t>produksi</a:t>
            </a:r>
            <a:r>
              <a:rPr lang="en-US" sz="1400" dirty="0"/>
              <a:t> dan </a:t>
            </a:r>
            <a:r>
              <a:rPr lang="en-US" sz="1400" dirty="0" err="1"/>
              <a:t>pengemasan</a:t>
            </a:r>
            <a:r>
              <a:rPr lang="en-US" sz="1400" dirty="0"/>
              <a:t> kami. Kami </a:t>
            </a:r>
            <a:r>
              <a:rPr lang="en-US" sz="1400" dirty="0" err="1"/>
              <a:t>berusaha</a:t>
            </a:r>
            <a:r>
              <a:rPr lang="en-US" sz="1400" dirty="0"/>
              <a:t>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membangun</a:t>
            </a:r>
            <a:r>
              <a:rPr lang="en-US" sz="1400" dirty="0"/>
              <a:t> basis </a:t>
            </a:r>
            <a:r>
              <a:rPr lang="en-US" sz="1400" dirty="0" err="1"/>
              <a:t>pelanggan</a:t>
            </a:r>
            <a:r>
              <a:rPr lang="en-US" sz="1400" dirty="0"/>
              <a:t> </a:t>
            </a:r>
            <a:r>
              <a:rPr lang="en-US" sz="1400" dirty="0" err="1"/>
              <a:t>setia</a:t>
            </a:r>
            <a:r>
              <a:rPr lang="en-US" sz="1400" dirty="0"/>
              <a:t> </a:t>
            </a:r>
            <a:r>
              <a:rPr lang="en-US" sz="1400" dirty="0" err="1"/>
              <a:t>melalui</a:t>
            </a:r>
            <a:r>
              <a:rPr lang="en-US" sz="1400" dirty="0"/>
              <a:t> </a:t>
            </a:r>
            <a:r>
              <a:rPr lang="en-US" sz="1400" dirty="0" err="1"/>
              <a:t>komunikasi</a:t>
            </a:r>
            <a:r>
              <a:rPr lang="en-US" sz="1400" dirty="0"/>
              <a:t> yang </a:t>
            </a:r>
            <a:r>
              <a:rPr lang="en-US" sz="1400" dirty="0" err="1"/>
              <a:t>konsisten</a:t>
            </a:r>
            <a:r>
              <a:rPr lang="en-US" sz="1400" dirty="0"/>
              <a:t> dan </a:t>
            </a:r>
            <a:r>
              <a:rPr lang="en-US" sz="1400" dirty="0" err="1"/>
              <a:t>transparan</a:t>
            </a:r>
            <a:r>
              <a:rPr lang="en-US" sz="1400" dirty="0"/>
              <a:t>, dan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secara</a:t>
            </a:r>
            <a:r>
              <a:rPr lang="en-US" sz="1400" dirty="0"/>
              <a:t> </a:t>
            </a:r>
            <a:r>
              <a:rPr lang="en-US" sz="1400" dirty="0" err="1"/>
              <a:t>konsisten</a:t>
            </a:r>
            <a:r>
              <a:rPr lang="en-US" sz="1400" dirty="0"/>
              <a:t> </a:t>
            </a:r>
            <a:r>
              <a:rPr lang="en-US" sz="1400" dirty="0" err="1"/>
              <a:t>berinovasi</a:t>
            </a:r>
            <a:r>
              <a:rPr lang="en-US" sz="1400" dirty="0"/>
              <a:t> dan </a:t>
            </a:r>
            <a:r>
              <a:rPr lang="en-US" sz="1400" dirty="0" err="1"/>
              <a:t>meningkatkan</a:t>
            </a:r>
            <a:r>
              <a:rPr lang="en-US" sz="1400" dirty="0"/>
              <a:t> </a:t>
            </a:r>
            <a:r>
              <a:rPr lang="en-US" sz="1400" dirty="0" err="1"/>
              <a:t>produk</a:t>
            </a:r>
            <a:r>
              <a:rPr lang="en-US" sz="1400" dirty="0"/>
              <a:t> kami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memenuhi</a:t>
            </a:r>
            <a:r>
              <a:rPr lang="en-US" sz="1400" dirty="0"/>
              <a:t> </a:t>
            </a:r>
            <a:r>
              <a:rPr lang="en-US" sz="1400" dirty="0" err="1"/>
              <a:t>kebutuhan</a:t>
            </a:r>
            <a:r>
              <a:rPr lang="en-US" sz="1400" dirty="0"/>
              <a:t> </a:t>
            </a:r>
            <a:r>
              <a:rPr lang="en-US" sz="1400" dirty="0" err="1"/>
              <a:t>pelanggan</a:t>
            </a:r>
            <a:r>
              <a:rPr lang="en-US" sz="1400" dirty="0"/>
              <a:t> kami yang </a:t>
            </a:r>
            <a:r>
              <a:rPr lang="en-US" sz="1400" dirty="0" err="1"/>
              <a:t>terus</a:t>
            </a:r>
            <a:r>
              <a:rPr lang="en-US" sz="1400" dirty="0"/>
              <a:t> </a:t>
            </a:r>
            <a:r>
              <a:rPr lang="en-US" sz="1400" dirty="0" err="1"/>
              <a:t>berkembang</a:t>
            </a:r>
            <a:r>
              <a:rPr lang="en-US" sz="1400" dirty="0"/>
              <a:t>.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3A638B46-2616-971A-CC41-7704B53F6BB6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l="1399" r="139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524606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1938EC6-E07E-0277-6858-4553F365C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050" y="-50628"/>
            <a:ext cx="7713900" cy="613500"/>
          </a:xfrm>
        </p:spPr>
        <p:txBody>
          <a:bodyPr/>
          <a:lstStyle/>
          <a:p>
            <a:r>
              <a:rPr lang="en-US" dirty="0"/>
              <a:t>Alur </a:t>
            </a:r>
            <a:r>
              <a:rPr lang="en-US" dirty="0" err="1"/>
              <a:t>Produksi</a:t>
            </a:r>
            <a:endParaRPr lang="en-US" dirty="0"/>
          </a:p>
        </p:txBody>
      </p:sp>
      <p:pic>
        <p:nvPicPr>
          <p:cNvPr id="2052" name="Picture 4" descr="Tanaman Akar Manis Ternyata Bisa Sembuhkan Diabetes - Wartakotalive.com">
            <a:extLst>
              <a:ext uri="{FF2B5EF4-FFF2-40B4-BE49-F238E27FC236}">
                <a16:creationId xmlns:a16="http://schemas.microsoft.com/office/drawing/2014/main" id="{D248FBC2-E569-4497-A4D3-4D928A9C1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267" y="832982"/>
            <a:ext cx="1925597" cy="1195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0D840B4-1059-8E18-7003-F3264950D2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1468" y="3592488"/>
            <a:ext cx="1925597" cy="1195897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AF962ED8-3C31-FF4A-5317-FBEBE12139C3}"/>
              </a:ext>
            </a:extLst>
          </p:cNvPr>
          <p:cNvSpPr/>
          <p:nvPr/>
        </p:nvSpPr>
        <p:spPr>
          <a:xfrm>
            <a:off x="3224831" y="1305289"/>
            <a:ext cx="1570534" cy="2512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F0C00CEB-3428-372A-17D1-418E32B28BD4}"/>
              </a:ext>
            </a:extLst>
          </p:cNvPr>
          <p:cNvSpPr/>
          <p:nvPr/>
        </p:nvSpPr>
        <p:spPr>
          <a:xfrm>
            <a:off x="5744664" y="2156867"/>
            <a:ext cx="279207" cy="119589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8" name="Picture 10" descr="Mortar + pestle by e1venbeauty on DeviantArt">
            <a:extLst>
              <a:ext uri="{FF2B5EF4-FFF2-40B4-BE49-F238E27FC236}">
                <a16:creationId xmlns:a16="http://schemas.microsoft.com/office/drawing/2014/main" id="{50375F50-B987-646E-5A3A-10C6F99043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1467" y="761921"/>
            <a:ext cx="1925597" cy="1195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Arrow: Left 13">
            <a:extLst>
              <a:ext uri="{FF2B5EF4-FFF2-40B4-BE49-F238E27FC236}">
                <a16:creationId xmlns:a16="http://schemas.microsoft.com/office/drawing/2014/main" id="{3A3146AF-BFB3-8F99-02B4-C8C8AFBA164A}"/>
              </a:ext>
            </a:extLst>
          </p:cNvPr>
          <p:cNvSpPr/>
          <p:nvPr/>
        </p:nvSpPr>
        <p:spPr>
          <a:xfrm>
            <a:off x="3224831" y="3939151"/>
            <a:ext cx="1570534" cy="25128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Placeholder 5">
            <a:extLst>
              <a:ext uri="{FF2B5EF4-FFF2-40B4-BE49-F238E27FC236}">
                <a16:creationId xmlns:a16="http://schemas.microsoft.com/office/drawing/2014/main" id="{488E1433-8AFA-1471-1872-2E98B128937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399" r="1399"/>
          <a:stretch>
            <a:fillRect/>
          </a:stretch>
        </p:blipFill>
        <p:spPr>
          <a:xfrm>
            <a:off x="1336930" y="3159601"/>
            <a:ext cx="1500270" cy="1570535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8037C5E5-3F88-1C16-653E-EAF80446D8EC}"/>
              </a:ext>
            </a:extLst>
          </p:cNvPr>
          <p:cNvSpPr txBox="1">
            <a:spLocks/>
          </p:cNvSpPr>
          <p:nvPr/>
        </p:nvSpPr>
        <p:spPr>
          <a:xfrm>
            <a:off x="1124267" y="2114908"/>
            <a:ext cx="1925597" cy="38398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b="1" dirty="0" err="1"/>
              <a:t>Akar</a:t>
            </a:r>
            <a:r>
              <a:rPr lang="en-US" b="1" dirty="0"/>
              <a:t> Manis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A73DF0-9932-872D-DB1B-DBB32C4D2E48}"/>
              </a:ext>
            </a:extLst>
          </p:cNvPr>
          <p:cNvSpPr txBox="1">
            <a:spLocks/>
          </p:cNvSpPr>
          <p:nvPr/>
        </p:nvSpPr>
        <p:spPr>
          <a:xfrm>
            <a:off x="3022867" y="954902"/>
            <a:ext cx="1925597" cy="38398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b="1" dirty="0" err="1"/>
              <a:t>Dihaluskan</a:t>
            </a:r>
            <a:endParaRPr lang="en-US" b="1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09077AB-60D7-69AB-8D22-D277F0A5C0DE}"/>
              </a:ext>
            </a:extLst>
          </p:cNvPr>
          <p:cNvSpPr txBox="1">
            <a:spLocks/>
          </p:cNvSpPr>
          <p:nvPr/>
        </p:nvSpPr>
        <p:spPr>
          <a:xfrm>
            <a:off x="5884265" y="2498895"/>
            <a:ext cx="1925597" cy="38398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b="1" dirty="0" err="1"/>
              <a:t>Diolah</a:t>
            </a:r>
            <a:r>
              <a:rPr lang="en-US" b="1" dirty="0"/>
              <a:t> </a:t>
            </a:r>
            <a:r>
              <a:rPr lang="en-US" b="1" dirty="0" err="1"/>
              <a:t>lagi</a:t>
            </a:r>
            <a:endParaRPr lang="en-US" b="1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4374A18-A9B9-3466-D04F-ED1186DCEA3C}"/>
              </a:ext>
            </a:extLst>
          </p:cNvPr>
          <p:cNvSpPr txBox="1">
            <a:spLocks/>
          </p:cNvSpPr>
          <p:nvPr/>
        </p:nvSpPr>
        <p:spPr>
          <a:xfrm>
            <a:off x="3140368" y="3550451"/>
            <a:ext cx="1925597" cy="38398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b="1" dirty="0" err="1"/>
              <a:t>Pengemasan</a:t>
            </a:r>
            <a:endParaRPr lang="en-US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CE57F-B690-8F07-F25A-496444E55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268" y="0"/>
            <a:ext cx="7713900" cy="613500"/>
          </a:xfrm>
        </p:spPr>
        <p:txBody>
          <a:bodyPr/>
          <a:lstStyle/>
          <a:p>
            <a:r>
              <a:rPr lang="en-US" dirty="0"/>
              <a:t>Business Model Canvas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374EB8A-1C7F-2801-F828-849BF432B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954" y="613500"/>
            <a:ext cx="7276092" cy="45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634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58"/>
          <p:cNvSpPr txBox="1">
            <a:spLocks noGrp="1"/>
          </p:cNvSpPr>
          <p:nvPr>
            <p:ph type="title"/>
          </p:nvPr>
        </p:nvSpPr>
        <p:spPr>
          <a:xfrm>
            <a:off x="715100" y="563625"/>
            <a:ext cx="7713900" cy="6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OUR</a:t>
            </a:r>
            <a:r>
              <a:rPr lang="en"/>
              <a:t> </a:t>
            </a:r>
            <a:r>
              <a:rPr lang="en">
                <a:solidFill>
                  <a:schemeClr val="dk2"/>
                </a:solidFill>
              </a:rPr>
              <a:t>TEAM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98" name="Google Shape;598;p58"/>
          <p:cNvSpPr txBox="1">
            <a:spLocks noGrp="1"/>
          </p:cNvSpPr>
          <p:nvPr>
            <p:ph type="subTitle" idx="4"/>
          </p:nvPr>
        </p:nvSpPr>
        <p:spPr>
          <a:xfrm>
            <a:off x="2764140" y="3411171"/>
            <a:ext cx="3370635" cy="46535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Montserrat Black" panose="00000A00000000000000" pitchFamily="2" charset="0"/>
              </a:rPr>
              <a:t>Daffa</a:t>
            </a:r>
            <a:r>
              <a:rPr lang="en-US" dirty="0">
                <a:latin typeface="Montserrat Black" panose="00000A00000000000000" pitchFamily="2" charset="0"/>
              </a:rPr>
              <a:t> Abril Putra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Montserrat Black" panose="00000A00000000000000" pitchFamily="2" charset="0"/>
              </a:rPr>
              <a:t>1103223013</a:t>
            </a:r>
          </a:p>
        </p:txBody>
      </p:sp>
      <p:cxnSp>
        <p:nvCxnSpPr>
          <p:cNvPr id="604" name="Google Shape;604;p58"/>
          <p:cNvCxnSpPr/>
          <p:nvPr/>
        </p:nvCxnSpPr>
        <p:spPr>
          <a:xfrm rot="10800000">
            <a:off x="738900" y="1193875"/>
            <a:ext cx="7666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1796B838-7BC5-4CF7-0FE3-9F432E4147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667" b="16667"/>
          <a:stretch>
            <a:fillRect/>
          </a:stretch>
        </p:blipFill>
        <p:spPr>
          <a:xfrm>
            <a:off x="3562850" y="1326724"/>
            <a:ext cx="1704752" cy="170475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3AED64A-DC70-2626-D618-02CDF3D3481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646" b="16646"/>
          <a:stretch>
            <a:fillRect/>
          </a:stretch>
        </p:blipFill>
        <p:spPr>
          <a:xfrm>
            <a:off x="1147649" y="1309973"/>
            <a:ext cx="1704752" cy="1704752"/>
          </a:xfrm>
          <a:prstGeom prst="rect">
            <a:avLst/>
          </a:prstGeom>
        </p:spPr>
      </p:pic>
      <p:sp>
        <p:nvSpPr>
          <p:cNvPr id="18" name="Google Shape;598;p58">
            <a:extLst>
              <a:ext uri="{FF2B5EF4-FFF2-40B4-BE49-F238E27FC236}">
                <a16:creationId xmlns:a16="http://schemas.microsoft.com/office/drawing/2014/main" id="{A38EEC0E-C8DF-12D1-5C6B-FB931A3BF3D2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67670" y="3163888"/>
            <a:ext cx="2819982" cy="71278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Montserrat Black" panose="00000A00000000000000" pitchFamily="2" charset="0"/>
              </a:rPr>
              <a:t>Miftah </a:t>
            </a:r>
            <a:r>
              <a:rPr lang="en-US" dirty="0" err="1">
                <a:latin typeface="Montserrat Black" panose="00000A00000000000000" pitchFamily="2" charset="0"/>
              </a:rPr>
              <a:t>Rijallul</a:t>
            </a:r>
            <a:r>
              <a:rPr lang="en-US" dirty="0">
                <a:latin typeface="Montserrat Black" panose="00000A00000000000000" pitchFamily="2" charset="0"/>
              </a:rPr>
              <a:t> Aziz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Montserrat Black" panose="00000A00000000000000" pitchFamily="2" charset="0"/>
              </a:rPr>
              <a:t>1103223088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093361D-562B-BBB8-3CBD-FFEDD220E8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8051" y="1352682"/>
            <a:ext cx="1704752" cy="1688001"/>
          </a:xfrm>
          <a:prstGeom prst="rect">
            <a:avLst/>
          </a:prstGeom>
        </p:spPr>
      </p:pic>
      <p:sp>
        <p:nvSpPr>
          <p:cNvPr id="23" name="Google Shape;598;p58">
            <a:extLst>
              <a:ext uri="{FF2B5EF4-FFF2-40B4-BE49-F238E27FC236}">
                <a16:creationId xmlns:a16="http://schemas.microsoft.com/office/drawing/2014/main" id="{D9071027-345E-26C6-574C-A7ABCDA1994A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5465459" y="3487847"/>
            <a:ext cx="2844878" cy="71278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Montserrat Black" panose="00000A00000000000000" pitchFamily="2" charset="0"/>
              </a:rPr>
              <a:t>Muhammad </a:t>
            </a:r>
            <a:r>
              <a:rPr lang="en-US" dirty="0" err="1">
                <a:latin typeface="Montserrat Black" panose="00000A00000000000000" pitchFamily="2" charset="0"/>
              </a:rPr>
              <a:t>Ariq</a:t>
            </a:r>
            <a:r>
              <a:rPr lang="en-US" dirty="0">
                <a:latin typeface="Montserrat Black" panose="00000A00000000000000" pitchFamily="2" charset="0"/>
              </a:rPr>
              <a:t> </a:t>
            </a:r>
            <a:r>
              <a:rPr lang="en-US" dirty="0" err="1">
                <a:latin typeface="Montserrat Black" panose="00000A00000000000000" pitchFamily="2" charset="0"/>
              </a:rPr>
              <a:t>Fauzy</a:t>
            </a:r>
            <a:r>
              <a:rPr lang="en-US" dirty="0">
                <a:latin typeface="Montserrat Black" panose="00000A00000000000000" pitchFamily="2" charset="0"/>
              </a:rPr>
              <a:t> </a:t>
            </a:r>
            <a:r>
              <a:rPr lang="en-US" dirty="0" err="1">
                <a:latin typeface="Montserrat Black" panose="00000A00000000000000" pitchFamily="2" charset="0"/>
              </a:rPr>
              <a:t>Shidqi</a:t>
            </a:r>
            <a:endParaRPr lang="en-US" dirty="0">
              <a:latin typeface="Montserrat Black" panose="00000A00000000000000" pitchFamily="2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Montserrat Black" panose="00000A00000000000000" pitchFamily="2" charset="0"/>
              </a:rPr>
              <a:t>1103220217</a:t>
            </a:r>
          </a:p>
        </p:txBody>
      </p:sp>
      <p:sp>
        <p:nvSpPr>
          <p:cNvPr id="24" name="Google Shape;595;p58">
            <a:extLst>
              <a:ext uri="{FF2B5EF4-FFF2-40B4-BE49-F238E27FC236}">
                <a16:creationId xmlns:a16="http://schemas.microsoft.com/office/drawing/2014/main" id="{69F61A62-5525-9E8E-1857-8415127137A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90825" y="3750975"/>
            <a:ext cx="2018400" cy="8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50000"/>
                  </a:schemeClr>
                </a:solidFill>
              </a:rPr>
              <a:t>Pengisi Materi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tx1">
                    <a:lumMod val="50000"/>
                  </a:schemeClr>
                </a:solidFill>
              </a:rPr>
              <a:t>(customer buying journey, competitor)</a:t>
            </a:r>
            <a:endParaRPr sz="1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5" name="Google Shape;595;p58">
            <a:extLst>
              <a:ext uri="{FF2B5EF4-FFF2-40B4-BE49-F238E27FC236}">
                <a16:creationId xmlns:a16="http://schemas.microsoft.com/office/drawing/2014/main" id="{6DD14029-88E8-2C9F-653D-83F1AB5088EE}"/>
              </a:ext>
            </a:extLst>
          </p:cNvPr>
          <p:cNvSpPr txBox="1">
            <a:spLocks/>
          </p:cNvSpPr>
          <p:nvPr/>
        </p:nvSpPr>
        <p:spPr>
          <a:xfrm>
            <a:off x="5821227" y="4070899"/>
            <a:ext cx="2018400" cy="8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ctr"/>
            <a:r>
              <a:rPr lang="en-US" sz="1400" dirty="0" err="1">
                <a:solidFill>
                  <a:schemeClr val="tx1">
                    <a:lumMod val="50000"/>
                  </a:schemeClr>
                </a:solidFill>
              </a:rPr>
              <a:t>Pengisi</a:t>
            </a:r>
            <a:r>
              <a:rPr lang="en-US" sz="14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</a:schemeClr>
                </a:solidFill>
              </a:rPr>
              <a:t>Materi</a:t>
            </a:r>
            <a:endParaRPr lang="en-US" sz="1400" dirty="0">
              <a:solidFill>
                <a:schemeClr val="tx1">
                  <a:lumMod val="50000"/>
                </a:schemeClr>
              </a:solidFill>
            </a:endParaRPr>
          </a:p>
          <a:p>
            <a:pPr marL="0" indent="0" algn="ctr"/>
            <a:r>
              <a:rPr lang="en-US" sz="1400" dirty="0">
                <a:solidFill>
                  <a:schemeClr val="tx1">
                    <a:lumMod val="50000"/>
                  </a:schemeClr>
                </a:solidFill>
              </a:rPr>
              <a:t>(</a:t>
            </a:r>
            <a:r>
              <a:rPr lang="en-US" sz="1400" dirty="0" err="1">
                <a:solidFill>
                  <a:schemeClr val="tx1">
                    <a:lumMod val="50000"/>
                  </a:schemeClr>
                </a:solidFill>
              </a:rPr>
              <a:t>Peluang</a:t>
            </a:r>
            <a:r>
              <a:rPr lang="en-US" sz="1400" dirty="0">
                <a:solidFill>
                  <a:schemeClr val="tx1">
                    <a:lumMod val="50000"/>
                  </a:schemeClr>
                </a:solidFill>
              </a:rPr>
              <a:t> Pasar Dan target Pasar)</a:t>
            </a:r>
          </a:p>
        </p:txBody>
      </p:sp>
      <p:sp>
        <p:nvSpPr>
          <p:cNvPr id="26" name="Google Shape;595;p58">
            <a:extLst>
              <a:ext uri="{FF2B5EF4-FFF2-40B4-BE49-F238E27FC236}">
                <a16:creationId xmlns:a16="http://schemas.microsoft.com/office/drawing/2014/main" id="{08399463-EC7D-7950-8D92-0BE1AC612474}"/>
              </a:ext>
            </a:extLst>
          </p:cNvPr>
          <p:cNvSpPr txBox="1">
            <a:spLocks/>
          </p:cNvSpPr>
          <p:nvPr/>
        </p:nvSpPr>
        <p:spPr>
          <a:xfrm>
            <a:off x="3406026" y="3750975"/>
            <a:ext cx="2018400" cy="8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ctr"/>
            <a:r>
              <a:rPr lang="en-US" sz="1400" dirty="0" err="1">
                <a:solidFill>
                  <a:schemeClr val="tx1">
                    <a:lumMod val="50000"/>
                  </a:schemeClr>
                </a:solidFill>
              </a:rPr>
              <a:t>Pembuat</a:t>
            </a:r>
            <a:r>
              <a:rPr lang="en-US" sz="1400" dirty="0">
                <a:solidFill>
                  <a:schemeClr val="tx1">
                    <a:lumMod val="50000"/>
                  </a:schemeClr>
                </a:solidFill>
              </a:rPr>
              <a:t> PPT</a:t>
            </a:r>
          </a:p>
          <a:p>
            <a:pPr marL="0" indent="0" algn="ctr"/>
            <a:r>
              <a:rPr lang="en-US" sz="1400" dirty="0" err="1">
                <a:solidFill>
                  <a:schemeClr val="tx1">
                    <a:lumMod val="50000"/>
                  </a:schemeClr>
                </a:solidFill>
              </a:rPr>
              <a:t>Pembuat</a:t>
            </a:r>
            <a:r>
              <a:rPr lang="en-US" sz="1400" dirty="0">
                <a:solidFill>
                  <a:schemeClr val="tx1">
                    <a:lumMod val="50000"/>
                  </a:schemeClr>
                </a:solidFill>
              </a:rPr>
              <a:t> Desain Logo</a:t>
            </a:r>
          </a:p>
          <a:p>
            <a:pPr marL="0" indent="0" algn="ctr"/>
            <a:r>
              <a:rPr lang="en-US" sz="1400" dirty="0" err="1">
                <a:solidFill>
                  <a:schemeClr val="tx1">
                    <a:lumMod val="50000"/>
                  </a:schemeClr>
                </a:solidFill>
              </a:rPr>
              <a:t>Pengisi</a:t>
            </a:r>
            <a:r>
              <a:rPr lang="en-US" sz="14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</a:schemeClr>
                </a:solidFill>
              </a:rPr>
              <a:t>Materi</a:t>
            </a:r>
            <a:endParaRPr lang="en-US" sz="1400" dirty="0">
              <a:solidFill>
                <a:schemeClr val="tx1">
                  <a:lumMod val="50000"/>
                </a:schemeClr>
              </a:solidFill>
            </a:endParaRPr>
          </a:p>
          <a:p>
            <a:pPr marL="0" indent="0" algn="ctr"/>
            <a:r>
              <a:rPr lang="en-US" sz="1400" dirty="0">
                <a:solidFill>
                  <a:schemeClr val="tx1">
                    <a:lumMod val="50000"/>
                  </a:schemeClr>
                </a:solidFill>
              </a:rPr>
              <a:t>(Business Model Canvas)</a:t>
            </a:r>
          </a:p>
          <a:p>
            <a:pPr marL="0" indent="0" algn="ctr"/>
            <a:endParaRPr lang="en-US" sz="1400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58"/>
          <p:cNvSpPr txBox="1">
            <a:spLocks noGrp="1"/>
          </p:cNvSpPr>
          <p:nvPr>
            <p:ph type="title"/>
          </p:nvPr>
        </p:nvSpPr>
        <p:spPr>
          <a:xfrm>
            <a:off x="715100" y="563625"/>
            <a:ext cx="7713900" cy="6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OUR</a:t>
            </a:r>
            <a:r>
              <a:rPr lang="en"/>
              <a:t> </a:t>
            </a:r>
            <a:r>
              <a:rPr lang="en">
                <a:solidFill>
                  <a:schemeClr val="dk2"/>
                </a:solidFill>
              </a:rPr>
              <a:t>TEAM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604" name="Google Shape;604;p58"/>
          <p:cNvCxnSpPr/>
          <p:nvPr/>
        </p:nvCxnSpPr>
        <p:spPr>
          <a:xfrm rot="10800000">
            <a:off x="738900" y="1193875"/>
            <a:ext cx="7666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Google Shape;598;p58">
            <a:extLst>
              <a:ext uri="{FF2B5EF4-FFF2-40B4-BE49-F238E27FC236}">
                <a16:creationId xmlns:a16="http://schemas.microsoft.com/office/drawing/2014/main" id="{A38EEC0E-C8DF-12D1-5C6B-FB931A3BF3D2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67669" y="3130385"/>
            <a:ext cx="2819982" cy="71278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Montserrat Black" panose="00000A00000000000000" pitchFamily="2" charset="0"/>
              </a:rPr>
              <a:t>Risky Putra </a:t>
            </a:r>
            <a:r>
              <a:rPr lang="en-US" dirty="0" err="1">
                <a:latin typeface="Montserrat Black" panose="00000A00000000000000" pitchFamily="2" charset="0"/>
              </a:rPr>
              <a:t>Sejati</a:t>
            </a:r>
            <a:endParaRPr lang="en-US" dirty="0">
              <a:latin typeface="Montserrat Black" panose="00000A00000000000000" pitchFamily="2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Montserrat Black" panose="00000A00000000000000" pitchFamily="2" charset="0"/>
              </a:rPr>
              <a:t>1103220132</a:t>
            </a:r>
          </a:p>
        </p:txBody>
      </p:sp>
      <p:sp>
        <p:nvSpPr>
          <p:cNvPr id="23" name="Google Shape;598;p58">
            <a:extLst>
              <a:ext uri="{FF2B5EF4-FFF2-40B4-BE49-F238E27FC236}">
                <a16:creationId xmlns:a16="http://schemas.microsoft.com/office/drawing/2014/main" id="{D9071027-345E-26C6-574C-A7ABCDA1994A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5465458" y="3140681"/>
            <a:ext cx="2844878" cy="71278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Montserrat Black" panose="00000A00000000000000" pitchFamily="2" charset="0"/>
              </a:rPr>
              <a:t>Gita Adi </a:t>
            </a:r>
            <a:r>
              <a:rPr lang="en-US" dirty="0" err="1">
                <a:latin typeface="Montserrat Black" panose="00000A00000000000000" pitchFamily="2" charset="0"/>
              </a:rPr>
              <a:t>Pangestu</a:t>
            </a:r>
            <a:endParaRPr lang="en-US" dirty="0">
              <a:latin typeface="Montserrat Black" panose="00000A00000000000000" pitchFamily="2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Montserrat Black" panose="00000A00000000000000" pitchFamily="2" charset="0"/>
              </a:rPr>
              <a:t>1103223225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0FB8CD4-4599-5C03-2B64-8483F2852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285" y="1293410"/>
            <a:ext cx="1704751" cy="173744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EECCD90-A69F-B232-CABD-36DEEAD259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522" y="1343897"/>
            <a:ext cx="1704751" cy="1720268"/>
          </a:xfrm>
          <a:prstGeom prst="rect">
            <a:avLst/>
          </a:prstGeom>
        </p:spPr>
      </p:pic>
      <p:sp>
        <p:nvSpPr>
          <p:cNvPr id="6" name="Google Shape;595;p58">
            <a:extLst>
              <a:ext uri="{FF2B5EF4-FFF2-40B4-BE49-F238E27FC236}">
                <a16:creationId xmlns:a16="http://schemas.microsoft.com/office/drawing/2014/main" id="{8FAE2333-B42E-B53D-D31D-B4167295F9B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68460" y="3750975"/>
            <a:ext cx="2018400" cy="8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tx1">
                    <a:lumMod val="50000"/>
                  </a:schemeClr>
                </a:solidFill>
              </a:rPr>
              <a:t>Pengisi Materi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tx1">
                    <a:lumMod val="50000"/>
                  </a:schemeClr>
                </a:solidFill>
              </a:rPr>
              <a:t>(Alur </a:t>
            </a:r>
            <a:r>
              <a:rPr lang="en-US" sz="1400" dirty="0" err="1">
                <a:solidFill>
                  <a:schemeClr val="tx1">
                    <a:lumMod val="50000"/>
                  </a:schemeClr>
                </a:solidFill>
              </a:rPr>
              <a:t>Produksi</a:t>
            </a:r>
            <a:r>
              <a:rPr lang="en-US" sz="1400" dirty="0">
                <a:solidFill>
                  <a:schemeClr val="tx1">
                    <a:lumMod val="50000"/>
                  </a:schemeClr>
                </a:solidFill>
              </a:rPr>
              <a:t>, Bio </a:t>
            </a:r>
            <a:r>
              <a:rPr lang="en-US" sz="1400" dirty="0" err="1">
                <a:solidFill>
                  <a:schemeClr val="tx1">
                    <a:lumMod val="50000"/>
                  </a:schemeClr>
                </a:solidFill>
              </a:rPr>
              <a:t>Produksi</a:t>
            </a:r>
            <a:r>
              <a:rPr lang="en-US" sz="1400" dirty="0">
                <a:solidFill>
                  <a:schemeClr val="tx1">
                    <a:lumMod val="50000"/>
                  </a:schemeClr>
                </a:solidFill>
              </a:rPr>
              <a:t>)</a:t>
            </a:r>
            <a:endParaRPr sz="1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" name="Google Shape;595;p58">
            <a:extLst>
              <a:ext uri="{FF2B5EF4-FFF2-40B4-BE49-F238E27FC236}">
                <a16:creationId xmlns:a16="http://schemas.microsoft.com/office/drawing/2014/main" id="{9374DE50-AEFF-F699-B51B-A4E89A321CCD}"/>
              </a:ext>
            </a:extLst>
          </p:cNvPr>
          <p:cNvSpPr txBox="1">
            <a:spLocks/>
          </p:cNvSpPr>
          <p:nvPr/>
        </p:nvSpPr>
        <p:spPr>
          <a:xfrm>
            <a:off x="5878697" y="3750975"/>
            <a:ext cx="2018400" cy="8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ctr"/>
            <a:r>
              <a:rPr lang="en-US" sz="1400" dirty="0" err="1">
                <a:solidFill>
                  <a:schemeClr val="tx1">
                    <a:lumMod val="50000"/>
                  </a:schemeClr>
                </a:solidFill>
              </a:rPr>
              <a:t>Pengisi</a:t>
            </a:r>
            <a:r>
              <a:rPr lang="en-US" sz="14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</a:schemeClr>
                </a:solidFill>
              </a:rPr>
              <a:t>Materi</a:t>
            </a:r>
            <a:endParaRPr lang="en-US" sz="1400" dirty="0">
              <a:solidFill>
                <a:schemeClr val="tx1">
                  <a:lumMod val="50000"/>
                </a:schemeClr>
              </a:solidFill>
            </a:endParaRPr>
          </a:p>
          <a:p>
            <a:pPr marL="0" indent="0" algn="ctr"/>
            <a:r>
              <a:rPr lang="en-US" sz="1400" dirty="0">
                <a:solidFill>
                  <a:schemeClr val="tx1">
                    <a:lumMod val="50000"/>
                  </a:schemeClr>
                </a:solidFill>
              </a:rPr>
              <a:t>(Unique Selling Points, Strategi </a:t>
            </a:r>
            <a:r>
              <a:rPr lang="en-US" sz="1400" dirty="0" err="1">
                <a:solidFill>
                  <a:schemeClr val="tx1">
                    <a:lumMod val="50000"/>
                  </a:schemeClr>
                </a:solidFill>
              </a:rPr>
              <a:t>Pemasaran</a:t>
            </a:r>
            <a:r>
              <a:rPr lang="en-US" sz="1400" dirty="0">
                <a:solidFill>
                  <a:schemeClr val="tx1">
                    <a:lumMod val="50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85536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3"/>
          <p:cNvSpPr txBox="1">
            <a:spLocks noGrp="1"/>
          </p:cNvSpPr>
          <p:nvPr>
            <p:ph type="title"/>
          </p:nvPr>
        </p:nvSpPr>
        <p:spPr>
          <a:xfrm>
            <a:off x="5507398" y="972188"/>
            <a:ext cx="2921400" cy="202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dirty="0">
                <a:solidFill>
                  <a:schemeClr val="dk2"/>
                </a:solidFill>
              </a:rPr>
            </a:br>
            <a:r>
              <a:rPr lang="en" dirty="0">
                <a:solidFill>
                  <a:schemeClr val="dk2"/>
                </a:solidFill>
              </a:rPr>
              <a:t>THANK </a:t>
            </a:r>
            <a:br>
              <a:rPr lang="en" dirty="0">
                <a:solidFill>
                  <a:schemeClr val="dk2"/>
                </a:solidFill>
              </a:rPr>
            </a:br>
            <a:r>
              <a:rPr lang="en" dirty="0">
                <a:solidFill>
                  <a:schemeClr val="dk2"/>
                </a:solidFill>
              </a:rPr>
              <a:t>YOU</a:t>
            </a:r>
            <a:endParaRPr dirty="0">
              <a:solidFill>
                <a:schemeClr val="dk2"/>
              </a:solidFill>
            </a:endParaRPr>
          </a:p>
        </p:txBody>
      </p:sp>
      <p:cxnSp>
        <p:nvCxnSpPr>
          <p:cNvPr id="308" name="Google Shape;308;p43"/>
          <p:cNvCxnSpPr/>
          <p:nvPr/>
        </p:nvCxnSpPr>
        <p:spPr>
          <a:xfrm rot="10800000">
            <a:off x="5507500" y="637725"/>
            <a:ext cx="2921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9" name="Google Shape;309;p43"/>
          <p:cNvCxnSpPr/>
          <p:nvPr/>
        </p:nvCxnSpPr>
        <p:spPr>
          <a:xfrm rot="10800000">
            <a:off x="5507500" y="3335850"/>
            <a:ext cx="2921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10" name="Google Shape;310;p43"/>
          <p:cNvPicPr preferRelativeResize="0"/>
          <p:nvPr/>
        </p:nvPicPr>
        <p:blipFill>
          <a:blip r:embed="rId4">
            <a:alphaModFix amt="6000"/>
          </a:blip>
          <a:stretch>
            <a:fillRect/>
          </a:stretch>
        </p:blipFill>
        <p:spPr>
          <a:xfrm flipH="1">
            <a:off x="-331423" y="-316375"/>
            <a:ext cx="3572849" cy="360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 Fragrance Development Project Proposal by Slidesgo">
  <a:themeElements>
    <a:clrScheme name="Simple Light">
      <a:dk1>
        <a:srgbClr val="4D4D48"/>
      </a:dk1>
      <a:lt1>
        <a:srgbClr val="FFFCF3"/>
      </a:lt1>
      <a:dk2>
        <a:srgbClr val="849667"/>
      </a:dk2>
      <a:lt2>
        <a:srgbClr val="E4EED5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D4D4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</TotalTime>
  <Words>585</Words>
  <Application>Microsoft Office PowerPoint</Application>
  <PresentationFormat>On-screen Show (16:9)</PresentationFormat>
  <Paragraphs>109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Raleway SemiBold</vt:lpstr>
      <vt:lpstr>Montserrat</vt:lpstr>
      <vt:lpstr>Montserrat Black</vt:lpstr>
      <vt:lpstr>Niagara Solid</vt:lpstr>
      <vt:lpstr>Arial</vt:lpstr>
      <vt:lpstr>Fira Sans Extra Condensed Medium</vt:lpstr>
      <vt:lpstr> Fragrance Development Project Proposal by Slidesgo</vt:lpstr>
      <vt:lpstr>LeJU  FACE SCRUB</vt:lpstr>
      <vt:lpstr>PowerPoint Presentation</vt:lpstr>
      <vt:lpstr>Peluang Pasar</vt:lpstr>
      <vt:lpstr>Target Pasar</vt:lpstr>
      <vt:lpstr>Unique Selling Points</vt:lpstr>
      <vt:lpstr>Strategi Pemasaran</vt:lpstr>
      <vt:lpstr>PowerPoint Presentation</vt:lpstr>
      <vt:lpstr>PowerPoint Presentation</vt:lpstr>
      <vt:lpstr>PowerPoint Presentation</vt:lpstr>
      <vt:lpstr>Alur Produksi</vt:lpstr>
      <vt:lpstr>Business Model Canvas</vt:lpstr>
      <vt:lpstr>OUR TEAM</vt:lpstr>
      <vt:lpstr>OUR TEAM</vt:lpstr>
      <vt:lpstr> THANK 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LICORICE  FACE SCRUB</dc:title>
  <cp:lastModifiedBy>DAFFA ABRIL PUTRA</cp:lastModifiedBy>
  <cp:revision>5</cp:revision>
  <dcterms:modified xsi:type="dcterms:W3CDTF">2023-01-12T04:42:29Z</dcterms:modified>
</cp:coreProperties>
</file>