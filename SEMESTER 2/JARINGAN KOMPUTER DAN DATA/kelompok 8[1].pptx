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7" r:id="rId2"/>
    <p:sldId id="258" r:id="rId3"/>
    <p:sldId id="259" r:id="rId4"/>
    <p:sldId id="264" r:id="rId5"/>
    <p:sldId id="260" r:id="rId6"/>
    <p:sldId id="265" r:id="rId7"/>
    <p:sldId id="273" r:id="rId8"/>
    <p:sldId id="263" r:id="rId9"/>
    <p:sldId id="270" r:id="rId10"/>
    <p:sldId id="274" r:id="rId11"/>
    <p:sldId id="275" r:id="rId12"/>
    <p:sldId id="276" r:id="rId13"/>
    <p:sldId id="277" r:id="rId14"/>
    <p:sldId id="28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06" d="100"/>
          <a:sy n="106" d="100"/>
        </p:scale>
        <p:origin x="174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19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5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97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4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4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1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267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4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69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9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96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97EB772-C5BE-401C-B7CF-D74E95675711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EE6FFAD-015A-41BD-9ED3-AEB3792DCB2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33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8">
            <a:extLst>
              <a:ext uri="{FF2B5EF4-FFF2-40B4-BE49-F238E27FC236}">
                <a16:creationId xmlns:a16="http://schemas.microsoft.com/office/drawing/2014/main" id="{CB65F1FB-88AD-4C33-8456-49272EFD3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D4CFFEC7-E77E-419D-B1B5-335DA4C74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9" y="321731"/>
            <a:ext cx="529373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259" y="974875"/>
            <a:ext cx="4370425" cy="48523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cs typeface="Times New Roman" pitchFamily="18" charset="0"/>
              </a:rPr>
              <a:t>Kelompok 8 :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FFFFFF"/>
                </a:solidFill>
                <a:cs typeface="Times New Roman" pitchFamily="18" charset="0"/>
              </a:rPr>
              <a:t>Miftah </a:t>
            </a:r>
            <a:r>
              <a:rPr lang="en-US" dirty="0" err="1">
                <a:solidFill>
                  <a:srgbClr val="FFFFFF"/>
                </a:solidFill>
                <a:cs typeface="Times New Roman" pitchFamily="18" charset="0"/>
              </a:rPr>
              <a:t>Rijallul</a:t>
            </a:r>
            <a:r>
              <a:rPr lang="en-US" dirty="0">
                <a:solidFill>
                  <a:srgbClr val="FFFFFF"/>
                </a:solidFill>
                <a:cs typeface="Times New Roman" pitchFamily="18" charset="0"/>
              </a:rPr>
              <a:t> Aziz</a:t>
            </a: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FFFFFF"/>
                </a:solidFill>
                <a:cs typeface="Times New Roman" pitchFamily="18" charset="0"/>
              </a:rPr>
              <a:t>Dwi</a:t>
            </a:r>
            <a:r>
              <a:rPr lang="en-US" dirty="0">
                <a:solidFill>
                  <a:srgbClr val="FFFFFF"/>
                </a:solidFill>
                <a:cs typeface="Times New Roman" pitchFamily="18" charset="0"/>
              </a:rPr>
              <a:t> Agus Cahyo Ilahi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FFFFFF"/>
                </a:solidFill>
                <a:cs typeface="Times New Roman" pitchFamily="18" charset="0"/>
              </a:rPr>
              <a:t>Ariski Myardi</a:t>
            </a: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FFFFFF"/>
                </a:solidFill>
                <a:cs typeface="Times New Roman" pitchFamily="18" charset="0"/>
              </a:rPr>
              <a:t>Pratyenggo</a:t>
            </a:r>
            <a:r>
              <a:rPr lang="en-US" dirty="0">
                <a:solidFill>
                  <a:srgbClr val="FFFFFF"/>
                </a:solidFill>
                <a:cs typeface="Times New Roman" pitchFamily="18" charset="0"/>
              </a:rPr>
              <a:t> Damar</a:t>
            </a: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FFFFFF"/>
                </a:solidFill>
                <a:cs typeface="Times New Roman" pitchFamily="18" charset="0"/>
              </a:rPr>
              <a:t>Dymas</a:t>
            </a:r>
            <a:r>
              <a:rPr lang="en-US" dirty="0">
                <a:solidFill>
                  <a:srgbClr val="FFFFFF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cs typeface="Times New Roman" pitchFamily="18" charset="0"/>
              </a:rPr>
              <a:t>Satrio</a:t>
            </a:r>
            <a:r>
              <a:rPr lang="en-US" dirty="0">
                <a:solidFill>
                  <a:srgbClr val="FFFFFF"/>
                </a:solidFill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FFFF"/>
                </a:solidFill>
                <a:cs typeface="Times New Roman" pitchFamily="18" charset="0"/>
              </a:rPr>
              <a:t>Danendra</a:t>
            </a:r>
            <a:endParaRPr lang="en-US" dirty="0">
              <a:solidFill>
                <a:srgbClr val="FFFFFF"/>
              </a:solidFill>
              <a:cs typeface="Times New Roman" pitchFamily="18" charset="0"/>
            </a:endParaRPr>
          </a:p>
          <a:p>
            <a:pPr marL="514350" indent="-514350">
              <a:buAutoNum type="arabicPeriod"/>
            </a:pPr>
            <a:endParaRPr lang="en-US" dirty="0">
              <a:solidFill>
                <a:srgbClr val="FFFFFF"/>
              </a:solidFill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cs typeface="Times New Roman" pitchFamily="18" charset="0"/>
              </a:rPr>
              <a:t>Class : TK-46-04 </a:t>
            </a:r>
          </a:p>
        </p:txBody>
      </p:sp>
      <p:sp>
        <p:nvSpPr>
          <p:cNvPr id="45" name="Rectangle 12">
            <a:extLst>
              <a:ext uri="{FF2B5EF4-FFF2-40B4-BE49-F238E27FC236}">
                <a16:creationId xmlns:a16="http://schemas.microsoft.com/office/drawing/2014/main" id="{C575C10F-5FA1-48E0-9E3A-852A33AFD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1" y="321732"/>
            <a:ext cx="3251710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1990" y="965200"/>
            <a:ext cx="2502885" cy="4815596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Bookman Old Style" panose="02050604050505020204" pitchFamily="18" charset="0"/>
                <a:cs typeface="Times New Roman" pitchFamily="18" charset="0"/>
              </a:rPr>
              <a:t>Data Link Layer</a:t>
            </a:r>
          </a:p>
        </p:txBody>
      </p:sp>
      <p:sp>
        <p:nvSpPr>
          <p:cNvPr id="4" name="AutoShape 2" descr="Hasil gambar untuk background mikroti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92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ttps://player.slideplayer.info/12/3751222/data/images/im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824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Gambar terka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0" y="-1221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48304"/>
            <a:ext cx="7997825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Pengertian</a:t>
            </a: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66018"/>
            <a:ext cx="4724400" cy="477758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Lapisan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 Link (Data Link Layer)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lapisan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kedua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bawah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model OSI, yang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konversi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frame – frame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berisi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 yang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dikirimkan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menjadi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bit – bit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mentah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agar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di proses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lapisan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fisik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Lapisan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transmisi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antara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perangkat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perangkat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saling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berdekatan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sebuah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WAN,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antara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node di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sebuah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segmen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LAN yang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sama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Lapisan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bertanggungjawab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membuat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frame, flow control,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koreksi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kesalahan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pentransmisian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ulang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terhadap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frame yang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dianggap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gagal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953000" y="1166019"/>
            <a:ext cx="4191000" cy="363458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AutoShape 2" descr="Gambar terk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Gambar terkait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Hasil gambar untuk osi lay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86" name="Picture 14" descr="Hasil gambar untuk osi lay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0" y="991942"/>
            <a:ext cx="4191000" cy="571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210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1447"/>
            <a:ext cx="7290054" cy="1499616"/>
          </a:xfrm>
        </p:spPr>
        <p:txBody>
          <a:bodyPr/>
          <a:lstStyle/>
          <a:p>
            <a:r>
              <a:rPr lang="en-US" dirty="0"/>
              <a:t>\Tugas-Tugas data link layer</a:t>
            </a:r>
          </a:p>
        </p:txBody>
      </p:sp>
      <p:sp>
        <p:nvSpPr>
          <p:cNvPr id="5" name="AutoShape 2" descr="Hasil gambar untuk flow control pada data link lay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Hasil gambar untuk flow control pada data link lay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BD59F6-FDFF-9FC9-D317-7C9D098CDB6C}"/>
              </a:ext>
            </a:extLst>
          </p:cNvPr>
          <p:cNvCxnSpPr>
            <a:cxnSpLocks/>
          </p:cNvCxnSpPr>
          <p:nvPr/>
        </p:nvCxnSpPr>
        <p:spPr>
          <a:xfrm>
            <a:off x="2743200" y="3898435"/>
            <a:ext cx="1905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DFCCFB-46B7-A3EC-C299-6FB2B511C13C}"/>
              </a:ext>
            </a:extLst>
          </p:cNvPr>
          <p:cNvCxnSpPr>
            <a:cxnSpLocks/>
          </p:cNvCxnSpPr>
          <p:nvPr/>
        </p:nvCxnSpPr>
        <p:spPr>
          <a:xfrm>
            <a:off x="3352800" y="2084832"/>
            <a:ext cx="0" cy="40111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56AAC7-932B-E726-F1BD-FDA5A50DCF04}"/>
              </a:ext>
            </a:extLst>
          </p:cNvPr>
          <p:cNvCxnSpPr>
            <a:cxnSpLocks/>
          </p:cNvCxnSpPr>
          <p:nvPr/>
        </p:nvCxnSpPr>
        <p:spPr>
          <a:xfrm>
            <a:off x="3352800" y="2084832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4B0A02-F949-FF0B-8CCD-01A438EA1900}"/>
              </a:ext>
            </a:extLst>
          </p:cNvPr>
          <p:cNvCxnSpPr>
            <a:cxnSpLocks/>
          </p:cNvCxnSpPr>
          <p:nvPr/>
        </p:nvCxnSpPr>
        <p:spPr>
          <a:xfrm>
            <a:off x="3352800" y="6096000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B28578-4C3A-E8CF-CB90-F5CC38D9420F}"/>
              </a:ext>
            </a:extLst>
          </p:cNvPr>
          <p:cNvCxnSpPr>
            <a:cxnSpLocks/>
          </p:cNvCxnSpPr>
          <p:nvPr/>
        </p:nvCxnSpPr>
        <p:spPr>
          <a:xfrm>
            <a:off x="3352800" y="4953000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BDD4FD6-96A3-C351-91AB-499B84EBBCD4}"/>
              </a:ext>
            </a:extLst>
          </p:cNvPr>
          <p:cNvCxnSpPr>
            <a:cxnSpLocks/>
          </p:cNvCxnSpPr>
          <p:nvPr/>
        </p:nvCxnSpPr>
        <p:spPr>
          <a:xfrm>
            <a:off x="3352800" y="2971800"/>
            <a:ext cx="129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C2C955A-960C-DED0-F798-3B678966134E}"/>
              </a:ext>
            </a:extLst>
          </p:cNvPr>
          <p:cNvSpPr/>
          <p:nvPr/>
        </p:nvSpPr>
        <p:spPr>
          <a:xfrm>
            <a:off x="4724399" y="1738064"/>
            <a:ext cx="1981197" cy="6935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FRAMING	</a:t>
            </a:r>
            <a:endParaRPr lang="en-ID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6E56317-FFBB-23E3-C5E8-3C965BBF63F8}"/>
              </a:ext>
            </a:extLst>
          </p:cNvPr>
          <p:cNvSpPr/>
          <p:nvPr/>
        </p:nvSpPr>
        <p:spPr>
          <a:xfrm>
            <a:off x="4750525" y="2625032"/>
            <a:ext cx="1981197" cy="6935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ADDRESSING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47BEBA9-7EF4-982B-3663-D0D054C9D77D}"/>
              </a:ext>
            </a:extLst>
          </p:cNvPr>
          <p:cNvSpPr/>
          <p:nvPr/>
        </p:nvSpPr>
        <p:spPr>
          <a:xfrm>
            <a:off x="4750525" y="3551667"/>
            <a:ext cx="1981197" cy="6935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ERROR CONTROL</a:t>
            </a:r>
            <a:endParaRPr lang="en-ID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1FE0D83-DBF5-6F3C-4E26-3D989227F204}"/>
              </a:ext>
            </a:extLst>
          </p:cNvPr>
          <p:cNvSpPr/>
          <p:nvPr/>
        </p:nvSpPr>
        <p:spPr>
          <a:xfrm>
            <a:off x="4754879" y="4606232"/>
            <a:ext cx="1981197" cy="6935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 CONTROL</a:t>
            </a:r>
            <a:endParaRPr lang="en-ID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1D6833B-EE9B-2951-6744-785233C24329}"/>
              </a:ext>
            </a:extLst>
          </p:cNvPr>
          <p:cNvSpPr/>
          <p:nvPr/>
        </p:nvSpPr>
        <p:spPr>
          <a:xfrm>
            <a:off x="4750525" y="5749232"/>
            <a:ext cx="1981197" cy="6935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 CONTROL</a:t>
            </a:r>
            <a:endParaRPr lang="en-ID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445DD5C-94C2-FE86-2CC0-FE180D1D296B}"/>
              </a:ext>
            </a:extLst>
          </p:cNvPr>
          <p:cNvSpPr/>
          <p:nvPr/>
        </p:nvSpPr>
        <p:spPr>
          <a:xfrm>
            <a:off x="678186" y="3315955"/>
            <a:ext cx="2084608" cy="11063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 Duties of Data Link Layer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1238500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asil gambar untuk background untuk powerpoint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Frame &amp;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Frame : Output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protokol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berbeda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setiap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layer.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Framing 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Sebuah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mekanisme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membedakan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antara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satu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frame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frame yang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lainnya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Contoh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Frame : Data Link Layer PDU (Protocol Data Unit)</a:t>
            </a:r>
          </a:p>
        </p:txBody>
      </p:sp>
    </p:spTree>
    <p:extLst>
      <p:ext uri="{BB962C8B-B14F-4D97-AF65-F5344CB8AC3E}">
        <p14:creationId xmlns:p14="http://schemas.microsoft.com/office/powerpoint/2010/main" val="4160301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asil gambar untuk background untuk powerpoint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29005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Data link layer </a:t>
            </a:r>
            <a:r>
              <a:rPr lang="en-US" sz="2400" dirty="0" err="1"/>
              <a:t>bertugas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pengalamatan</a:t>
            </a:r>
            <a:r>
              <a:rPr lang="en-US" sz="2400" dirty="0"/>
              <a:t> (Addressing), </a:t>
            </a:r>
            <a:r>
              <a:rPr lang="en-US" sz="2400" dirty="0" err="1"/>
              <a:t>tujuannya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identifikasi</a:t>
            </a:r>
            <a:r>
              <a:rPr lang="en-US" sz="2400" dirty="0"/>
              <a:t> </a:t>
            </a:r>
            <a:r>
              <a:rPr lang="en-US" sz="2400" dirty="0" err="1"/>
              <a:t>mesin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local </a:t>
            </a:r>
            <a:r>
              <a:rPr lang="en-US" sz="2400" dirty="0" err="1"/>
              <a:t>ares</a:t>
            </a:r>
            <a:r>
              <a:rPr lang="en-US" sz="2400" dirty="0"/>
              <a:t> network (LAN).</a:t>
            </a:r>
          </a:p>
          <a:p>
            <a:pPr marL="0" indent="0">
              <a:buNone/>
            </a:pPr>
            <a:endParaRPr lang="en-US" sz="2400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itchFamily="18" charset="0"/>
              </a:rPr>
              <a:t>Ada 3 </a:t>
            </a:r>
            <a:r>
              <a:rPr lang="en-US" sz="2400" dirty="0" err="1">
                <a:cs typeface="Times New Roman" pitchFamily="18" charset="0"/>
              </a:rPr>
              <a:t>macam</a:t>
            </a:r>
            <a:r>
              <a:rPr lang="en-US" sz="2400" dirty="0">
                <a:cs typeface="Times New Roman" pitchFamily="18" charset="0"/>
              </a:rPr>
              <a:t> Addressing :</a:t>
            </a:r>
          </a:p>
          <a:p>
            <a:pPr marL="457200" indent="-457200">
              <a:buAutoNum type="arabicPeriod"/>
            </a:pPr>
            <a:r>
              <a:rPr lang="en-US" sz="2400" dirty="0">
                <a:cs typeface="Times New Roman" pitchFamily="18" charset="0"/>
              </a:rPr>
              <a:t>Ethernet Address</a:t>
            </a:r>
          </a:p>
          <a:p>
            <a:pPr marL="457200" indent="-457200">
              <a:buAutoNum type="arabicPeriod"/>
            </a:pPr>
            <a:r>
              <a:rPr lang="en-US" sz="2400" dirty="0">
                <a:cs typeface="Times New Roman" pitchFamily="18" charset="0"/>
              </a:rPr>
              <a:t>Unicast &amp; Multicast</a:t>
            </a:r>
          </a:p>
          <a:p>
            <a:pPr marL="457200" indent="-457200">
              <a:buAutoNum type="arabicPeriod"/>
            </a:pPr>
            <a:r>
              <a:rPr lang="en-US" sz="2400" dirty="0">
                <a:cs typeface="Times New Roman" pitchFamily="18" charset="0"/>
              </a:rPr>
              <a:t>Broadcast</a:t>
            </a:r>
          </a:p>
        </p:txBody>
      </p:sp>
    </p:spTree>
    <p:extLst>
      <p:ext uri="{BB962C8B-B14F-4D97-AF65-F5344CB8AC3E}">
        <p14:creationId xmlns:p14="http://schemas.microsoft.com/office/powerpoint/2010/main" val="1985220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asil gambar untuk background untuk powerpoint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Error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bisa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mengalami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kerusakan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(error)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saat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proses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pengiriman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 error control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bertujuan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menangani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bila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ada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kerusakan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14338" name="Picture 2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44958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101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asil gambar untuk background untuk powerpoint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Flow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Flow control :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Mengatur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aliran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pengiriman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data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 sender 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ke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 receiver, flow control 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bertujuan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agar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penerima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tidak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dibanjiri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data.</a:t>
            </a:r>
          </a:p>
          <a:p>
            <a:pPr marL="0" indent="0"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7170" name="Picture 2" descr="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612" y="1600200"/>
            <a:ext cx="4075472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533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asil gambar untuk background untuk powerpoint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Media access control 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menangani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terhadap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media/link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menghindari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collison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tabrakan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medium.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648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asil gambar untuk background untuk powerpoint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2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beroperasi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Data-link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4582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1. NIC (Network Interface Card)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 descr="Hasil gambar untuk nic (network interface card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32335"/>
            <a:ext cx="7315200" cy="409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691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asil gambar untuk background untuk powerpoint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" y="-35607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988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beroperasi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Data-link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 MAC Address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 descr="Hasil gambar untuk Mac addre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24375"/>
            <a:ext cx="7924800" cy="427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809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asil gambar untuk background untuk powerpoint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793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beroperasi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Data-link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4582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3. Switch Layer 2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 descr="Hasil gambar untuk Switch layer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08637"/>
            <a:ext cx="8534400" cy="464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454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asil gambar untuk background untuk powerpoint 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70" y="12922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59" y="90443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alat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beroperasi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Data-link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659" y="1143000"/>
            <a:ext cx="8536141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4. Bridge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Hasil gambar untuk bridge data lin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asil gambar untuk bridge data lin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Hasil gambar untuk bridge data link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488" name="Picture 8" descr="Gambar terka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063" y="2125662"/>
            <a:ext cx="6717874" cy="353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67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229600" cy="1143000"/>
          </a:xfrm>
        </p:spPr>
        <p:txBody>
          <a:bodyPr>
            <a:normAutofit/>
          </a:bodyPr>
          <a:lstStyle/>
          <a:p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Hasil gambar untuk bridge data lin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asil gambar untuk bridge data lin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Hasil gambar untuk bridge data link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578" name="Picture 2" descr="Hasil gambar untuk background sekian dan terima kasi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778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667</TotalTime>
  <Words>335</Words>
  <Application>Microsoft Office PowerPoint</Application>
  <PresentationFormat>On-screen Show (4:3)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Bookman Old Style</vt:lpstr>
      <vt:lpstr>Times New Roman</vt:lpstr>
      <vt:lpstr>Tw Cen MT</vt:lpstr>
      <vt:lpstr>Tw Cen MT Condensed</vt:lpstr>
      <vt:lpstr>Wingdings 3</vt:lpstr>
      <vt:lpstr>Integral</vt:lpstr>
      <vt:lpstr>Data Link Layer</vt:lpstr>
      <vt:lpstr>PowerPoint Presentation</vt:lpstr>
      <vt:lpstr>Pengertian Data Link Layer</vt:lpstr>
      <vt:lpstr>\Tugas-Tugas data link layer</vt:lpstr>
      <vt:lpstr>Frame &amp; Framing</vt:lpstr>
      <vt:lpstr>Addressing</vt:lpstr>
      <vt:lpstr>Error Control</vt:lpstr>
      <vt:lpstr>Flow Control</vt:lpstr>
      <vt:lpstr>Access Control</vt:lpstr>
      <vt:lpstr>Alat – alat yang beroperasi pada Data-link</vt:lpstr>
      <vt:lpstr>Alat – alat yang beroperasi pada Data-link</vt:lpstr>
      <vt:lpstr>Alat – alat yang beroperasi pada Data-link</vt:lpstr>
      <vt:lpstr>Alat – alat yang beroperasi pada Data-link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Patriciaa</dc:creator>
  <cp:lastModifiedBy>Ariski Myardi</cp:lastModifiedBy>
  <cp:revision>19</cp:revision>
  <dcterms:created xsi:type="dcterms:W3CDTF">2019-01-07T12:03:08Z</dcterms:created>
  <dcterms:modified xsi:type="dcterms:W3CDTF">2023-03-15T15:32:47Z</dcterms:modified>
</cp:coreProperties>
</file>