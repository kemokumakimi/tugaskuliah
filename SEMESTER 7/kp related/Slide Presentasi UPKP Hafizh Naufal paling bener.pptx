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rgbClr val="12110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2110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2110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2110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2110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12110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492" y="679379"/>
            <a:ext cx="11014710" cy="1664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rgbClr val="12110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5308" y="2777399"/>
            <a:ext cx="9645015" cy="5709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2110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24.jpg"/><Relationship Id="rId7" Type="http://schemas.openxmlformats.org/officeDocument/2006/relationships/image" Target="../media/image2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444" y="189105"/>
              <a:ext cx="4210049" cy="9524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53083" y="387732"/>
              <a:ext cx="3600449" cy="56197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3506670" y="8949086"/>
            <a:ext cx="4262120" cy="65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0">
                <a:latin typeface="Tahoma"/>
                <a:cs typeface="Tahoma"/>
              </a:rPr>
              <a:t>Pembimbing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Lapangan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95" b="1">
                <a:latin typeface="Trebuchet MS"/>
                <a:cs typeface="Trebuchet MS"/>
              </a:rPr>
              <a:t>Dr.</a:t>
            </a:r>
            <a:r>
              <a:rPr dirty="0" sz="2400" spc="-110" b="1">
                <a:latin typeface="Trebuchet MS"/>
                <a:cs typeface="Trebuchet MS"/>
              </a:rPr>
              <a:t> </a:t>
            </a:r>
            <a:r>
              <a:rPr dirty="0" sz="2400" spc="130" b="1">
                <a:latin typeface="Trebuchet MS"/>
                <a:cs typeface="Trebuchet MS"/>
              </a:rPr>
              <a:t>Marisa</a:t>
            </a:r>
            <a:r>
              <a:rPr dirty="0" sz="2400" spc="-110" b="1">
                <a:latin typeface="Trebuchet MS"/>
                <a:cs typeface="Trebuchet MS"/>
              </a:rPr>
              <a:t> </a:t>
            </a:r>
            <a:r>
              <a:rPr dirty="0" sz="2400" spc="45" b="1">
                <a:latin typeface="Trebuchet MS"/>
                <a:cs typeface="Trebuchet MS"/>
              </a:rPr>
              <a:t>Paryasto,</a:t>
            </a:r>
            <a:r>
              <a:rPr dirty="0" sz="2400" spc="-110" b="1">
                <a:latin typeface="Trebuchet MS"/>
                <a:cs typeface="Trebuchet MS"/>
              </a:rPr>
              <a:t> </a:t>
            </a:r>
            <a:r>
              <a:rPr dirty="0" sz="2400" spc="-180" b="1">
                <a:latin typeface="Trebuchet MS"/>
                <a:cs typeface="Trebuchet MS"/>
              </a:rPr>
              <a:t>S.T.,</a:t>
            </a:r>
            <a:r>
              <a:rPr dirty="0" sz="2400" spc="-110" b="1">
                <a:latin typeface="Trebuchet MS"/>
                <a:cs typeface="Trebuchet MS"/>
              </a:rPr>
              <a:t> </a:t>
            </a:r>
            <a:r>
              <a:rPr dirty="0" sz="2400" spc="-25" b="1">
                <a:latin typeface="Trebuchet MS"/>
                <a:cs typeface="Trebuchet MS"/>
              </a:rPr>
              <a:t>M.T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4049" y="8047737"/>
            <a:ext cx="3674110" cy="1551305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4000" spc="114" b="1">
                <a:latin typeface="Tahoma"/>
                <a:cs typeface="Tahoma"/>
              </a:rPr>
              <a:t>Hafizh</a:t>
            </a:r>
            <a:r>
              <a:rPr dirty="0" sz="4000" spc="10" b="1">
                <a:latin typeface="Tahoma"/>
                <a:cs typeface="Tahoma"/>
              </a:rPr>
              <a:t> </a:t>
            </a:r>
            <a:r>
              <a:rPr dirty="0" sz="4000" spc="95" b="1">
                <a:latin typeface="Tahoma"/>
                <a:cs typeface="Tahoma"/>
              </a:rPr>
              <a:t>Naufal</a:t>
            </a:r>
            <a:endParaRPr sz="4000">
              <a:latin typeface="Tahoma"/>
              <a:cs typeface="Tahoma"/>
            </a:endParaRPr>
          </a:p>
          <a:p>
            <a:pPr marL="12700" marR="1790700">
              <a:lnSpc>
                <a:spcPct val="125000"/>
              </a:lnSpc>
              <a:spcBef>
                <a:spcPts val="190"/>
              </a:spcBef>
            </a:pPr>
            <a:r>
              <a:rPr dirty="0" sz="1800">
                <a:latin typeface="Tahoma"/>
                <a:cs typeface="Tahoma"/>
              </a:rPr>
              <a:t>NIM.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1103223161 </a:t>
            </a:r>
            <a:r>
              <a:rPr dirty="0" sz="1800" spc="125">
                <a:latin typeface="Tahoma"/>
                <a:cs typeface="Tahoma"/>
              </a:rPr>
              <a:t>TK46-</a:t>
            </a:r>
            <a:r>
              <a:rPr dirty="0" sz="1800" spc="160">
                <a:latin typeface="Tahoma"/>
                <a:cs typeface="Tahoma"/>
              </a:rPr>
              <a:t>04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90429" y="8904318"/>
            <a:ext cx="5636895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70"/>
              </a:lnSpc>
              <a:spcBef>
                <a:spcPts val="100"/>
              </a:spcBef>
            </a:pPr>
            <a:r>
              <a:rPr dirty="0" sz="1600" spc="60">
                <a:latin typeface="Tahoma"/>
                <a:cs typeface="Tahoma"/>
              </a:rPr>
              <a:t>Pembimbing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 spc="70">
                <a:latin typeface="Tahoma"/>
                <a:cs typeface="Tahoma"/>
              </a:rPr>
              <a:t>Akademik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ts val="2835"/>
              </a:lnSpc>
            </a:pPr>
            <a:r>
              <a:rPr dirty="0" sz="2400" spc="60" b="1">
                <a:latin typeface="Trebuchet MS"/>
                <a:cs typeface="Trebuchet MS"/>
              </a:rPr>
              <a:t>Faisal</a:t>
            </a:r>
            <a:r>
              <a:rPr dirty="0" sz="2400" spc="-35" b="1">
                <a:latin typeface="Trebuchet MS"/>
                <a:cs typeface="Trebuchet MS"/>
              </a:rPr>
              <a:t> </a:t>
            </a:r>
            <a:r>
              <a:rPr dirty="0" sz="2400" spc="130" b="1">
                <a:latin typeface="Trebuchet MS"/>
                <a:cs typeface="Trebuchet MS"/>
              </a:rPr>
              <a:t>Candrasyah</a:t>
            </a:r>
            <a:r>
              <a:rPr dirty="0" sz="2400" spc="-3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Hasibuan,</a:t>
            </a:r>
            <a:r>
              <a:rPr dirty="0" sz="2400" spc="-35" b="1">
                <a:latin typeface="Trebuchet MS"/>
                <a:cs typeface="Trebuchet MS"/>
              </a:rPr>
              <a:t> </a:t>
            </a:r>
            <a:r>
              <a:rPr dirty="0" sz="2400" spc="-180" b="1">
                <a:latin typeface="Trebuchet MS"/>
                <a:cs typeface="Trebuchet MS"/>
              </a:rPr>
              <a:t>S.T.,</a:t>
            </a:r>
            <a:r>
              <a:rPr dirty="0" sz="2400" spc="-30" b="1">
                <a:latin typeface="Trebuchet MS"/>
                <a:cs typeface="Trebuchet MS"/>
              </a:rPr>
              <a:t> </a:t>
            </a:r>
            <a:r>
              <a:rPr dirty="0" sz="2400" spc="-20" b="1">
                <a:latin typeface="Trebuchet MS"/>
                <a:cs typeface="Trebuchet MS"/>
              </a:rPr>
              <a:t>M.T.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69115" y="2305810"/>
            <a:ext cx="10949940" cy="4572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3815">
              <a:lnSpc>
                <a:spcPct val="100000"/>
              </a:lnSpc>
              <a:spcBef>
                <a:spcPts val="100"/>
              </a:spcBef>
            </a:pPr>
            <a:r>
              <a:rPr dirty="0" sz="1800" spc="80">
                <a:latin typeface="Tahoma"/>
                <a:cs typeface="Tahoma"/>
              </a:rPr>
              <a:t>Practical</a:t>
            </a:r>
            <a:r>
              <a:rPr dirty="0" sz="1800" spc="-155">
                <a:latin typeface="Tahoma"/>
                <a:cs typeface="Tahoma"/>
              </a:rPr>
              <a:t> </a:t>
            </a:r>
            <a:r>
              <a:rPr dirty="0" sz="1800" spc="100">
                <a:latin typeface="Tahoma"/>
                <a:cs typeface="Tahoma"/>
              </a:rPr>
              <a:t>Work</a:t>
            </a:r>
            <a:r>
              <a:rPr dirty="0" sz="1800" spc="-15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at</a:t>
            </a:r>
            <a:r>
              <a:rPr dirty="0" sz="1800" spc="-15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PT</a:t>
            </a:r>
            <a:r>
              <a:rPr dirty="0" sz="1800" spc="254">
                <a:latin typeface="Tahoma"/>
                <a:cs typeface="Tahoma"/>
              </a:rPr>
              <a:t> </a:t>
            </a:r>
            <a:r>
              <a:rPr dirty="0" sz="1800" spc="130">
                <a:latin typeface="Tahoma"/>
                <a:cs typeface="Tahoma"/>
              </a:rPr>
              <a:t>PROCODECG</a:t>
            </a:r>
            <a:endParaRPr sz="1800">
              <a:latin typeface="Tahoma"/>
              <a:cs typeface="Tahoma"/>
            </a:endParaRPr>
          </a:p>
          <a:p>
            <a:pPr algn="ctr" marL="12700" marR="5080">
              <a:lnSpc>
                <a:spcPts val="7950"/>
              </a:lnSpc>
              <a:spcBef>
                <a:spcPts val="1835"/>
              </a:spcBef>
            </a:pPr>
            <a:r>
              <a:rPr dirty="0" sz="8000" spc="490">
                <a:latin typeface="Tahoma"/>
                <a:cs typeface="Tahoma"/>
              </a:rPr>
              <a:t>Alur</a:t>
            </a:r>
            <a:r>
              <a:rPr dirty="0" sz="8000" spc="145">
                <a:latin typeface="Tahoma"/>
                <a:cs typeface="Tahoma"/>
              </a:rPr>
              <a:t> </a:t>
            </a:r>
            <a:r>
              <a:rPr dirty="0" sz="8000" spc="530">
                <a:latin typeface="Tahoma"/>
                <a:cs typeface="Tahoma"/>
              </a:rPr>
              <a:t>Kerja</a:t>
            </a:r>
            <a:r>
              <a:rPr dirty="0" sz="8000" spc="150">
                <a:latin typeface="Tahoma"/>
                <a:cs typeface="Tahoma"/>
              </a:rPr>
              <a:t> </a:t>
            </a:r>
            <a:r>
              <a:rPr dirty="0" sz="8000" spc="710">
                <a:latin typeface="Tahoma"/>
                <a:cs typeface="Tahoma"/>
              </a:rPr>
              <a:t>dan </a:t>
            </a:r>
            <a:r>
              <a:rPr dirty="0" sz="8000" spc="515">
                <a:latin typeface="Tahoma"/>
                <a:cs typeface="Tahoma"/>
              </a:rPr>
              <a:t>Pengujian</a:t>
            </a:r>
            <a:r>
              <a:rPr dirty="0" sz="8000" spc="135">
                <a:latin typeface="Tahoma"/>
                <a:cs typeface="Tahoma"/>
              </a:rPr>
              <a:t> </a:t>
            </a:r>
            <a:r>
              <a:rPr dirty="0" sz="8000" spc="575">
                <a:latin typeface="Tahoma"/>
                <a:cs typeface="Tahoma"/>
              </a:rPr>
              <a:t>Fungsional </a:t>
            </a:r>
            <a:r>
              <a:rPr dirty="0" sz="8000" spc="590">
                <a:latin typeface="Tahoma"/>
                <a:cs typeface="Tahoma"/>
              </a:rPr>
              <a:t>Aplikasi</a:t>
            </a:r>
            <a:r>
              <a:rPr dirty="0" sz="8000" spc="155">
                <a:latin typeface="Tahoma"/>
                <a:cs typeface="Tahoma"/>
              </a:rPr>
              <a:t> </a:t>
            </a:r>
            <a:r>
              <a:rPr dirty="0" sz="8000" spc="940">
                <a:latin typeface="Tahoma"/>
                <a:cs typeface="Tahoma"/>
              </a:rPr>
              <a:t>Smart </a:t>
            </a:r>
            <a:r>
              <a:rPr dirty="0" sz="8000" spc="745">
                <a:latin typeface="Tahoma"/>
                <a:cs typeface="Tahoma"/>
              </a:rPr>
              <a:t>Expense</a:t>
            </a:r>
            <a:r>
              <a:rPr dirty="0" sz="8000" spc="155">
                <a:latin typeface="Tahoma"/>
                <a:cs typeface="Tahoma"/>
              </a:rPr>
              <a:t> </a:t>
            </a:r>
            <a:r>
              <a:rPr dirty="0" sz="8000" spc="715">
                <a:latin typeface="Tahoma"/>
                <a:cs typeface="Tahoma"/>
              </a:rPr>
              <a:t>Tracker</a:t>
            </a:r>
            <a:endParaRPr sz="8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CC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541553" y="4557444"/>
            <a:ext cx="0" cy="806450"/>
          </a:xfrm>
          <a:custGeom>
            <a:avLst/>
            <a:gdLst/>
            <a:ahLst/>
            <a:cxnLst/>
            <a:rect l="l" t="t" r="r" b="b"/>
            <a:pathLst>
              <a:path w="0" h="806450">
                <a:moveTo>
                  <a:pt x="0" y="0"/>
                </a:moveTo>
                <a:lnTo>
                  <a:pt x="0" y="806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155981" y="4557444"/>
            <a:ext cx="0" cy="806450"/>
          </a:xfrm>
          <a:custGeom>
            <a:avLst/>
            <a:gdLst/>
            <a:ahLst/>
            <a:cxnLst/>
            <a:rect l="l" t="t" r="r" b="b"/>
            <a:pathLst>
              <a:path w="0" h="806450">
                <a:moveTo>
                  <a:pt x="0" y="0"/>
                </a:moveTo>
                <a:lnTo>
                  <a:pt x="0" y="806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911336" y="4557444"/>
            <a:ext cx="0" cy="806450"/>
          </a:xfrm>
          <a:custGeom>
            <a:avLst/>
            <a:gdLst/>
            <a:ahLst/>
            <a:cxnLst/>
            <a:rect l="l" t="t" r="r" b="b"/>
            <a:pathLst>
              <a:path w="0" h="806450">
                <a:moveTo>
                  <a:pt x="0" y="0"/>
                </a:moveTo>
                <a:lnTo>
                  <a:pt x="0" y="806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706898" y="5994655"/>
            <a:ext cx="0" cy="806450"/>
          </a:xfrm>
          <a:custGeom>
            <a:avLst/>
            <a:gdLst/>
            <a:ahLst/>
            <a:cxnLst/>
            <a:rect l="l" t="t" r="r" b="b"/>
            <a:pathLst>
              <a:path w="0" h="806450">
                <a:moveTo>
                  <a:pt x="0" y="0"/>
                </a:moveTo>
                <a:lnTo>
                  <a:pt x="0" y="806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707084" y="6032121"/>
            <a:ext cx="0" cy="806450"/>
          </a:xfrm>
          <a:custGeom>
            <a:avLst/>
            <a:gdLst/>
            <a:ahLst/>
            <a:cxnLst/>
            <a:rect l="l" t="t" r="r" b="b"/>
            <a:pathLst>
              <a:path w="0" h="806450">
                <a:moveTo>
                  <a:pt x="0" y="0"/>
                </a:moveTo>
                <a:lnTo>
                  <a:pt x="0" y="806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750475" y="920685"/>
            <a:ext cx="991235" cy="913130"/>
          </a:xfrm>
          <a:custGeom>
            <a:avLst/>
            <a:gdLst/>
            <a:ahLst/>
            <a:cxnLst/>
            <a:rect l="l" t="t" r="r" b="b"/>
            <a:pathLst>
              <a:path w="991234" h="913130">
                <a:moveTo>
                  <a:pt x="990727" y="456438"/>
                </a:moveTo>
                <a:lnTo>
                  <a:pt x="615746" y="0"/>
                </a:lnTo>
                <a:lnTo>
                  <a:pt x="440334" y="141947"/>
                </a:lnTo>
                <a:lnTo>
                  <a:pt x="606437" y="344131"/>
                </a:lnTo>
                <a:lnTo>
                  <a:pt x="0" y="344131"/>
                </a:lnTo>
                <a:lnTo>
                  <a:pt x="0" y="568744"/>
                </a:lnTo>
                <a:lnTo>
                  <a:pt x="606450" y="568744"/>
                </a:lnTo>
                <a:lnTo>
                  <a:pt x="440334" y="770953"/>
                </a:lnTo>
                <a:lnTo>
                  <a:pt x="615746" y="912901"/>
                </a:lnTo>
                <a:lnTo>
                  <a:pt x="990727" y="456438"/>
                </a:lnTo>
                <a:close/>
              </a:path>
            </a:pathLst>
          </a:custGeom>
          <a:solidFill>
            <a:srgbClr val="2E4F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015112" y="2504554"/>
            <a:ext cx="425767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225"/>
              <a:t>Konten</a:t>
            </a:r>
            <a:endParaRPr sz="8800"/>
          </a:p>
        </p:txBody>
      </p:sp>
      <p:sp>
        <p:nvSpPr>
          <p:cNvPr id="10" name="object 10" descr=""/>
          <p:cNvSpPr txBox="1"/>
          <p:nvPr/>
        </p:nvSpPr>
        <p:spPr>
          <a:xfrm>
            <a:off x="2832893" y="4757419"/>
            <a:ext cx="2369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10">
                <a:solidFill>
                  <a:srgbClr val="12110F"/>
                </a:solidFill>
                <a:latin typeface="Tahoma"/>
                <a:cs typeface="Tahoma"/>
              </a:rPr>
              <a:t>Latar</a:t>
            </a:r>
            <a:r>
              <a:rPr dirty="0" sz="2400" spc="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175">
                <a:solidFill>
                  <a:srgbClr val="12110F"/>
                </a:solidFill>
                <a:latin typeface="Tahoma"/>
                <a:cs typeface="Tahoma"/>
              </a:rPr>
              <a:t>Belakang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80992" y="4576444"/>
            <a:ext cx="7042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40" b="1">
                <a:solidFill>
                  <a:srgbClr val="12110F"/>
                </a:solidFill>
                <a:latin typeface="Tahoma"/>
                <a:cs typeface="Tahoma"/>
              </a:rPr>
              <a:t>01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952456" y="4757453"/>
            <a:ext cx="2653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95">
                <a:solidFill>
                  <a:srgbClr val="12110F"/>
                </a:solidFill>
                <a:latin typeface="Tahoma"/>
                <a:cs typeface="Tahoma"/>
              </a:rPr>
              <a:t>Metodologi</a:t>
            </a:r>
            <a:r>
              <a:rPr dirty="0" sz="2400" spc="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145">
                <a:solidFill>
                  <a:srgbClr val="12110F"/>
                </a:solidFill>
                <a:latin typeface="Tahoma"/>
                <a:cs typeface="Tahoma"/>
              </a:rPr>
              <a:t>Kerja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351907" y="4576444"/>
            <a:ext cx="88391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280" b="1">
                <a:solidFill>
                  <a:srgbClr val="12110F"/>
                </a:solidFill>
                <a:latin typeface="Tahoma"/>
                <a:cs typeface="Tahoma"/>
              </a:rPr>
              <a:t>02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78373" y="4537075"/>
            <a:ext cx="2830195" cy="6959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180">
                <a:solidFill>
                  <a:srgbClr val="12110F"/>
                </a:solidFill>
                <a:latin typeface="Tahoma"/>
                <a:cs typeface="Tahoma"/>
              </a:rPr>
              <a:t>Hasil</a:t>
            </a:r>
            <a:r>
              <a:rPr dirty="0" sz="2400" spc="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290">
                <a:solidFill>
                  <a:srgbClr val="12110F"/>
                </a:solidFill>
                <a:latin typeface="Tahoma"/>
                <a:cs typeface="Tahoma"/>
              </a:rPr>
              <a:t>&amp;</a:t>
            </a:r>
            <a:r>
              <a:rPr dirty="0" sz="2400" spc="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185">
                <a:solidFill>
                  <a:srgbClr val="12110F"/>
                </a:solidFill>
                <a:latin typeface="Tahoma"/>
                <a:cs typeface="Tahoma"/>
              </a:rPr>
              <a:t>Kontribusi </a:t>
            </a:r>
            <a:r>
              <a:rPr dirty="0" sz="2400" spc="250">
                <a:solidFill>
                  <a:srgbClr val="12110F"/>
                </a:solidFill>
                <a:latin typeface="Tahoma"/>
                <a:cs typeface="Tahoma"/>
              </a:rPr>
              <a:t>Utama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41565" y="4576478"/>
            <a:ext cx="8972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325" b="1">
                <a:solidFill>
                  <a:srgbClr val="12110F"/>
                </a:solidFill>
                <a:latin typeface="Tahoma"/>
                <a:cs typeface="Tahoma"/>
              </a:rPr>
              <a:t>03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73719" y="6065519"/>
            <a:ext cx="2051050" cy="6959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204">
                <a:solidFill>
                  <a:srgbClr val="12110F"/>
                </a:solidFill>
                <a:latin typeface="Tahoma"/>
                <a:cs typeface="Tahoma"/>
              </a:rPr>
              <a:t>Tantangan</a:t>
            </a:r>
            <a:r>
              <a:rPr dirty="0" sz="2400" spc="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240">
                <a:solidFill>
                  <a:srgbClr val="12110F"/>
                </a:solidFill>
                <a:latin typeface="Tahoma"/>
                <a:cs typeface="Tahoma"/>
              </a:rPr>
              <a:t>&amp; </a:t>
            </a:r>
            <a:r>
              <a:rPr dirty="0" sz="2400" spc="190">
                <a:solidFill>
                  <a:srgbClr val="12110F"/>
                </a:solidFill>
                <a:latin typeface="Tahoma"/>
                <a:cs typeface="Tahoma"/>
              </a:rPr>
              <a:t>Solusi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893224" y="6013656"/>
            <a:ext cx="8909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295" b="1">
                <a:solidFill>
                  <a:srgbClr val="12110F"/>
                </a:solidFill>
                <a:latin typeface="Tahoma"/>
                <a:cs typeface="Tahoma"/>
              </a:rPr>
              <a:t>04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31300" y="6126479"/>
            <a:ext cx="2187575" cy="6959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210">
                <a:solidFill>
                  <a:srgbClr val="12110F"/>
                </a:solidFill>
                <a:latin typeface="Tahoma"/>
                <a:cs typeface="Tahoma"/>
              </a:rPr>
              <a:t>Kesimpulan</a:t>
            </a:r>
            <a:r>
              <a:rPr dirty="0" sz="2400" spc="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400" spc="240">
                <a:solidFill>
                  <a:srgbClr val="12110F"/>
                </a:solidFill>
                <a:latin typeface="Tahoma"/>
                <a:cs typeface="Tahoma"/>
              </a:rPr>
              <a:t>&amp; </a:t>
            </a:r>
            <a:r>
              <a:rPr dirty="0" sz="2400" spc="225">
                <a:solidFill>
                  <a:srgbClr val="12110F"/>
                </a:solidFill>
                <a:latin typeface="Tahoma"/>
                <a:cs typeface="Tahoma"/>
              </a:rPr>
              <a:t>Saran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845263" y="6067425"/>
            <a:ext cx="8928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310" b="1">
                <a:solidFill>
                  <a:srgbClr val="12110F"/>
                </a:solidFill>
                <a:latin typeface="Tahoma"/>
                <a:cs typeface="Tahoma"/>
              </a:rPr>
              <a:t>05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091" y="9062215"/>
            <a:ext cx="3600449" cy="561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287419" y="2298131"/>
            <a:ext cx="5143500" cy="3189605"/>
            <a:chOff x="12287419" y="2298131"/>
            <a:chExt cx="5143500" cy="3189605"/>
          </a:xfrm>
        </p:grpSpPr>
        <p:sp>
          <p:nvSpPr>
            <p:cNvPr id="3" name="object 3" descr=""/>
            <p:cNvSpPr/>
            <p:nvPr/>
          </p:nvSpPr>
          <p:spPr>
            <a:xfrm>
              <a:off x="13090881" y="2298140"/>
              <a:ext cx="4163695" cy="2466340"/>
            </a:xfrm>
            <a:custGeom>
              <a:avLst/>
              <a:gdLst/>
              <a:ahLst/>
              <a:cxnLst/>
              <a:rect l="l" t="t" r="r" b="b"/>
              <a:pathLst>
                <a:path w="4163694" h="2466340">
                  <a:moveTo>
                    <a:pt x="4163212" y="190246"/>
                  </a:moveTo>
                  <a:lnTo>
                    <a:pt x="4159326" y="152031"/>
                  </a:lnTo>
                  <a:lnTo>
                    <a:pt x="4152493" y="130136"/>
                  </a:lnTo>
                  <a:lnTo>
                    <a:pt x="4152493" y="190246"/>
                  </a:lnTo>
                  <a:lnTo>
                    <a:pt x="4152493" y="2007616"/>
                  </a:lnTo>
                  <a:lnTo>
                    <a:pt x="10718" y="2007616"/>
                  </a:lnTo>
                  <a:lnTo>
                    <a:pt x="10718" y="190246"/>
                  </a:lnTo>
                  <a:lnTo>
                    <a:pt x="24904" y="120535"/>
                  </a:lnTo>
                  <a:lnTo>
                    <a:pt x="63461" y="63461"/>
                  </a:lnTo>
                  <a:lnTo>
                    <a:pt x="120548" y="24879"/>
                  </a:lnTo>
                  <a:lnTo>
                    <a:pt x="190258" y="10718"/>
                  </a:lnTo>
                  <a:lnTo>
                    <a:pt x="3972953" y="10718"/>
                  </a:lnTo>
                  <a:lnTo>
                    <a:pt x="4042664" y="24879"/>
                  </a:lnTo>
                  <a:lnTo>
                    <a:pt x="4099750" y="63461"/>
                  </a:lnTo>
                  <a:lnTo>
                    <a:pt x="4138333" y="120535"/>
                  </a:lnTo>
                  <a:lnTo>
                    <a:pt x="4152493" y="190246"/>
                  </a:lnTo>
                  <a:lnTo>
                    <a:pt x="4152493" y="130136"/>
                  </a:lnTo>
                  <a:lnTo>
                    <a:pt x="4130611" y="84061"/>
                  </a:lnTo>
                  <a:lnTo>
                    <a:pt x="4079151" y="32600"/>
                  </a:lnTo>
                  <a:lnTo>
                    <a:pt x="4033088" y="10718"/>
                  </a:lnTo>
                  <a:lnTo>
                    <a:pt x="4011180" y="3873"/>
                  </a:lnTo>
                  <a:lnTo>
                    <a:pt x="3972953" y="0"/>
                  </a:lnTo>
                  <a:lnTo>
                    <a:pt x="190258" y="0"/>
                  </a:lnTo>
                  <a:lnTo>
                    <a:pt x="152044" y="3873"/>
                  </a:lnTo>
                  <a:lnTo>
                    <a:pt x="84074" y="32600"/>
                  </a:lnTo>
                  <a:lnTo>
                    <a:pt x="32613" y="84061"/>
                  </a:lnTo>
                  <a:lnTo>
                    <a:pt x="3886" y="152031"/>
                  </a:lnTo>
                  <a:lnTo>
                    <a:pt x="0" y="190246"/>
                  </a:lnTo>
                  <a:lnTo>
                    <a:pt x="0" y="2275916"/>
                  </a:lnTo>
                  <a:lnTo>
                    <a:pt x="3886" y="2314130"/>
                  </a:lnTo>
                  <a:lnTo>
                    <a:pt x="32600" y="2382101"/>
                  </a:lnTo>
                  <a:lnTo>
                    <a:pt x="84074" y="2433574"/>
                  </a:lnTo>
                  <a:lnTo>
                    <a:pt x="152044" y="2462288"/>
                  </a:lnTo>
                  <a:lnTo>
                    <a:pt x="190258" y="2466175"/>
                  </a:lnTo>
                  <a:lnTo>
                    <a:pt x="3972953" y="2466175"/>
                  </a:lnTo>
                  <a:lnTo>
                    <a:pt x="4011180" y="2462288"/>
                  </a:lnTo>
                  <a:lnTo>
                    <a:pt x="4079151" y="2433574"/>
                  </a:lnTo>
                  <a:lnTo>
                    <a:pt x="4130611" y="2382101"/>
                  </a:lnTo>
                  <a:lnTo>
                    <a:pt x="4159326" y="2314130"/>
                  </a:lnTo>
                  <a:lnTo>
                    <a:pt x="4163212" y="2275916"/>
                  </a:lnTo>
                  <a:lnTo>
                    <a:pt x="4163212" y="190246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455787" y="3913743"/>
              <a:ext cx="246379" cy="246379"/>
            </a:xfrm>
            <a:custGeom>
              <a:avLst/>
              <a:gdLst/>
              <a:ahLst/>
              <a:cxnLst/>
              <a:rect l="l" t="t" r="r" b="b"/>
              <a:pathLst>
                <a:path w="246380" h="246379">
                  <a:moveTo>
                    <a:pt x="246230" y="246230"/>
                  </a:moveTo>
                  <a:lnTo>
                    <a:pt x="0" y="246230"/>
                  </a:lnTo>
                  <a:lnTo>
                    <a:pt x="0" y="0"/>
                  </a:lnTo>
                  <a:lnTo>
                    <a:pt x="246230" y="0"/>
                  </a:lnTo>
                  <a:lnTo>
                    <a:pt x="246230" y="246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450428" y="3908383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4550" y="256950"/>
                  </a:moveTo>
                  <a:lnTo>
                    <a:pt x="2399" y="256950"/>
                  </a:lnTo>
                  <a:lnTo>
                    <a:pt x="0" y="254550"/>
                  </a:lnTo>
                  <a:lnTo>
                    <a:pt x="0" y="2399"/>
                  </a:lnTo>
                  <a:lnTo>
                    <a:pt x="2399" y="0"/>
                  </a:lnTo>
                  <a:lnTo>
                    <a:pt x="254550" y="0"/>
                  </a:lnTo>
                  <a:lnTo>
                    <a:pt x="256950" y="2399"/>
                  </a:lnTo>
                  <a:lnTo>
                    <a:pt x="256950" y="10719"/>
                  </a:lnTo>
                  <a:lnTo>
                    <a:pt x="10719" y="10719"/>
                  </a:lnTo>
                  <a:lnTo>
                    <a:pt x="10719" y="246230"/>
                  </a:lnTo>
                  <a:lnTo>
                    <a:pt x="256950" y="246230"/>
                  </a:lnTo>
                  <a:lnTo>
                    <a:pt x="256950" y="254550"/>
                  </a:lnTo>
                  <a:lnTo>
                    <a:pt x="254550" y="256950"/>
                  </a:lnTo>
                  <a:close/>
                </a:path>
                <a:path w="257175" h="257175">
                  <a:moveTo>
                    <a:pt x="256950" y="246230"/>
                  </a:moveTo>
                  <a:lnTo>
                    <a:pt x="246230" y="246230"/>
                  </a:lnTo>
                  <a:lnTo>
                    <a:pt x="246230" y="10719"/>
                  </a:lnTo>
                  <a:lnTo>
                    <a:pt x="256950" y="10719"/>
                  </a:lnTo>
                  <a:lnTo>
                    <a:pt x="256950" y="246230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94581" y="3889751"/>
              <a:ext cx="245979" cy="18603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834669" y="3908386"/>
              <a:ext cx="706755" cy="170815"/>
            </a:xfrm>
            <a:custGeom>
              <a:avLst/>
              <a:gdLst/>
              <a:ahLst/>
              <a:cxnLst/>
              <a:rect l="l" t="t" r="r" b="b"/>
              <a:pathLst>
                <a:path w="706755" h="170814">
                  <a:moveTo>
                    <a:pt x="343725" y="2400"/>
                  </a:moveTo>
                  <a:lnTo>
                    <a:pt x="341325" y="0"/>
                  </a:lnTo>
                  <a:lnTo>
                    <a:pt x="2400" y="0"/>
                  </a:lnTo>
                  <a:lnTo>
                    <a:pt x="0" y="2400"/>
                  </a:lnTo>
                  <a:lnTo>
                    <a:pt x="0" y="55702"/>
                  </a:lnTo>
                  <a:lnTo>
                    <a:pt x="2400" y="58102"/>
                  </a:lnTo>
                  <a:lnTo>
                    <a:pt x="341325" y="58102"/>
                  </a:lnTo>
                  <a:lnTo>
                    <a:pt x="343725" y="55702"/>
                  </a:lnTo>
                  <a:lnTo>
                    <a:pt x="343725" y="47383"/>
                  </a:lnTo>
                  <a:lnTo>
                    <a:pt x="343725" y="10718"/>
                  </a:lnTo>
                  <a:lnTo>
                    <a:pt x="343725" y="2400"/>
                  </a:lnTo>
                  <a:close/>
                </a:path>
                <a:path w="706755" h="170814">
                  <a:moveTo>
                    <a:pt x="706374" y="114668"/>
                  </a:moveTo>
                  <a:lnTo>
                    <a:pt x="703973" y="112268"/>
                  </a:lnTo>
                  <a:lnTo>
                    <a:pt x="2400" y="112268"/>
                  </a:lnTo>
                  <a:lnTo>
                    <a:pt x="0" y="114668"/>
                  </a:lnTo>
                  <a:lnTo>
                    <a:pt x="0" y="167970"/>
                  </a:lnTo>
                  <a:lnTo>
                    <a:pt x="2400" y="170370"/>
                  </a:lnTo>
                  <a:lnTo>
                    <a:pt x="703973" y="170370"/>
                  </a:lnTo>
                  <a:lnTo>
                    <a:pt x="706374" y="167970"/>
                  </a:lnTo>
                  <a:lnTo>
                    <a:pt x="706374" y="159626"/>
                  </a:lnTo>
                  <a:lnTo>
                    <a:pt x="706374" y="122961"/>
                  </a:lnTo>
                  <a:lnTo>
                    <a:pt x="706374" y="114668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23272" y="3097578"/>
              <a:ext cx="2143056" cy="6463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636975" y="2499638"/>
              <a:ext cx="358775" cy="184785"/>
            </a:xfrm>
            <a:custGeom>
              <a:avLst/>
              <a:gdLst/>
              <a:ahLst/>
              <a:cxnLst/>
              <a:rect l="l" t="t" r="r" b="b"/>
              <a:pathLst>
                <a:path w="358775" h="184785">
                  <a:moveTo>
                    <a:pt x="358546" y="128892"/>
                  </a:moveTo>
                  <a:lnTo>
                    <a:pt x="356146" y="126492"/>
                  </a:lnTo>
                  <a:lnTo>
                    <a:pt x="2400" y="126492"/>
                  </a:lnTo>
                  <a:lnTo>
                    <a:pt x="0" y="128892"/>
                  </a:lnTo>
                  <a:lnTo>
                    <a:pt x="0" y="182206"/>
                  </a:lnTo>
                  <a:lnTo>
                    <a:pt x="2400" y="184594"/>
                  </a:lnTo>
                  <a:lnTo>
                    <a:pt x="356146" y="184594"/>
                  </a:lnTo>
                  <a:lnTo>
                    <a:pt x="358546" y="182206"/>
                  </a:lnTo>
                  <a:lnTo>
                    <a:pt x="358546" y="173863"/>
                  </a:lnTo>
                  <a:lnTo>
                    <a:pt x="358546" y="137198"/>
                  </a:lnTo>
                  <a:lnTo>
                    <a:pt x="358546" y="128892"/>
                  </a:lnTo>
                  <a:close/>
                </a:path>
                <a:path w="358775" h="184785">
                  <a:moveTo>
                    <a:pt x="358546" y="2400"/>
                  </a:moveTo>
                  <a:lnTo>
                    <a:pt x="356146" y="0"/>
                  </a:lnTo>
                  <a:lnTo>
                    <a:pt x="2400" y="0"/>
                  </a:lnTo>
                  <a:lnTo>
                    <a:pt x="0" y="2400"/>
                  </a:lnTo>
                  <a:lnTo>
                    <a:pt x="0" y="55702"/>
                  </a:lnTo>
                  <a:lnTo>
                    <a:pt x="2400" y="58102"/>
                  </a:lnTo>
                  <a:lnTo>
                    <a:pt x="356146" y="58102"/>
                  </a:lnTo>
                  <a:lnTo>
                    <a:pt x="358546" y="55702"/>
                  </a:lnTo>
                  <a:lnTo>
                    <a:pt x="358546" y="47383"/>
                  </a:lnTo>
                  <a:lnTo>
                    <a:pt x="358546" y="10718"/>
                  </a:lnTo>
                  <a:lnTo>
                    <a:pt x="358546" y="2400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87419" y="2512514"/>
              <a:ext cx="5143412" cy="2974854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61676" y="224583"/>
            <a:ext cx="4210049" cy="9524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9962" y="6354824"/>
            <a:ext cx="4939172" cy="319034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48492" y="2365223"/>
            <a:ext cx="16827500" cy="721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95"/>
              </a:lnSpc>
              <a:spcBef>
                <a:spcPts val="100"/>
              </a:spcBef>
            </a:pPr>
            <a:r>
              <a:rPr dirty="0" sz="3200" spc="140" b="1">
                <a:solidFill>
                  <a:srgbClr val="12110F"/>
                </a:solidFill>
                <a:latin typeface="Trebuchet MS"/>
                <a:cs typeface="Trebuchet MS"/>
              </a:rPr>
              <a:t>Tantangan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40" b="1">
                <a:solidFill>
                  <a:srgbClr val="12110F"/>
                </a:solidFill>
                <a:latin typeface="Trebuchet MS"/>
                <a:cs typeface="Trebuchet MS"/>
              </a:rPr>
              <a:t>Utama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204" b="1">
                <a:solidFill>
                  <a:srgbClr val="12110F"/>
                </a:solidFill>
                <a:latin typeface="Trebuchet MS"/>
                <a:cs typeface="Trebuchet MS"/>
              </a:rPr>
              <a:t>yang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85" b="1">
                <a:solidFill>
                  <a:srgbClr val="12110F"/>
                </a:solidFill>
                <a:latin typeface="Trebuchet MS"/>
                <a:cs typeface="Trebuchet MS"/>
              </a:rPr>
              <a:t>Dihadapi</a:t>
            </a:r>
            <a:endParaRPr sz="3200">
              <a:latin typeface="Trebuchet MS"/>
              <a:cs typeface="Trebuchet MS"/>
            </a:endParaRPr>
          </a:p>
          <a:p>
            <a:pPr marL="12700" marR="7353300">
              <a:lnSpc>
                <a:spcPts val="3150"/>
              </a:lnSpc>
              <a:spcBef>
                <a:spcPts val="334"/>
              </a:spcBef>
            </a:pP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Kesulitan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dalam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mengelola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12110F"/>
                </a:solidFill>
                <a:latin typeface="Tahoma"/>
                <a:cs typeface="Tahoma"/>
              </a:rPr>
              <a:t>pengeluaran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60">
                <a:solidFill>
                  <a:srgbClr val="12110F"/>
                </a:solidFill>
                <a:latin typeface="Tahoma"/>
                <a:cs typeface="Tahoma"/>
              </a:rPr>
              <a:t>bulanan </a:t>
            </a:r>
            <a:r>
              <a:rPr dirty="0" sz="3200" spc="110">
                <a:solidFill>
                  <a:srgbClr val="12110F"/>
                </a:solidFill>
                <a:latin typeface="Tahoma"/>
                <a:cs typeface="Tahoma"/>
              </a:rPr>
              <a:t>akibat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35">
                <a:solidFill>
                  <a:srgbClr val="12110F"/>
                </a:solidFill>
                <a:latin typeface="Tahoma"/>
                <a:cs typeface="Tahoma"/>
              </a:rPr>
              <a:t>pemasukan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tidak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45">
                <a:solidFill>
                  <a:srgbClr val="12110F"/>
                </a:solidFill>
                <a:latin typeface="Tahoma"/>
                <a:cs typeface="Tahoma"/>
              </a:rPr>
              <a:t>tetap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0">
                <a:solidFill>
                  <a:srgbClr val="12110F"/>
                </a:solidFill>
                <a:latin typeface="Tahoma"/>
                <a:cs typeface="Tahoma"/>
              </a:rPr>
              <a:t>literasi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50">
                <a:solidFill>
                  <a:srgbClr val="12110F"/>
                </a:solidFill>
                <a:latin typeface="Tahoma"/>
                <a:cs typeface="Tahoma"/>
              </a:rPr>
              <a:t>finansial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rendah.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ts val="3495"/>
              </a:lnSpc>
              <a:spcBef>
                <a:spcPts val="2470"/>
              </a:spcBef>
            </a:pPr>
            <a:r>
              <a:rPr dirty="0" sz="3200" spc="125" b="1">
                <a:solidFill>
                  <a:srgbClr val="12110F"/>
                </a:solidFill>
                <a:latin typeface="Trebuchet MS"/>
                <a:cs typeface="Trebuchet MS"/>
              </a:rPr>
              <a:t>Fenomena</a:t>
            </a:r>
            <a:r>
              <a:rPr dirty="0" sz="320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70" b="1">
                <a:solidFill>
                  <a:srgbClr val="12110F"/>
                </a:solidFill>
                <a:latin typeface="Trebuchet MS"/>
                <a:cs typeface="Trebuchet MS"/>
              </a:rPr>
              <a:t>Umum</a:t>
            </a:r>
            <a:endParaRPr sz="3200">
              <a:latin typeface="Trebuchet MS"/>
              <a:cs typeface="Trebuchet MS"/>
            </a:endParaRPr>
          </a:p>
          <a:p>
            <a:pPr marL="12700" marR="7382509">
              <a:lnSpc>
                <a:spcPts val="3150"/>
              </a:lnSpc>
              <a:spcBef>
                <a:spcPts val="334"/>
              </a:spcBef>
            </a:pPr>
            <a:r>
              <a:rPr dirty="0" sz="3200" spc="150">
                <a:solidFill>
                  <a:srgbClr val="12110F"/>
                </a:solidFill>
                <a:latin typeface="Tahoma"/>
                <a:cs typeface="Tahoma"/>
              </a:rPr>
              <a:t>Mahasiswa</a:t>
            </a:r>
            <a:r>
              <a:rPr dirty="0" sz="3200" spc="-2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10">
                <a:solidFill>
                  <a:srgbClr val="12110F"/>
                </a:solidFill>
                <a:latin typeface="Tahoma"/>
                <a:cs typeface="Tahoma"/>
              </a:rPr>
              <a:t>sering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10">
                <a:solidFill>
                  <a:srgbClr val="12110F"/>
                </a:solidFill>
                <a:latin typeface="Tahoma"/>
                <a:cs typeface="Tahoma"/>
              </a:rPr>
              <a:t>kehabisan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12110F"/>
                </a:solidFill>
                <a:latin typeface="Tahoma"/>
                <a:cs typeface="Tahoma"/>
              </a:rPr>
              <a:t>dana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85">
                <a:solidFill>
                  <a:srgbClr val="12110F"/>
                </a:solidFill>
                <a:latin typeface="Tahoma"/>
                <a:cs typeface="Tahoma"/>
              </a:rPr>
              <a:t>di</a:t>
            </a:r>
            <a:r>
              <a:rPr dirty="0" sz="3200" spc="-2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pertengahan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bulan.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3200">
              <a:latin typeface="Tahoma"/>
              <a:cs typeface="Tahoma"/>
            </a:endParaRPr>
          </a:p>
          <a:p>
            <a:pPr marL="7080884">
              <a:lnSpc>
                <a:spcPts val="3495"/>
              </a:lnSpc>
            </a:pPr>
            <a:r>
              <a:rPr dirty="0" sz="3200" spc="110" b="1">
                <a:solidFill>
                  <a:srgbClr val="12110F"/>
                </a:solidFill>
                <a:latin typeface="Trebuchet MS"/>
                <a:cs typeface="Trebuchet MS"/>
              </a:rPr>
              <a:t>Risiko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20" b="1">
                <a:solidFill>
                  <a:srgbClr val="12110F"/>
                </a:solidFill>
                <a:latin typeface="Trebuchet MS"/>
                <a:cs typeface="Trebuchet MS"/>
              </a:rPr>
              <a:t>Serius</a:t>
            </a:r>
            <a:endParaRPr sz="3200">
              <a:latin typeface="Trebuchet MS"/>
              <a:cs typeface="Trebuchet MS"/>
            </a:endParaRPr>
          </a:p>
          <a:p>
            <a:pPr marL="7080884" marR="899160">
              <a:lnSpc>
                <a:spcPts val="3150"/>
              </a:lnSpc>
              <a:spcBef>
                <a:spcPts val="335"/>
              </a:spcBef>
            </a:pPr>
            <a:r>
              <a:rPr dirty="0" sz="3200" spc="180">
                <a:solidFill>
                  <a:srgbClr val="12110F"/>
                </a:solidFill>
                <a:latin typeface="Tahoma"/>
                <a:cs typeface="Tahoma"/>
              </a:rPr>
              <a:t>Memicu</a:t>
            </a:r>
            <a:r>
              <a:rPr dirty="0" sz="3200" spc="-2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ketergantungan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pada</a:t>
            </a:r>
            <a:r>
              <a:rPr dirty="0" sz="3200" spc="-2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55">
                <a:solidFill>
                  <a:srgbClr val="12110F"/>
                </a:solidFill>
                <a:latin typeface="Tahoma"/>
                <a:cs typeface="Tahoma"/>
              </a:rPr>
              <a:t>Pinjaman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60">
                <a:solidFill>
                  <a:srgbClr val="12110F"/>
                </a:solidFill>
                <a:latin typeface="Tahoma"/>
                <a:cs typeface="Tahoma"/>
              </a:rPr>
              <a:t>Online </a:t>
            </a:r>
            <a:r>
              <a:rPr dirty="0" sz="3200" spc="-30">
                <a:solidFill>
                  <a:srgbClr val="12110F"/>
                </a:solidFill>
                <a:latin typeface="Tahoma"/>
                <a:cs typeface="Tahoma"/>
              </a:rPr>
              <a:t>(Pinjol)</a:t>
            </a:r>
            <a:r>
              <a:rPr dirty="0" sz="3200" spc="-2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berbunga</a:t>
            </a:r>
            <a:r>
              <a:rPr dirty="0" sz="3200" spc="-2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tinggi.</a:t>
            </a:r>
            <a:endParaRPr sz="3200">
              <a:latin typeface="Tahoma"/>
              <a:cs typeface="Tahoma"/>
            </a:endParaRPr>
          </a:p>
          <a:p>
            <a:pPr marL="7080884">
              <a:lnSpc>
                <a:spcPts val="3495"/>
              </a:lnSpc>
              <a:spcBef>
                <a:spcPts val="2470"/>
              </a:spcBef>
            </a:pPr>
            <a:r>
              <a:rPr dirty="0" sz="3200" spc="165" b="1">
                <a:solidFill>
                  <a:srgbClr val="12110F"/>
                </a:solidFill>
                <a:latin typeface="Trebuchet MS"/>
                <a:cs typeface="Trebuchet MS"/>
              </a:rPr>
              <a:t>Akar</a:t>
            </a:r>
            <a:r>
              <a:rPr dirty="0" sz="3200" spc="-15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75" b="1">
                <a:solidFill>
                  <a:srgbClr val="12110F"/>
                </a:solidFill>
                <a:latin typeface="Trebuchet MS"/>
                <a:cs typeface="Trebuchet MS"/>
              </a:rPr>
              <a:t>Masalah</a:t>
            </a:r>
            <a:endParaRPr sz="3200">
              <a:latin typeface="Trebuchet MS"/>
              <a:cs typeface="Trebuchet MS"/>
            </a:endParaRPr>
          </a:p>
          <a:p>
            <a:pPr marL="7080884" marR="5080">
              <a:lnSpc>
                <a:spcPts val="3150"/>
              </a:lnSpc>
              <a:spcBef>
                <a:spcPts val="335"/>
              </a:spcBef>
            </a:pPr>
            <a:r>
              <a:rPr dirty="0" sz="3200" spc="110">
                <a:solidFill>
                  <a:srgbClr val="12110F"/>
                </a:solidFill>
                <a:latin typeface="Tahoma"/>
                <a:cs typeface="Tahoma"/>
              </a:rPr>
              <a:t>Aplikasi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ada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saat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>
                <a:solidFill>
                  <a:srgbClr val="12110F"/>
                </a:solidFill>
                <a:latin typeface="Tahoma"/>
                <a:cs typeface="Tahoma"/>
              </a:rPr>
              <a:t>ini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bersifat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55">
                <a:solidFill>
                  <a:srgbClr val="12110F"/>
                </a:solidFill>
                <a:latin typeface="Tahoma"/>
                <a:cs typeface="Tahoma"/>
              </a:rPr>
              <a:t>PASIF,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5">
                <a:solidFill>
                  <a:srgbClr val="12110F"/>
                </a:solidFill>
                <a:latin typeface="Tahoma"/>
                <a:cs typeface="Tahoma"/>
              </a:rPr>
              <a:t>hanya </a:t>
            </a:r>
            <a:r>
              <a:rPr dirty="0" sz="3200" spc="114">
                <a:solidFill>
                  <a:srgbClr val="12110F"/>
                </a:solidFill>
                <a:latin typeface="Tahoma"/>
                <a:cs typeface="Tahoma"/>
              </a:rPr>
              <a:t>berfungsi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sebagai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65">
                <a:solidFill>
                  <a:srgbClr val="12110F"/>
                </a:solidFill>
                <a:latin typeface="Tahoma"/>
                <a:cs typeface="Tahoma"/>
              </a:rPr>
              <a:t>alat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5">
                <a:solidFill>
                  <a:srgbClr val="12110F"/>
                </a:solidFill>
                <a:latin typeface="Tahoma"/>
                <a:cs typeface="Tahoma"/>
              </a:rPr>
              <a:t>pencatat,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10">
                <a:solidFill>
                  <a:srgbClr val="12110F"/>
                </a:solidFill>
                <a:latin typeface="Tahoma"/>
                <a:cs typeface="Tahoma"/>
              </a:rPr>
              <a:t>tanpa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memberikan </a:t>
            </a: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peringatan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0">
                <a:solidFill>
                  <a:srgbClr val="12110F"/>
                </a:solidFill>
                <a:latin typeface="Tahoma"/>
                <a:cs typeface="Tahoma"/>
              </a:rPr>
              <a:t>atau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bimbingan</a:t>
            </a:r>
            <a:r>
              <a:rPr dirty="0" sz="3200" spc="-2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40">
                <a:solidFill>
                  <a:srgbClr val="12110F"/>
                </a:solidFill>
                <a:latin typeface="Tahoma"/>
                <a:cs typeface="Tahoma"/>
              </a:rPr>
              <a:t>proaktif.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229"/>
              <a:t>Latar</a:t>
            </a:r>
            <a:r>
              <a:rPr dirty="0" sz="8800" spc="90"/>
              <a:t> </a:t>
            </a:r>
            <a:r>
              <a:rPr dirty="0" sz="8800" spc="70"/>
              <a:t>Belakang</a:t>
            </a:r>
            <a:endParaRPr sz="8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4522767"/>
            <a:ext cx="5448299" cy="847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3283" y="6942118"/>
            <a:ext cx="4733924" cy="3152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4049" y="642655"/>
            <a:ext cx="10039985" cy="2145665"/>
          </a:xfrm>
          <a:prstGeom prst="rect"/>
        </p:spPr>
        <p:txBody>
          <a:bodyPr wrap="square" lIns="0" tIns="207645" rIns="0" bIns="0" rtlCol="0" vert="horz">
            <a:spAutoFit/>
          </a:bodyPr>
          <a:lstStyle/>
          <a:p>
            <a:pPr marL="12700" marR="5080">
              <a:lnSpc>
                <a:spcPts val="7580"/>
              </a:lnSpc>
              <a:spcBef>
                <a:spcPts val="1635"/>
              </a:spcBef>
            </a:pPr>
            <a:r>
              <a:rPr dirty="0" sz="7600" spc="155">
                <a:solidFill>
                  <a:srgbClr val="000000"/>
                </a:solidFill>
              </a:rPr>
              <a:t>Profil</a:t>
            </a:r>
            <a:r>
              <a:rPr dirty="0" sz="7600" spc="90">
                <a:solidFill>
                  <a:srgbClr val="000000"/>
                </a:solidFill>
              </a:rPr>
              <a:t> </a:t>
            </a:r>
            <a:r>
              <a:rPr dirty="0" sz="7600" spc="135">
                <a:solidFill>
                  <a:srgbClr val="000000"/>
                </a:solidFill>
              </a:rPr>
              <a:t>Perusahaan</a:t>
            </a:r>
            <a:r>
              <a:rPr dirty="0" sz="7600" spc="90">
                <a:solidFill>
                  <a:srgbClr val="000000"/>
                </a:solidFill>
              </a:rPr>
              <a:t> </a:t>
            </a:r>
            <a:r>
              <a:rPr dirty="0" sz="7600" spc="125">
                <a:solidFill>
                  <a:srgbClr val="000000"/>
                </a:solidFill>
              </a:rPr>
              <a:t>&amp; </a:t>
            </a:r>
            <a:r>
              <a:rPr dirty="0" sz="7600">
                <a:solidFill>
                  <a:srgbClr val="000000"/>
                </a:solidFill>
              </a:rPr>
              <a:t>Lingkup</a:t>
            </a:r>
            <a:r>
              <a:rPr dirty="0" sz="7600" spc="270">
                <a:solidFill>
                  <a:srgbClr val="000000"/>
                </a:solidFill>
              </a:rPr>
              <a:t> </a:t>
            </a:r>
            <a:r>
              <a:rPr dirty="0" sz="7600" spc="229">
                <a:solidFill>
                  <a:srgbClr val="000000"/>
                </a:solidFill>
              </a:rPr>
              <a:t>Tugas</a:t>
            </a:r>
            <a:endParaRPr sz="7600"/>
          </a:p>
        </p:txBody>
      </p:sp>
      <p:sp>
        <p:nvSpPr>
          <p:cNvPr id="6" name="object 6" descr=""/>
          <p:cNvSpPr txBox="1"/>
          <p:nvPr/>
        </p:nvSpPr>
        <p:spPr>
          <a:xfrm>
            <a:off x="654049" y="5516940"/>
            <a:ext cx="8308340" cy="222377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254"/>
              </a:spcBef>
            </a:pPr>
            <a:r>
              <a:rPr dirty="0" sz="2900" spc="170">
                <a:latin typeface="Tahoma"/>
                <a:cs typeface="Tahoma"/>
              </a:rPr>
              <a:t>ProCodeCG,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sebuah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35">
                <a:latin typeface="Tahoma"/>
                <a:cs typeface="Tahoma"/>
              </a:rPr>
              <a:t>startup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teknologi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40">
                <a:latin typeface="Tahoma"/>
                <a:cs typeface="Tahoma"/>
              </a:rPr>
              <a:t>Bandung, </a:t>
            </a:r>
            <a:r>
              <a:rPr dirty="0" sz="2900" spc="135">
                <a:latin typeface="Tahoma"/>
                <a:cs typeface="Tahoma"/>
              </a:rPr>
              <a:t>bergerak</a:t>
            </a:r>
            <a:r>
              <a:rPr dirty="0" sz="2900" spc="-245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di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bidang</a:t>
            </a:r>
            <a:r>
              <a:rPr dirty="0" sz="2900" spc="-245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edukasi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40">
                <a:latin typeface="Tahoma"/>
                <a:cs typeface="Tahoma"/>
              </a:rPr>
              <a:t>pemrograman</a:t>
            </a:r>
            <a:r>
              <a:rPr dirty="0" sz="2900" spc="-245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yang </a:t>
            </a:r>
            <a:r>
              <a:rPr dirty="0" sz="2900" spc="120">
                <a:latin typeface="Tahoma"/>
                <a:cs typeface="Tahoma"/>
              </a:rPr>
              <a:t>dirancang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untuk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membekali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45">
                <a:latin typeface="Tahoma"/>
                <a:cs typeface="Tahoma"/>
              </a:rPr>
              <a:t>anak-</a:t>
            </a:r>
            <a:r>
              <a:rPr dirty="0" sz="2900" spc="105">
                <a:latin typeface="Tahoma"/>
                <a:cs typeface="Tahoma"/>
              </a:rPr>
              <a:t>anak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dengan </a:t>
            </a:r>
            <a:r>
              <a:rPr dirty="0" sz="2900" spc="80">
                <a:latin typeface="Tahoma"/>
                <a:cs typeface="Tahoma"/>
              </a:rPr>
              <a:t>keahlian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80">
                <a:latin typeface="Tahoma"/>
                <a:cs typeface="Tahoma"/>
              </a:rPr>
              <a:t>digital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relevan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00">
                <a:latin typeface="Tahoma"/>
                <a:cs typeface="Tahoma"/>
              </a:rPr>
              <a:t>sedini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mungkin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sebagai </a:t>
            </a:r>
            <a:r>
              <a:rPr dirty="0" sz="2900" spc="145">
                <a:latin typeface="Tahoma"/>
                <a:cs typeface="Tahoma"/>
              </a:rPr>
              <a:t>aset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55">
                <a:latin typeface="Tahoma"/>
                <a:cs typeface="Tahoma"/>
              </a:rPr>
              <a:t>sumber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daya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05">
                <a:latin typeface="Tahoma"/>
                <a:cs typeface="Tahoma"/>
              </a:rPr>
              <a:t>manusia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di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45">
                <a:latin typeface="Tahoma"/>
                <a:cs typeface="Tahoma"/>
              </a:rPr>
              <a:t>masa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depan.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369424" y="3357733"/>
            <a:ext cx="8520430" cy="201422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477010" marR="5080" indent="-1244600">
              <a:lnSpc>
                <a:spcPts val="3450"/>
              </a:lnSpc>
              <a:spcBef>
                <a:spcPts val="260"/>
              </a:spcBef>
            </a:pPr>
            <a:r>
              <a:rPr dirty="0" sz="2900" spc="114" b="1">
                <a:latin typeface="Trebuchet MS"/>
                <a:cs typeface="Trebuchet MS"/>
              </a:rPr>
              <a:t>Analis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180" b="1">
                <a:latin typeface="Trebuchet MS"/>
                <a:cs typeface="Trebuchet MS"/>
              </a:rPr>
              <a:t>Sistem</a:t>
            </a:r>
            <a:r>
              <a:rPr dirty="0" sz="2900" spc="-114" b="1">
                <a:latin typeface="Trebuchet MS"/>
                <a:cs typeface="Trebuchet MS"/>
              </a:rPr>
              <a:t> </a:t>
            </a:r>
            <a:r>
              <a:rPr dirty="0" sz="2900" spc="140" b="1">
                <a:latin typeface="Trebuchet MS"/>
                <a:cs typeface="Trebuchet MS"/>
              </a:rPr>
              <a:t>dan</a:t>
            </a:r>
            <a:r>
              <a:rPr dirty="0" sz="2900" spc="-105" b="1">
                <a:latin typeface="Trebuchet MS"/>
                <a:cs typeface="Trebuchet MS"/>
              </a:rPr>
              <a:t> </a:t>
            </a:r>
            <a:r>
              <a:rPr dirty="0" sz="2900" spc="60" b="1">
                <a:latin typeface="Trebuchet MS"/>
                <a:cs typeface="Trebuchet MS"/>
              </a:rPr>
              <a:t>Penjamin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100" b="1">
                <a:latin typeface="Trebuchet MS"/>
                <a:cs typeface="Trebuchet MS"/>
              </a:rPr>
              <a:t>Kualitas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195" b="1">
                <a:latin typeface="Trebuchet MS"/>
                <a:cs typeface="Trebuchet MS"/>
              </a:rPr>
              <a:t>(System </a:t>
            </a:r>
            <a:r>
              <a:rPr dirty="0" sz="2900" spc="145" b="1">
                <a:latin typeface="Trebuchet MS"/>
                <a:cs typeface="Trebuchet MS"/>
              </a:rPr>
              <a:t>Analyst</a:t>
            </a:r>
            <a:r>
              <a:rPr dirty="0" sz="2900" spc="-130" b="1">
                <a:latin typeface="Trebuchet MS"/>
                <a:cs typeface="Trebuchet MS"/>
              </a:rPr>
              <a:t> </a:t>
            </a:r>
            <a:r>
              <a:rPr dirty="0" sz="2900" spc="140" b="1">
                <a:latin typeface="Trebuchet MS"/>
                <a:cs typeface="Trebuchet MS"/>
              </a:rPr>
              <a:t>dan</a:t>
            </a:r>
            <a:r>
              <a:rPr dirty="0" sz="2900" spc="-130" b="1">
                <a:latin typeface="Trebuchet MS"/>
                <a:cs typeface="Trebuchet MS"/>
              </a:rPr>
              <a:t> </a:t>
            </a:r>
            <a:r>
              <a:rPr dirty="0" sz="2900" spc="75" b="1">
                <a:latin typeface="Trebuchet MS"/>
                <a:cs typeface="Trebuchet MS"/>
              </a:rPr>
              <a:t>Quality</a:t>
            </a:r>
            <a:r>
              <a:rPr dirty="0" sz="2900" spc="-130" b="1">
                <a:latin typeface="Trebuchet MS"/>
                <a:cs typeface="Trebuchet MS"/>
              </a:rPr>
              <a:t> </a:t>
            </a:r>
            <a:r>
              <a:rPr dirty="0" sz="2900" spc="160" b="1">
                <a:latin typeface="Trebuchet MS"/>
                <a:cs typeface="Trebuchet MS"/>
              </a:rPr>
              <a:t>Assurance)</a:t>
            </a:r>
            <a:endParaRPr sz="2900">
              <a:latin typeface="Trebuchet MS"/>
              <a:cs typeface="Trebuchet MS"/>
            </a:endParaRPr>
          </a:p>
          <a:p>
            <a:pPr marL="12700" marR="822960">
              <a:lnSpc>
                <a:spcPts val="3450"/>
              </a:lnSpc>
              <a:spcBef>
                <a:spcPts val="1795"/>
              </a:spcBef>
            </a:pPr>
            <a:r>
              <a:rPr dirty="0" sz="2900" spc="140">
                <a:latin typeface="Tahoma"/>
                <a:cs typeface="Tahoma"/>
              </a:rPr>
              <a:t>Memastikan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65">
                <a:latin typeface="Tahoma"/>
                <a:cs typeface="Tahoma"/>
              </a:rPr>
              <a:t>bahwa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setiap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fitur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yang </a:t>
            </a:r>
            <a:r>
              <a:rPr dirty="0" sz="2900" spc="135">
                <a:latin typeface="Tahoma"/>
                <a:cs typeface="Tahoma"/>
              </a:rPr>
              <a:t>dikembangkan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tidak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00">
                <a:latin typeface="Tahoma"/>
                <a:cs typeface="Tahoma"/>
              </a:rPr>
              <a:t>hanya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berfungsi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40">
                <a:latin typeface="Tahoma"/>
                <a:cs typeface="Tahoma"/>
              </a:rPr>
              <a:t>secara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69424" y="5338933"/>
            <a:ext cx="6930390" cy="134747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254"/>
              </a:spcBef>
            </a:pPr>
            <a:r>
              <a:rPr dirty="0" sz="2900" spc="45">
                <a:latin typeface="Tahoma"/>
                <a:cs typeface="Tahoma"/>
              </a:rPr>
              <a:t>teknis,</a:t>
            </a:r>
            <a:r>
              <a:rPr dirty="0" sz="2900" spc="-210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tetapi</a:t>
            </a:r>
            <a:r>
              <a:rPr dirty="0" sz="2900" spc="-204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juga</a:t>
            </a:r>
            <a:r>
              <a:rPr dirty="0" sz="2900" spc="-210">
                <a:latin typeface="Tahoma"/>
                <a:cs typeface="Tahoma"/>
              </a:rPr>
              <a:t> </a:t>
            </a:r>
            <a:r>
              <a:rPr dirty="0" sz="2900" spc="105">
                <a:latin typeface="Tahoma"/>
                <a:cs typeface="Tahoma"/>
              </a:rPr>
              <a:t>selaras</a:t>
            </a:r>
            <a:r>
              <a:rPr dirty="0" sz="2900" spc="-204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dengan</a:t>
            </a:r>
            <a:r>
              <a:rPr dirty="0" sz="2900" spc="-210">
                <a:latin typeface="Tahoma"/>
                <a:cs typeface="Tahoma"/>
              </a:rPr>
              <a:t> </a:t>
            </a:r>
            <a:r>
              <a:rPr dirty="0" sz="2900" spc="40">
                <a:latin typeface="Tahoma"/>
                <a:cs typeface="Tahoma"/>
              </a:rPr>
              <a:t>tujuan </a:t>
            </a:r>
            <a:r>
              <a:rPr dirty="0" sz="2900" spc="150">
                <a:latin typeface="Tahoma"/>
                <a:cs typeface="Tahoma"/>
              </a:rPr>
              <a:t>pemecahan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00">
                <a:latin typeface="Tahoma"/>
                <a:cs typeface="Tahoma"/>
              </a:rPr>
              <a:t>masalah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14">
                <a:latin typeface="Tahoma"/>
                <a:cs typeface="Tahoma"/>
              </a:rPr>
              <a:t>dan</a:t>
            </a:r>
            <a:r>
              <a:rPr dirty="0" sz="2900" spc="-220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memberikan </a:t>
            </a:r>
            <a:r>
              <a:rPr dirty="0" sz="2900" spc="110">
                <a:latin typeface="Tahoma"/>
                <a:cs typeface="Tahoma"/>
              </a:rPr>
              <a:t>pengalaman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pengguna</a:t>
            </a:r>
            <a:r>
              <a:rPr dirty="0" sz="2900" spc="-225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yang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optimal.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143950" y="3186658"/>
            <a:ext cx="0" cy="6071870"/>
          </a:xfrm>
          <a:custGeom>
            <a:avLst/>
            <a:gdLst/>
            <a:ahLst/>
            <a:cxnLst/>
            <a:rect l="l" t="t" r="r" b="b"/>
            <a:pathLst>
              <a:path w="0" h="6071870">
                <a:moveTo>
                  <a:pt x="0" y="0"/>
                </a:moveTo>
                <a:lnTo>
                  <a:pt x="0" y="607169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61676" y="224583"/>
            <a:ext cx="4210049" cy="952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4067" y="189105"/>
            <a:ext cx="4210049" cy="9524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573485" y="2463308"/>
            <a:ext cx="712470" cy="712470"/>
          </a:xfrm>
          <a:custGeom>
            <a:avLst/>
            <a:gdLst/>
            <a:ahLst/>
            <a:cxnLst/>
            <a:rect l="l" t="t" r="r" b="b"/>
            <a:pathLst>
              <a:path w="712470" h="712469">
                <a:moveTo>
                  <a:pt x="356076" y="712152"/>
                </a:moveTo>
                <a:lnTo>
                  <a:pt x="307759" y="708901"/>
                </a:lnTo>
                <a:lnTo>
                  <a:pt x="261417" y="699433"/>
                </a:lnTo>
                <a:lnTo>
                  <a:pt x="217475" y="684170"/>
                </a:lnTo>
                <a:lnTo>
                  <a:pt x="176357" y="663537"/>
                </a:lnTo>
                <a:lnTo>
                  <a:pt x="138488" y="637959"/>
                </a:lnTo>
                <a:lnTo>
                  <a:pt x="104292" y="607860"/>
                </a:lnTo>
                <a:lnTo>
                  <a:pt x="74193" y="573663"/>
                </a:lnTo>
                <a:lnTo>
                  <a:pt x="48614" y="535794"/>
                </a:lnTo>
                <a:lnTo>
                  <a:pt x="27982" y="494677"/>
                </a:lnTo>
                <a:lnTo>
                  <a:pt x="12719" y="450735"/>
                </a:lnTo>
                <a:lnTo>
                  <a:pt x="3250" y="404393"/>
                </a:lnTo>
                <a:lnTo>
                  <a:pt x="0" y="356076"/>
                </a:lnTo>
                <a:lnTo>
                  <a:pt x="3250" y="307758"/>
                </a:lnTo>
                <a:lnTo>
                  <a:pt x="12719" y="261417"/>
                </a:lnTo>
                <a:lnTo>
                  <a:pt x="27982" y="217475"/>
                </a:lnTo>
                <a:lnTo>
                  <a:pt x="48614" y="176357"/>
                </a:lnTo>
                <a:lnTo>
                  <a:pt x="74193" y="138488"/>
                </a:lnTo>
                <a:lnTo>
                  <a:pt x="104292" y="104292"/>
                </a:lnTo>
                <a:lnTo>
                  <a:pt x="138488" y="74192"/>
                </a:lnTo>
                <a:lnTo>
                  <a:pt x="176357" y="48614"/>
                </a:lnTo>
                <a:lnTo>
                  <a:pt x="217475" y="27982"/>
                </a:lnTo>
                <a:lnTo>
                  <a:pt x="261417" y="12719"/>
                </a:lnTo>
                <a:lnTo>
                  <a:pt x="307759" y="3250"/>
                </a:lnTo>
                <a:lnTo>
                  <a:pt x="356076" y="0"/>
                </a:lnTo>
                <a:lnTo>
                  <a:pt x="404393" y="3250"/>
                </a:lnTo>
                <a:lnTo>
                  <a:pt x="450735" y="12719"/>
                </a:lnTo>
                <a:lnTo>
                  <a:pt x="494677" y="27982"/>
                </a:lnTo>
                <a:lnTo>
                  <a:pt x="535794" y="48614"/>
                </a:lnTo>
                <a:lnTo>
                  <a:pt x="573663" y="74192"/>
                </a:lnTo>
                <a:lnTo>
                  <a:pt x="607860" y="104292"/>
                </a:lnTo>
                <a:lnTo>
                  <a:pt x="637959" y="138488"/>
                </a:lnTo>
                <a:lnTo>
                  <a:pt x="663537" y="176357"/>
                </a:lnTo>
                <a:lnTo>
                  <a:pt x="684170" y="217475"/>
                </a:lnTo>
                <a:lnTo>
                  <a:pt x="699433" y="261417"/>
                </a:lnTo>
                <a:lnTo>
                  <a:pt x="708901" y="307758"/>
                </a:lnTo>
                <a:lnTo>
                  <a:pt x="712152" y="356076"/>
                </a:lnTo>
                <a:lnTo>
                  <a:pt x="708901" y="404393"/>
                </a:lnTo>
                <a:lnTo>
                  <a:pt x="699433" y="450735"/>
                </a:lnTo>
                <a:lnTo>
                  <a:pt x="684170" y="494677"/>
                </a:lnTo>
                <a:lnTo>
                  <a:pt x="663537" y="535794"/>
                </a:lnTo>
                <a:lnTo>
                  <a:pt x="637959" y="573663"/>
                </a:lnTo>
                <a:lnTo>
                  <a:pt x="607860" y="607860"/>
                </a:lnTo>
                <a:lnTo>
                  <a:pt x="573663" y="637959"/>
                </a:lnTo>
                <a:lnTo>
                  <a:pt x="535794" y="663537"/>
                </a:lnTo>
                <a:lnTo>
                  <a:pt x="494677" y="684170"/>
                </a:lnTo>
                <a:lnTo>
                  <a:pt x="450735" y="699433"/>
                </a:lnTo>
                <a:lnTo>
                  <a:pt x="404393" y="708901"/>
                </a:lnTo>
                <a:lnTo>
                  <a:pt x="356076" y="712152"/>
                </a:lnTo>
                <a:close/>
              </a:path>
            </a:pathLst>
          </a:custGeom>
          <a:solidFill>
            <a:srgbClr val="4E45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837457" y="2574433"/>
            <a:ext cx="184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 b="1"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573485" y="4877484"/>
            <a:ext cx="712470" cy="712470"/>
          </a:xfrm>
          <a:custGeom>
            <a:avLst/>
            <a:gdLst/>
            <a:ahLst/>
            <a:cxnLst/>
            <a:rect l="l" t="t" r="r" b="b"/>
            <a:pathLst>
              <a:path w="712470" h="712470">
                <a:moveTo>
                  <a:pt x="356076" y="712152"/>
                </a:moveTo>
                <a:lnTo>
                  <a:pt x="307759" y="708902"/>
                </a:lnTo>
                <a:lnTo>
                  <a:pt x="261417" y="699433"/>
                </a:lnTo>
                <a:lnTo>
                  <a:pt x="217475" y="684170"/>
                </a:lnTo>
                <a:lnTo>
                  <a:pt x="176357" y="663537"/>
                </a:lnTo>
                <a:lnTo>
                  <a:pt x="138488" y="637959"/>
                </a:lnTo>
                <a:lnTo>
                  <a:pt x="104292" y="607860"/>
                </a:lnTo>
                <a:lnTo>
                  <a:pt x="74193" y="573663"/>
                </a:lnTo>
                <a:lnTo>
                  <a:pt x="48614" y="535794"/>
                </a:lnTo>
                <a:lnTo>
                  <a:pt x="27982" y="494677"/>
                </a:lnTo>
                <a:lnTo>
                  <a:pt x="12719" y="450735"/>
                </a:lnTo>
                <a:lnTo>
                  <a:pt x="3250" y="404393"/>
                </a:lnTo>
                <a:lnTo>
                  <a:pt x="0" y="356076"/>
                </a:lnTo>
                <a:lnTo>
                  <a:pt x="3250" y="307758"/>
                </a:lnTo>
                <a:lnTo>
                  <a:pt x="12719" y="261417"/>
                </a:lnTo>
                <a:lnTo>
                  <a:pt x="27982" y="217475"/>
                </a:lnTo>
                <a:lnTo>
                  <a:pt x="48614" y="176357"/>
                </a:lnTo>
                <a:lnTo>
                  <a:pt x="74193" y="138488"/>
                </a:lnTo>
                <a:lnTo>
                  <a:pt x="104292" y="104292"/>
                </a:lnTo>
                <a:lnTo>
                  <a:pt x="138488" y="74193"/>
                </a:lnTo>
                <a:lnTo>
                  <a:pt x="176357" y="48614"/>
                </a:lnTo>
                <a:lnTo>
                  <a:pt x="217475" y="27982"/>
                </a:lnTo>
                <a:lnTo>
                  <a:pt x="261417" y="12719"/>
                </a:lnTo>
                <a:lnTo>
                  <a:pt x="307759" y="3250"/>
                </a:lnTo>
                <a:lnTo>
                  <a:pt x="356076" y="0"/>
                </a:lnTo>
                <a:lnTo>
                  <a:pt x="404393" y="3250"/>
                </a:lnTo>
                <a:lnTo>
                  <a:pt x="450735" y="12719"/>
                </a:lnTo>
                <a:lnTo>
                  <a:pt x="494677" y="27982"/>
                </a:lnTo>
                <a:lnTo>
                  <a:pt x="535794" y="48614"/>
                </a:lnTo>
                <a:lnTo>
                  <a:pt x="573663" y="74193"/>
                </a:lnTo>
                <a:lnTo>
                  <a:pt x="607860" y="104292"/>
                </a:lnTo>
                <a:lnTo>
                  <a:pt x="637959" y="138488"/>
                </a:lnTo>
                <a:lnTo>
                  <a:pt x="663537" y="176357"/>
                </a:lnTo>
                <a:lnTo>
                  <a:pt x="684170" y="217475"/>
                </a:lnTo>
                <a:lnTo>
                  <a:pt x="699433" y="261417"/>
                </a:lnTo>
                <a:lnTo>
                  <a:pt x="708901" y="307758"/>
                </a:lnTo>
                <a:lnTo>
                  <a:pt x="712152" y="356076"/>
                </a:lnTo>
                <a:lnTo>
                  <a:pt x="708901" y="404393"/>
                </a:lnTo>
                <a:lnTo>
                  <a:pt x="699433" y="450735"/>
                </a:lnTo>
                <a:lnTo>
                  <a:pt x="684170" y="494677"/>
                </a:lnTo>
                <a:lnTo>
                  <a:pt x="663537" y="535794"/>
                </a:lnTo>
                <a:lnTo>
                  <a:pt x="637959" y="573663"/>
                </a:lnTo>
                <a:lnTo>
                  <a:pt x="607860" y="607860"/>
                </a:lnTo>
                <a:lnTo>
                  <a:pt x="573663" y="637959"/>
                </a:lnTo>
                <a:lnTo>
                  <a:pt x="535794" y="663537"/>
                </a:lnTo>
                <a:lnTo>
                  <a:pt x="494677" y="684170"/>
                </a:lnTo>
                <a:lnTo>
                  <a:pt x="450735" y="699433"/>
                </a:lnTo>
                <a:lnTo>
                  <a:pt x="404393" y="708902"/>
                </a:lnTo>
                <a:lnTo>
                  <a:pt x="356076" y="712152"/>
                </a:lnTo>
                <a:close/>
              </a:path>
            </a:pathLst>
          </a:custGeom>
          <a:solidFill>
            <a:srgbClr val="4E45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811412" y="4988609"/>
            <a:ext cx="236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90" b="1"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476999" y="0"/>
            <a:ext cx="11811000" cy="10287000"/>
            <a:chOff x="6476999" y="0"/>
            <a:chExt cx="11811000" cy="1028700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9" y="0"/>
              <a:ext cx="11810999" cy="102869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573485" y="7566779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70" h="712470">
                  <a:moveTo>
                    <a:pt x="356076" y="712153"/>
                  </a:moveTo>
                  <a:lnTo>
                    <a:pt x="307759" y="708902"/>
                  </a:lnTo>
                  <a:lnTo>
                    <a:pt x="261417" y="699433"/>
                  </a:lnTo>
                  <a:lnTo>
                    <a:pt x="217475" y="684170"/>
                  </a:lnTo>
                  <a:lnTo>
                    <a:pt x="176357" y="663538"/>
                  </a:lnTo>
                  <a:lnTo>
                    <a:pt x="138488" y="637959"/>
                  </a:lnTo>
                  <a:lnTo>
                    <a:pt x="104292" y="607860"/>
                  </a:lnTo>
                  <a:lnTo>
                    <a:pt x="74193" y="573664"/>
                  </a:lnTo>
                  <a:lnTo>
                    <a:pt x="48614" y="535795"/>
                  </a:lnTo>
                  <a:lnTo>
                    <a:pt x="27982" y="494677"/>
                  </a:lnTo>
                  <a:lnTo>
                    <a:pt x="12719" y="450735"/>
                  </a:lnTo>
                  <a:lnTo>
                    <a:pt x="3250" y="404393"/>
                  </a:lnTo>
                  <a:lnTo>
                    <a:pt x="0" y="356076"/>
                  </a:lnTo>
                  <a:lnTo>
                    <a:pt x="3250" y="307759"/>
                  </a:lnTo>
                  <a:lnTo>
                    <a:pt x="12719" y="261417"/>
                  </a:lnTo>
                  <a:lnTo>
                    <a:pt x="27982" y="217475"/>
                  </a:lnTo>
                  <a:lnTo>
                    <a:pt x="48614" y="176357"/>
                  </a:lnTo>
                  <a:lnTo>
                    <a:pt x="74193" y="138488"/>
                  </a:lnTo>
                  <a:lnTo>
                    <a:pt x="104292" y="104292"/>
                  </a:lnTo>
                  <a:lnTo>
                    <a:pt x="138488" y="74192"/>
                  </a:lnTo>
                  <a:lnTo>
                    <a:pt x="176357" y="48614"/>
                  </a:lnTo>
                  <a:lnTo>
                    <a:pt x="217475" y="27982"/>
                  </a:lnTo>
                  <a:lnTo>
                    <a:pt x="261417" y="12719"/>
                  </a:lnTo>
                  <a:lnTo>
                    <a:pt x="307759" y="3250"/>
                  </a:lnTo>
                  <a:lnTo>
                    <a:pt x="356076" y="0"/>
                  </a:lnTo>
                  <a:lnTo>
                    <a:pt x="404393" y="3250"/>
                  </a:lnTo>
                  <a:lnTo>
                    <a:pt x="450735" y="12719"/>
                  </a:lnTo>
                  <a:lnTo>
                    <a:pt x="494677" y="27982"/>
                  </a:lnTo>
                  <a:lnTo>
                    <a:pt x="535794" y="48614"/>
                  </a:lnTo>
                  <a:lnTo>
                    <a:pt x="573663" y="74192"/>
                  </a:lnTo>
                  <a:lnTo>
                    <a:pt x="607860" y="104292"/>
                  </a:lnTo>
                  <a:lnTo>
                    <a:pt x="637959" y="138488"/>
                  </a:lnTo>
                  <a:lnTo>
                    <a:pt x="663537" y="176357"/>
                  </a:lnTo>
                  <a:lnTo>
                    <a:pt x="684170" y="217475"/>
                  </a:lnTo>
                  <a:lnTo>
                    <a:pt x="699433" y="261417"/>
                  </a:lnTo>
                  <a:lnTo>
                    <a:pt x="708901" y="307759"/>
                  </a:lnTo>
                  <a:lnTo>
                    <a:pt x="712152" y="356076"/>
                  </a:lnTo>
                  <a:lnTo>
                    <a:pt x="708901" y="404393"/>
                  </a:lnTo>
                  <a:lnTo>
                    <a:pt x="699433" y="450735"/>
                  </a:lnTo>
                  <a:lnTo>
                    <a:pt x="684170" y="494677"/>
                  </a:lnTo>
                  <a:lnTo>
                    <a:pt x="663537" y="535795"/>
                  </a:lnTo>
                  <a:lnTo>
                    <a:pt x="637959" y="573664"/>
                  </a:lnTo>
                  <a:lnTo>
                    <a:pt x="607860" y="607860"/>
                  </a:lnTo>
                  <a:lnTo>
                    <a:pt x="573663" y="637959"/>
                  </a:lnTo>
                  <a:lnTo>
                    <a:pt x="535794" y="663538"/>
                  </a:lnTo>
                  <a:lnTo>
                    <a:pt x="494677" y="684170"/>
                  </a:lnTo>
                  <a:lnTo>
                    <a:pt x="450735" y="699433"/>
                  </a:lnTo>
                  <a:lnTo>
                    <a:pt x="404393" y="708902"/>
                  </a:lnTo>
                  <a:lnTo>
                    <a:pt x="356076" y="712153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815579" y="7677904"/>
            <a:ext cx="227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14" b="1"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53741" y="2983929"/>
            <a:ext cx="2907665" cy="1336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600" spc="-645">
                <a:solidFill>
                  <a:srgbClr val="12110F"/>
                </a:solidFill>
                <a:latin typeface="Tahoma"/>
                <a:cs typeface="Tahoma"/>
              </a:rPr>
              <a:t>Tujuan</a:t>
            </a:r>
            <a:endParaRPr sz="8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43905" y="5200015"/>
            <a:ext cx="31273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35">
                <a:solidFill>
                  <a:srgbClr val="12110F"/>
                </a:solidFill>
                <a:latin typeface="Tahoma"/>
                <a:cs typeface="Tahoma"/>
              </a:rPr>
              <a:t>Tiga</a:t>
            </a:r>
            <a:r>
              <a:rPr dirty="0" sz="4800" spc="-3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4800" spc="-290">
                <a:solidFill>
                  <a:srgbClr val="12110F"/>
                </a:solidFill>
                <a:latin typeface="Tahoma"/>
                <a:cs typeface="Tahoma"/>
              </a:rPr>
              <a:t>SaSaran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72344" y="5809615"/>
            <a:ext cx="28708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20">
                <a:solidFill>
                  <a:srgbClr val="12110F"/>
                </a:solidFill>
                <a:latin typeface="Tahoma"/>
                <a:cs typeface="Tahoma"/>
              </a:rPr>
              <a:t>Pemecahan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77739" y="6419215"/>
            <a:ext cx="22599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29">
                <a:solidFill>
                  <a:srgbClr val="12110F"/>
                </a:solidFill>
                <a:latin typeface="Tahoma"/>
                <a:cs typeface="Tahoma"/>
              </a:rPr>
              <a:t>MaSalah: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544397" y="2306122"/>
            <a:ext cx="7654290" cy="1101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2905"/>
              </a:lnSpc>
              <a:spcBef>
                <a:spcPts val="120"/>
              </a:spcBef>
            </a:pPr>
            <a:r>
              <a:rPr dirty="0" sz="2650" spc="120" b="1">
                <a:solidFill>
                  <a:srgbClr val="12110F"/>
                </a:solidFill>
                <a:latin typeface="Trebuchet MS"/>
                <a:cs typeface="Trebuchet MS"/>
              </a:rPr>
              <a:t>Menyederhanakan</a:t>
            </a:r>
            <a:r>
              <a:rPr dirty="0" sz="2650" spc="-5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105" b="1">
                <a:solidFill>
                  <a:srgbClr val="12110F"/>
                </a:solidFill>
                <a:latin typeface="Trebuchet MS"/>
                <a:cs typeface="Trebuchet MS"/>
              </a:rPr>
              <a:t>Pencatatan</a:t>
            </a:r>
            <a:endParaRPr sz="2650">
              <a:latin typeface="Trebuchet MS"/>
              <a:cs typeface="Trebuchet MS"/>
            </a:endParaRPr>
          </a:p>
          <a:p>
            <a:pPr marL="12700" marR="5080">
              <a:lnSpc>
                <a:spcPts val="2630"/>
              </a:lnSpc>
              <a:spcBef>
                <a:spcPts val="270"/>
              </a:spcBef>
            </a:pP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Menyediakan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12110F"/>
                </a:solidFill>
                <a:latin typeface="Tahoma"/>
                <a:cs typeface="Tahoma"/>
              </a:rPr>
              <a:t>antarmuka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60">
                <a:solidFill>
                  <a:srgbClr val="12110F"/>
                </a:solidFill>
                <a:latin typeface="Tahoma"/>
                <a:cs typeface="Tahoma"/>
              </a:rPr>
              <a:t>cepat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mudah untuk</a:t>
            </a:r>
            <a:r>
              <a:rPr dirty="0" sz="26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45">
                <a:solidFill>
                  <a:srgbClr val="12110F"/>
                </a:solidFill>
                <a:latin typeface="Tahoma"/>
                <a:cs typeface="Tahoma"/>
              </a:rPr>
              <a:t>mencatat</a:t>
            </a:r>
            <a:r>
              <a:rPr dirty="0" sz="26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setiap</a:t>
            </a:r>
            <a:r>
              <a:rPr dirty="0" sz="2650" spc="-21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12110F"/>
                </a:solidFill>
                <a:latin typeface="Tahoma"/>
                <a:cs typeface="Tahoma"/>
              </a:rPr>
              <a:t>transaksi</a:t>
            </a:r>
            <a:r>
              <a:rPr dirty="0" sz="26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-10">
                <a:solidFill>
                  <a:srgbClr val="12110F"/>
                </a:solidFill>
                <a:latin typeface="Tahoma"/>
                <a:cs typeface="Tahoma"/>
              </a:rPr>
              <a:t>finansial.</a:t>
            </a:r>
            <a:endParaRPr sz="26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909522" y="4989598"/>
            <a:ext cx="85725" cy="752475"/>
            <a:chOff x="8909522" y="4989598"/>
            <a:chExt cx="85725" cy="75247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9522" y="4989598"/>
              <a:ext cx="85725" cy="857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9522" y="5656348"/>
              <a:ext cx="85725" cy="85724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8544397" y="4427972"/>
            <a:ext cx="8021320" cy="176657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589280" marR="5080" indent="-577215">
              <a:lnSpc>
                <a:spcPts val="2630"/>
              </a:lnSpc>
              <a:spcBef>
                <a:spcPts val="665"/>
              </a:spcBef>
            </a:pPr>
            <a:r>
              <a:rPr dirty="0" sz="2650" spc="150" b="1">
                <a:solidFill>
                  <a:srgbClr val="12110F"/>
                </a:solidFill>
                <a:latin typeface="Trebuchet MS"/>
                <a:cs typeface="Trebuchet MS"/>
              </a:rPr>
              <a:t>Meningkatkan</a:t>
            </a:r>
            <a:r>
              <a:rPr dirty="0" sz="265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130" b="1">
                <a:solidFill>
                  <a:srgbClr val="12110F"/>
                </a:solidFill>
                <a:latin typeface="Trebuchet MS"/>
                <a:cs typeface="Trebuchet MS"/>
              </a:rPr>
              <a:t>Kesadaran</a:t>
            </a:r>
            <a:r>
              <a:rPr dirty="0" sz="2650" spc="-10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45" b="1">
                <a:solidFill>
                  <a:srgbClr val="12110F"/>
                </a:solidFill>
                <a:latin typeface="Trebuchet MS"/>
                <a:cs typeface="Trebuchet MS"/>
              </a:rPr>
              <a:t>Finansial</a:t>
            </a:r>
            <a:r>
              <a:rPr dirty="0" sz="2650" spc="66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Menampilkan</a:t>
            </a:r>
            <a:r>
              <a:rPr dirty="0" sz="2650" spc="-1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12110F"/>
                </a:solidFill>
                <a:latin typeface="Tahoma"/>
                <a:cs typeface="Tahoma"/>
              </a:rPr>
              <a:t>visualisasi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data</a:t>
            </a:r>
            <a:r>
              <a:rPr dirty="0" sz="2650" spc="-1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12110F"/>
                </a:solidFill>
                <a:latin typeface="Tahoma"/>
                <a:cs typeface="Tahoma"/>
              </a:rPr>
              <a:t>jelas</a:t>
            </a:r>
            <a:r>
              <a:rPr dirty="0" sz="2650" spc="-1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55">
                <a:solidFill>
                  <a:srgbClr val="12110F"/>
                </a:solidFill>
                <a:latin typeface="Tahoma"/>
                <a:cs typeface="Tahoma"/>
              </a:rPr>
              <a:t>melalui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Dasbor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12110F"/>
                </a:solidFill>
                <a:latin typeface="Tahoma"/>
                <a:cs typeface="Tahoma"/>
              </a:rPr>
              <a:t>Interaktif.</a:t>
            </a:r>
            <a:endParaRPr sz="2650">
              <a:latin typeface="Tahoma"/>
              <a:cs typeface="Tahoma"/>
            </a:endParaRPr>
          </a:p>
          <a:p>
            <a:pPr marL="589280">
              <a:lnSpc>
                <a:spcPts val="2340"/>
              </a:lnSpc>
            </a:pPr>
            <a:r>
              <a:rPr dirty="0" sz="2650" spc="140">
                <a:solidFill>
                  <a:srgbClr val="12110F"/>
                </a:solidFill>
                <a:latin typeface="Tahoma"/>
                <a:cs typeface="Tahoma"/>
              </a:rPr>
              <a:t>Membantu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pengguna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20">
                <a:solidFill>
                  <a:srgbClr val="12110F"/>
                </a:solidFill>
                <a:latin typeface="Tahoma"/>
                <a:cs typeface="Tahoma"/>
              </a:rPr>
              <a:t>memahami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12110F"/>
                </a:solidFill>
                <a:latin typeface="Tahoma"/>
                <a:cs typeface="Tahoma"/>
              </a:rPr>
              <a:t>pola</a:t>
            </a:r>
            <a:endParaRPr sz="2650">
              <a:latin typeface="Tahoma"/>
              <a:cs typeface="Tahoma"/>
            </a:endParaRPr>
          </a:p>
          <a:p>
            <a:pPr marL="589280">
              <a:lnSpc>
                <a:spcPts val="2905"/>
              </a:lnSpc>
            </a:pPr>
            <a:r>
              <a:rPr dirty="0" sz="2650" spc="90">
                <a:solidFill>
                  <a:srgbClr val="12110F"/>
                </a:solidFill>
                <a:latin typeface="Tahoma"/>
                <a:cs typeface="Tahoma"/>
              </a:rPr>
              <a:t>pengeluaran</a:t>
            </a:r>
            <a:r>
              <a:rPr dirty="0" sz="2650" spc="-21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12110F"/>
                </a:solidFill>
                <a:latin typeface="Tahoma"/>
                <a:cs typeface="Tahoma"/>
              </a:rPr>
              <a:t>dengan</a:t>
            </a:r>
            <a:r>
              <a:rPr dirty="0" sz="2650" spc="-21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-10">
                <a:solidFill>
                  <a:srgbClr val="12110F"/>
                </a:solidFill>
                <a:latin typeface="Tahoma"/>
                <a:cs typeface="Tahoma"/>
              </a:rPr>
              <a:t>mudah.</a:t>
            </a:r>
            <a:endParaRPr sz="26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909522" y="7660295"/>
            <a:ext cx="85725" cy="752475"/>
            <a:chOff x="8909522" y="7660295"/>
            <a:chExt cx="85725" cy="752475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9522" y="7660295"/>
              <a:ext cx="85725" cy="857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9522" y="8327045"/>
              <a:ext cx="85725" cy="85724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8544397" y="7098669"/>
            <a:ext cx="8024495" cy="176657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589280" marR="5080" indent="-577215">
              <a:lnSpc>
                <a:spcPts val="2630"/>
              </a:lnSpc>
              <a:spcBef>
                <a:spcPts val="665"/>
              </a:spcBef>
            </a:pPr>
            <a:r>
              <a:rPr dirty="0" sz="2650" spc="180" b="1">
                <a:solidFill>
                  <a:srgbClr val="12110F"/>
                </a:solidFill>
                <a:latin typeface="Trebuchet MS"/>
                <a:cs typeface="Trebuchet MS"/>
              </a:rPr>
              <a:t>Mendorong</a:t>
            </a:r>
            <a:r>
              <a:rPr dirty="0" sz="265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125" b="1">
                <a:solidFill>
                  <a:srgbClr val="12110F"/>
                </a:solidFill>
                <a:latin typeface="Trebuchet MS"/>
                <a:cs typeface="Trebuchet MS"/>
              </a:rPr>
              <a:t>Kebiasaan</a:t>
            </a:r>
            <a:r>
              <a:rPr dirty="0" sz="265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185" b="1">
                <a:solidFill>
                  <a:srgbClr val="12110F"/>
                </a:solidFill>
                <a:latin typeface="Trebuchet MS"/>
                <a:cs typeface="Trebuchet MS"/>
              </a:rPr>
              <a:t>Menabung </a:t>
            </a:r>
            <a:r>
              <a:rPr dirty="0" sz="2650" spc="120">
                <a:solidFill>
                  <a:srgbClr val="12110F"/>
                </a:solidFill>
                <a:latin typeface="Tahoma"/>
                <a:cs typeface="Tahoma"/>
              </a:rPr>
              <a:t>Mengimplementasikan</a:t>
            </a:r>
            <a:r>
              <a:rPr dirty="0" sz="2650" spc="-2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40">
                <a:solidFill>
                  <a:srgbClr val="12110F"/>
                </a:solidFill>
                <a:latin typeface="Tahoma"/>
                <a:cs typeface="Tahoma"/>
              </a:rPr>
              <a:t>sistem</a:t>
            </a:r>
            <a:r>
              <a:rPr dirty="0" sz="26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20">
                <a:solidFill>
                  <a:srgbClr val="12110F"/>
                </a:solidFill>
                <a:latin typeface="Tahoma"/>
                <a:cs typeface="Tahoma"/>
              </a:rPr>
              <a:t>target</a:t>
            </a:r>
            <a:r>
              <a:rPr dirty="0" sz="26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12110F"/>
                </a:solidFill>
                <a:latin typeface="Tahoma"/>
                <a:cs typeface="Tahoma"/>
              </a:rPr>
              <a:t>tabungan </a:t>
            </a:r>
            <a:r>
              <a:rPr dirty="0" sz="2650" spc="60">
                <a:solidFill>
                  <a:srgbClr val="12110F"/>
                </a:solidFill>
                <a:latin typeface="Tahoma"/>
                <a:cs typeface="Tahoma"/>
              </a:rPr>
              <a:t>cerdas.</a:t>
            </a:r>
            <a:endParaRPr sz="2650">
              <a:latin typeface="Tahoma"/>
              <a:cs typeface="Tahoma"/>
            </a:endParaRPr>
          </a:p>
          <a:p>
            <a:pPr marL="589280">
              <a:lnSpc>
                <a:spcPts val="2340"/>
              </a:lnSpc>
            </a:pPr>
            <a:r>
              <a:rPr dirty="0" sz="2650" spc="100">
                <a:solidFill>
                  <a:srgbClr val="12110F"/>
                </a:solidFill>
                <a:latin typeface="Tahoma"/>
                <a:cs typeface="Tahoma"/>
              </a:rPr>
              <a:t>Didukung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12110F"/>
                </a:solidFill>
                <a:latin typeface="Tahoma"/>
                <a:cs typeface="Tahoma"/>
              </a:rPr>
              <a:t>oleh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12110F"/>
                </a:solidFill>
                <a:latin typeface="Tahoma"/>
                <a:cs typeface="Tahoma"/>
              </a:rPr>
              <a:t>Peringatan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20">
                <a:solidFill>
                  <a:srgbClr val="12110F"/>
                </a:solidFill>
                <a:latin typeface="Tahoma"/>
                <a:cs typeface="Tahoma"/>
              </a:rPr>
              <a:t>berbasis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300">
                <a:solidFill>
                  <a:srgbClr val="12110F"/>
                </a:solidFill>
                <a:latin typeface="Tahoma"/>
                <a:cs typeface="Tahoma"/>
              </a:rPr>
              <a:t>AI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12110F"/>
                </a:solidFill>
                <a:latin typeface="Tahoma"/>
                <a:cs typeface="Tahoma"/>
              </a:rPr>
              <a:t>jika</a:t>
            </a:r>
            <a:r>
              <a:rPr dirty="0" sz="2650" spc="-20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12110F"/>
                </a:solidFill>
                <a:latin typeface="Tahoma"/>
                <a:cs typeface="Tahoma"/>
              </a:rPr>
              <a:t>pola</a:t>
            </a:r>
            <a:endParaRPr sz="2650">
              <a:latin typeface="Tahoma"/>
              <a:cs typeface="Tahoma"/>
            </a:endParaRPr>
          </a:p>
          <a:p>
            <a:pPr marL="589280">
              <a:lnSpc>
                <a:spcPts val="2900"/>
              </a:lnSpc>
            </a:pPr>
            <a:r>
              <a:rPr dirty="0" sz="2650" spc="90">
                <a:solidFill>
                  <a:srgbClr val="12110F"/>
                </a:solidFill>
                <a:latin typeface="Tahoma"/>
                <a:cs typeface="Tahoma"/>
              </a:rPr>
              <a:t>pengeluaran</a:t>
            </a:r>
            <a:r>
              <a:rPr dirty="0" sz="2650" spc="-21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berisiko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30">
                <a:solidFill>
                  <a:srgbClr val="12110F"/>
                </a:solidFill>
                <a:latin typeface="Tahoma"/>
                <a:cs typeface="Tahoma"/>
              </a:rPr>
              <a:t>mengganggu</a:t>
            </a:r>
            <a:r>
              <a:rPr dirty="0" sz="2650" spc="-2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-10">
                <a:solidFill>
                  <a:srgbClr val="12110F"/>
                </a:solidFill>
                <a:latin typeface="Tahoma"/>
                <a:cs typeface="Tahoma"/>
              </a:rPr>
              <a:t>target.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4067" y="9142606"/>
            <a:ext cx="4210049" cy="9524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34679" y="2927592"/>
            <a:ext cx="15875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80"/>
              </a:lnSpc>
            </a:pPr>
            <a:r>
              <a:rPr dirty="0" sz="2400" spc="-220" b="1"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47755" y="2568528"/>
            <a:ext cx="8770620" cy="5486400"/>
            <a:chOff x="647755" y="2568528"/>
            <a:chExt cx="8770620" cy="5486400"/>
          </a:xfrm>
        </p:grpSpPr>
        <p:sp>
          <p:nvSpPr>
            <p:cNvPr id="5" name="object 5" descr=""/>
            <p:cNvSpPr/>
            <p:nvPr/>
          </p:nvSpPr>
          <p:spPr>
            <a:xfrm>
              <a:off x="666749" y="2587578"/>
              <a:ext cx="8733155" cy="5452745"/>
            </a:xfrm>
            <a:custGeom>
              <a:avLst/>
              <a:gdLst/>
              <a:ahLst/>
              <a:cxnLst/>
              <a:rect l="l" t="t" r="r" b="b"/>
              <a:pathLst>
                <a:path w="8733155" h="5452745">
                  <a:moveTo>
                    <a:pt x="8732643" y="5452577"/>
                  </a:moveTo>
                  <a:lnTo>
                    <a:pt x="0" y="5452577"/>
                  </a:lnTo>
                  <a:lnTo>
                    <a:pt x="0" y="0"/>
                  </a:lnTo>
                  <a:lnTo>
                    <a:pt x="8732643" y="0"/>
                  </a:lnTo>
                  <a:lnTo>
                    <a:pt x="8732643" y="5452577"/>
                  </a:lnTo>
                  <a:close/>
                </a:path>
              </a:pathLst>
            </a:custGeom>
            <a:solidFill>
              <a:srgbClr val="FAF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6805" y="2587578"/>
              <a:ext cx="8732520" cy="5448300"/>
            </a:xfrm>
            <a:custGeom>
              <a:avLst/>
              <a:gdLst/>
              <a:ahLst/>
              <a:cxnLst/>
              <a:rect l="l" t="t" r="r" b="b"/>
              <a:pathLst>
                <a:path w="8732520" h="5448300">
                  <a:moveTo>
                    <a:pt x="0" y="5448299"/>
                  </a:moveTo>
                  <a:lnTo>
                    <a:pt x="0" y="0"/>
                  </a:lnTo>
                  <a:lnTo>
                    <a:pt x="8732081" y="0"/>
                  </a:lnTo>
                  <a:lnTo>
                    <a:pt x="8732081" y="5448299"/>
                  </a:lnTo>
                </a:path>
              </a:pathLst>
            </a:custGeom>
            <a:ln w="38099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9744" y="3687409"/>
              <a:ext cx="87921" cy="8792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9744" y="4713162"/>
              <a:ext cx="87921" cy="8792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9744" y="5738915"/>
              <a:ext cx="87921" cy="8792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980591" y="2748991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69" h="712470">
                  <a:moveTo>
                    <a:pt x="356076" y="712152"/>
                  </a:moveTo>
                  <a:lnTo>
                    <a:pt x="307758" y="708902"/>
                  </a:lnTo>
                  <a:lnTo>
                    <a:pt x="261417" y="699433"/>
                  </a:lnTo>
                  <a:lnTo>
                    <a:pt x="217475" y="684170"/>
                  </a:lnTo>
                  <a:lnTo>
                    <a:pt x="176357" y="663537"/>
                  </a:lnTo>
                  <a:lnTo>
                    <a:pt x="138488" y="637959"/>
                  </a:lnTo>
                  <a:lnTo>
                    <a:pt x="104292" y="607860"/>
                  </a:lnTo>
                  <a:lnTo>
                    <a:pt x="74192" y="573664"/>
                  </a:lnTo>
                  <a:lnTo>
                    <a:pt x="48614" y="535794"/>
                  </a:lnTo>
                  <a:lnTo>
                    <a:pt x="27982" y="494677"/>
                  </a:lnTo>
                  <a:lnTo>
                    <a:pt x="12719" y="450735"/>
                  </a:lnTo>
                  <a:lnTo>
                    <a:pt x="3250" y="404393"/>
                  </a:lnTo>
                  <a:lnTo>
                    <a:pt x="0" y="356076"/>
                  </a:lnTo>
                  <a:lnTo>
                    <a:pt x="3250" y="307758"/>
                  </a:lnTo>
                  <a:lnTo>
                    <a:pt x="12719" y="261417"/>
                  </a:lnTo>
                  <a:lnTo>
                    <a:pt x="27982" y="217475"/>
                  </a:lnTo>
                  <a:lnTo>
                    <a:pt x="48614" y="176357"/>
                  </a:lnTo>
                  <a:lnTo>
                    <a:pt x="74192" y="138488"/>
                  </a:lnTo>
                  <a:lnTo>
                    <a:pt x="104292" y="104292"/>
                  </a:lnTo>
                  <a:lnTo>
                    <a:pt x="138488" y="74192"/>
                  </a:lnTo>
                  <a:lnTo>
                    <a:pt x="176357" y="48614"/>
                  </a:lnTo>
                  <a:lnTo>
                    <a:pt x="217475" y="27982"/>
                  </a:lnTo>
                  <a:lnTo>
                    <a:pt x="261417" y="12719"/>
                  </a:lnTo>
                  <a:lnTo>
                    <a:pt x="307758" y="3250"/>
                  </a:lnTo>
                  <a:lnTo>
                    <a:pt x="356076" y="0"/>
                  </a:lnTo>
                  <a:lnTo>
                    <a:pt x="404393" y="3250"/>
                  </a:lnTo>
                  <a:lnTo>
                    <a:pt x="450735" y="12719"/>
                  </a:lnTo>
                  <a:lnTo>
                    <a:pt x="494677" y="27982"/>
                  </a:lnTo>
                  <a:lnTo>
                    <a:pt x="535794" y="48614"/>
                  </a:lnTo>
                  <a:lnTo>
                    <a:pt x="573663" y="74192"/>
                  </a:lnTo>
                  <a:lnTo>
                    <a:pt x="607860" y="104292"/>
                  </a:lnTo>
                  <a:lnTo>
                    <a:pt x="637959" y="138488"/>
                  </a:lnTo>
                  <a:lnTo>
                    <a:pt x="663537" y="176357"/>
                  </a:lnTo>
                  <a:lnTo>
                    <a:pt x="684170" y="217475"/>
                  </a:lnTo>
                  <a:lnTo>
                    <a:pt x="699433" y="261417"/>
                  </a:lnTo>
                  <a:lnTo>
                    <a:pt x="708901" y="307758"/>
                  </a:lnTo>
                  <a:lnTo>
                    <a:pt x="712152" y="356076"/>
                  </a:lnTo>
                  <a:lnTo>
                    <a:pt x="708901" y="404393"/>
                  </a:lnTo>
                  <a:lnTo>
                    <a:pt x="699433" y="450735"/>
                  </a:lnTo>
                  <a:lnTo>
                    <a:pt x="684170" y="494677"/>
                  </a:lnTo>
                  <a:lnTo>
                    <a:pt x="663537" y="535794"/>
                  </a:lnTo>
                  <a:lnTo>
                    <a:pt x="637959" y="573664"/>
                  </a:lnTo>
                  <a:lnTo>
                    <a:pt x="607860" y="607860"/>
                  </a:lnTo>
                  <a:lnTo>
                    <a:pt x="573663" y="637959"/>
                  </a:lnTo>
                  <a:lnTo>
                    <a:pt x="535794" y="663537"/>
                  </a:lnTo>
                  <a:lnTo>
                    <a:pt x="494677" y="684170"/>
                  </a:lnTo>
                  <a:lnTo>
                    <a:pt x="450735" y="699433"/>
                  </a:lnTo>
                  <a:lnTo>
                    <a:pt x="404393" y="708902"/>
                  </a:lnTo>
                  <a:lnTo>
                    <a:pt x="356076" y="71215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57262" y="2613878"/>
            <a:ext cx="7478395" cy="5044440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0"/>
              </a:spcBef>
              <a:tabLst>
                <a:tab pos="716280" algn="l"/>
              </a:tabLst>
            </a:pPr>
            <a:r>
              <a:rPr dirty="0" baseline="1157" sz="3600" spc="-75" b="1">
                <a:latin typeface="Trebuchet MS"/>
                <a:cs typeface="Trebuchet MS"/>
              </a:rPr>
              <a:t>1</a:t>
            </a:r>
            <a:r>
              <a:rPr dirty="0" baseline="1157" sz="3600" b="1">
                <a:latin typeface="Trebuchet MS"/>
                <a:cs typeface="Trebuchet MS"/>
              </a:rPr>
              <a:t>	</a:t>
            </a:r>
            <a:r>
              <a:rPr dirty="0" sz="2750" spc="135" b="1">
                <a:solidFill>
                  <a:srgbClr val="12110F"/>
                </a:solidFill>
                <a:latin typeface="Trebuchet MS"/>
                <a:cs typeface="Trebuchet MS"/>
              </a:rPr>
              <a:t>Fase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-200" b="1">
                <a:solidFill>
                  <a:srgbClr val="12110F"/>
                </a:solidFill>
                <a:latin typeface="Trebuchet MS"/>
                <a:cs typeface="Trebuchet MS"/>
              </a:rPr>
              <a:t>1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280" b="1">
                <a:solidFill>
                  <a:srgbClr val="12110F"/>
                </a:solidFill>
                <a:latin typeface="Trebuchet MS"/>
                <a:cs typeface="Trebuchet MS"/>
              </a:rPr>
              <a:t>-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90" b="1">
                <a:solidFill>
                  <a:srgbClr val="12110F"/>
                </a:solidFill>
                <a:latin typeface="Trebuchet MS"/>
                <a:cs typeface="Trebuchet MS"/>
              </a:rPr>
              <a:t>Analisis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75" b="1">
                <a:solidFill>
                  <a:srgbClr val="12110F"/>
                </a:solidFill>
                <a:latin typeface="Trebuchet MS"/>
                <a:cs typeface="Trebuchet MS"/>
              </a:rPr>
              <a:t>&amp;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120" b="1">
                <a:solidFill>
                  <a:srgbClr val="12110F"/>
                </a:solidFill>
                <a:latin typeface="Trebuchet MS"/>
                <a:cs typeface="Trebuchet MS"/>
              </a:rPr>
              <a:t>Perancangan</a:t>
            </a:r>
            <a:r>
              <a:rPr dirty="0" sz="27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50" spc="140" b="1">
                <a:solidFill>
                  <a:srgbClr val="12110F"/>
                </a:solidFill>
                <a:latin typeface="Trebuchet MS"/>
                <a:cs typeface="Trebuchet MS"/>
              </a:rPr>
              <a:t>Sistem</a:t>
            </a:r>
            <a:endParaRPr sz="2750">
              <a:latin typeface="Trebuchet MS"/>
              <a:cs typeface="Trebuchet MS"/>
            </a:endParaRPr>
          </a:p>
          <a:p>
            <a:pPr marL="1332230" marR="436245">
              <a:lnSpc>
                <a:spcPts val="2690"/>
              </a:lnSpc>
              <a:spcBef>
                <a:spcPts val="2250"/>
              </a:spcBef>
            </a:pPr>
            <a:r>
              <a:rPr dirty="0" sz="2750" spc="85">
                <a:solidFill>
                  <a:srgbClr val="12110F"/>
                </a:solidFill>
                <a:latin typeface="Tahoma"/>
                <a:cs typeface="Tahoma"/>
              </a:rPr>
              <a:t>Menganalisis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kebutuhan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65">
                <a:solidFill>
                  <a:srgbClr val="12110F"/>
                </a:solidFill>
                <a:latin typeface="Tahoma"/>
                <a:cs typeface="Tahoma"/>
              </a:rPr>
              <a:t>fungsional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dengan</a:t>
            </a:r>
            <a:r>
              <a:rPr dirty="0" sz="27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0">
                <a:solidFill>
                  <a:srgbClr val="12110F"/>
                </a:solidFill>
                <a:latin typeface="Tahoma"/>
                <a:cs typeface="Tahoma"/>
              </a:rPr>
              <a:t>melakukan</a:t>
            </a:r>
            <a:r>
              <a:rPr dirty="0" sz="27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0">
                <a:solidFill>
                  <a:srgbClr val="12110F"/>
                </a:solidFill>
                <a:latin typeface="Tahoma"/>
                <a:cs typeface="Tahoma"/>
              </a:rPr>
              <a:t>riset</a:t>
            </a:r>
            <a:r>
              <a:rPr dirty="0" sz="2750" spc="-2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60">
                <a:solidFill>
                  <a:srgbClr val="12110F"/>
                </a:solidFill>
                <a:latin typeface="Tahoma"/>
                <a:cs typeface="Tahoma"/>
              </a:rPr>
              <a:t>aplikasi </a:t>
            </a:r>
            <a:r>
              <a:rPr dirty="0" sz="2750" spc="-10">
                <a:solidFill>
                  <a:srgbClr val="12110F"/>
                </a:solidFill>
                <a:latin typeface="Tahoma"/>
                <a:cs typeface="Tahoma"/>
              </a:rPr>
              <a:t>sejenis.</a:t>
            </a:r>
            <a:endParaRPr sz="2750">
              <a:latin typeface="Tahoma"/>
              <a:cs typeface="Tahoma"/>
            </a:endParaRPr>
          </a:p>
          <a:p>
            <a:pPr marL="1332230" marR="161925">
              <a:lnSpc>
                <a:spcPts val="2690"/>
              </a:lnSpc>
              <a:spcBef>
                <a:spcPts val="5"/>
              </a:spcBef>
            </a:pPr>
            <a:r>
              <a:rPr dirty="0" sz="2750" spc="114">
                <a:solidFill>
                  <a:srgbClr val="12110F"/>
                </a:solidFill>
                <a:latin typeface="Tahoma"/>
                <a:cs typeface="Tahoma"/>
              </a:rPr>
              <a:t>Merancang</a:t>
            </a:r>
            <a:r>
              <a:rPr dirty="0" sz="2750" spc="-1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12110F"/>
                </a:solidFill>
                <a:latin typeface="Tahoma"/>
                <a:cs typeface="Tahoma"/>
              </a:rPr>
              <a:t>alur</a:t>
            </a:r>
            <a:r>
              <a:rPr dirty="0" sz="2750" spc="-1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12110F"/>
                </a:solidFill>
                <a:latin typeface="Tahoma"/>
                <a:cs typeface="Tahoma"/>
              </a:rPr>
              <a:t>kerja</a:t>
            </a:r>
            <a:r>
              <a:rPr dirty="0" sz="2750" spc="-1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25">
                <a:solidFill>
                  <a:srgbClr val="12110F"/>
                </a:solidFill>
                <a:latin typeface="Tahoma"/>
                <a:cs typeface="Tahoma"/>
              </a:rPr>
              <a:t>sistem</a:t>
            </a:r>
            <a:r>
              <a:rPr dirty="0" sz="2750" spc="-1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(system </a:t>
            </a:r>
            <a:r>
              <a:rPr dirty="0" sz="2750" spc="70">
                <a:solidFill>
                  <a:srgbClr val="12110F"/>
                </a:solidFill>
                <a:latin typeface="Tahoma"/>
                <a:cs typeface="Tahoma"/>
              </a:rPr>
              <a:t>workflow),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50">
                <a:solidFill>
                  <a:srgbClr val="12110F"/>
                </a:solidFill>
                <a:latin typeface="Tahoma"/>
                <a:cs typeface="Tahoma"/>
              </a:rPr>
              <a:t>mulai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65">
                <a:solidFill>
                  <a:srgbClr val="12110F"/>
                </a:solidFill>
                <a:latin typeface="Tahoma"/>
                <a:cs typeface="Tahoma"/>
              </a:rPr>
              <a:t>dari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75">
                <a:solidFill>
                  <a:srgbClr val="12110F"/>
                </a:solidFill>
                <a:latin typeface="Tahoma"/>
                <a:cs typeface="Tahoma"/>
              </a:rPr>
              <a:t>registrasi hingga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80">
                <a:solidFill>
                  <a:srgbClr val="12110F"/>
                </a:solidFill>
                <a:latin typeface="Tahoma"/>
                <a:cs typeface="Tahoma"/>
              </a:rPr>
              <a:t>interaksi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dengan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70">
                <a:solidFill>
                  <a:srgbClr val="12110F"/>
                </a:solidFill>
                <a:latin typeface="Tahoma"/>
                <a:cs typeface="Tahoma"/>
              </a:rPr>
              <a:t>fitur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12110F"/>
                </a:solidFill>
                <a:latin typeface="Tahoma"/>
                <a:cs typeface="Tahoma"/>
              </a:rPr>
              <a:t>AI. </a:t>
            </a:r>
            <a:r>
              <a:rPr dirty="0" sz="2750" spc="100">
                <a:solidFill>
                  <a:srgbClr val="12110F"/>
                </a:solidFill>
                <a:latin typeface="Tahoma"/>
                <a:cs typeface="Tahoma"/>
              </a:rPr>
              <a:t>Mengusulkan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0">
                <a:solidFill>
                  <a:srgbClr val="12110F"/>
                </a:solidFill>
                <a:latin typeface="Tahoma"/>
                <a:cs typeface="Tahoma"/>
              </a:rPr>
              <a:t>penggunaan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80">
                <a:solidFill>
                  <a:srgbClr val="12110F"/>
                </a:solidFill>
                <a:latin typeface="Tahoma"/>
                <a:cs typeface="Tahoma"/>
              </a:rPr>
              <a:t>diagram </a:t>
            </a:r>
            <a:r>
              <a:rPr dirty="0" sz="2750" spc="85">
                <a:solidFill>
                  <a:srgbClr val="12110F"/>
                </a:solidFill>
                <a:latin typeface="Tahoma"/>
                <a:cs typeface="Tahoma"/>
              </a:rPr>
              <a:t>Pie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40">
                <a:solidFill>
                  <a:srgbClr val="12110F"/>
                </a:solidFill>
                <a:latin typeface="Tahoma"/>
                <a:cs typeface="Tahoma"/>
              </a:rPr>
              <a:t>Chart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untuk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70">
                <a:solidFill>
                  <a:srgbClr val="12110F"/>
                </a:solidFill>
                <a:latin typeface="Tahoma"/>
                <a:cs typeface="Tahoma"/>
              </a:rPr>
              <a:t>visualisasi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80">
                <a:solidFill>
                  <a:srgbClr val="12110F"/>
                </a:solidFill>
                <a:latin typeface="Tahoma"/>
                <a:cs typeface="Tahoma"/>
              </a:rPr>
              <a:t>data </a:t>
            </a:r>
            <a:r>
              <a:rPr dirty="0" sz="2750">
                <a:solidFill>
                  <a:srgbClr val="12110F"/>
                </a:solidFill>
                <a:latin typeface="Tahoma"/>
                <a:cs typeface="Tahoma"/>
              </a:rPr>
              <a:t>pengeluaran,</a:t>
            </a:r>
            <a:r>
              <a:rPr dirty="0" sz="2750" spc="-1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80">
                <a:solidFill>
                  <a:srgbClr val="12110F"/>
                </a:solidFill>
                <a:latin typeface="Tahoma"/>
                <a:cs typeface="Tahoma"/>
              </a:rPr>
              <a:t>karena</a:t>
            </a:r>
            <a:r>
              <a:rPr dirty="0" sz="2750" spc="-1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85">
                <a:solidFill>
                  <a:srgbClr val="12110F"/>
                </a:solidFill>
                <a:latin typeface="Tahoma"/>
                <a:cs typeface="Tahoma"/>
              </a:rPr>
              <a:t>Pie</a:t>
            </a:r>
            <a:r>
              <a:rPr dirty="0" sz="2750" spc="-1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20">
                <a:solidFill>
                  <a:srgbClr val="12110F"/>
                </a:solidFill>
                <a:latin typeface="Tahoma"/>
                <a:cs typeface="Tahoma"/>
              </a:rPr>
              <a:t>chart</a:t>
            </a:r>
            <a:r>
              <a:rPr dirty="0" sz="2750" spc="-1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12110F"/>
                </a:solidFill>
                <a:latin typeface="Tahoma"/>
                <a:cs typeface="Tahoma"/>
              </a:rPr>
              <a:t>dinilai </a:t>
            </a:r>
            <a:r>
              <a:rPr dirty="0" sz="2750" spc="60">
                <a:solidFill>
                  <a:srgbClr val="12110F"/>
                </a:solidFill>
                <a:latin typeface="Tahoma"/>
                <a:cs typeface="Tahoma"/>
              </a:rPr>
              <a:t>lebih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10">
                <a:solidFill>
                  <a:srgbClr val="12110F"/>
                </a:solidFill>
                <a:latin typeface="Tahoma"/>
                <a:cs typeface="Tahoma"/>
              </a:rPr>
              <a:t>efektif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0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750" spc="-24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00">
                <a:solidFill>
                  <a:srgbClr val="12110F"/>
                </a:solidFill>
                <a:latin typeface="Tahoma"/>
                <a:cs typeface="Tahoma"/>
              </a:rPr>
              <a:t>mudah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70">
                <a:solidFill>
                  <a:srgbClr val="12110F"/>
                </a:solidFill>
                <a:latin typeface="Tahoma"/>
                <a:cs typeface="Tahoma"/>
              </a:rPr>
              <a:t>dipahami oleh</a:t>
            </a:r>
            <a:r>
              <a:rPr dirty="0" sz="2750" spc="-2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05">
                <a:solidFill>
                  <a:srgbClr val="12110F"/>
                </a:solidFill>
                <a:latin typeface="Tahoma"/>
                <a:cs typeface="Tahoma"/>
              </a:rPr>
              <a:t>target</a:t>
            </a:r>
            <a:r>
              <a:rPr dirty="0" sz="2750" spc="-2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pengguna</a:t>
            </a:r>
            <a:r>
              <a:rPr dirty="0" sz="2750" spc="-2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60">
                <a:solidFill>
                  <a:srgbClr val="12110F"/>
                </a:solidFill>
                <a:latin typeface="Tahoma"/>
                <a:cs typeface="Tahoma"/>
              </a:rPr>
              <a:t>(mahasiswa) </a:t>
            </a:r>
            <a:r>
              <a:rPr dirty="0" sz="2750" spc="95">
                <a:solidFill>
                  <a:srgbClr val="12110F"/>
                </a:solidFill>
                <a:latin typeface="Tahoma"/>
                <a:cs typeface="Tahoma"/>
              </a:rPr>
              <a:t>untuk</a:t>
            </a:r>
            <a:r>
              <a:rPr dirty="0" sz="2750" spc="-2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70">
                <a:solidFill>
                  <a:srgbClr val="12110F"/>
                </a:solidFill>
                <a:latin typeface="Tahoma"/>
                <a:cs typeface="Tahoma"/>
              </a:rPr>
              <a:t>melihat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110">
                <a:solidFill>
                  <a:srgbClr val="12110F"/>
                </a:solidFill>
                <a:latin typeface="Tahoma"/>
                <a:cs typeface="Tahoma"/>
              </a:rPr>
              <a:t>proporsi</a:t>
            </a:r>
            <a:r>
              <a:rPr dirty="0" sz="2750" spc="-229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12110F"/>
                </a:solidFill>
                <a:latin typeface="Tahoma"/>
                <a:cs typeface="Tahoma"/>
              </a:rPr>
              <a:t>pengeluaran.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82162" y="3031439"/>
            <a:ext cx="8115299" cy="45624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13410" y="638841"/>
            <a:ext cx="993711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175"/>
              <a:t>Metodologi</a:t>
            </a:r>
            <a:r>
              <a:rPr dirty="0" sz="8800" spc="95"/>
              <a:t> </a:t>
            </a:r>
            <a:r>
              <a:rPr dirty="0" sz="8800" spc="-10"/>
              <a:t>Kerja</a:t>
            </a:r>
            <a:endParaRPr sz="8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6078" y="189105"/>
            <a:ext cx="4210049" cy="952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34679" y="2927592"/>
            <a:ext cx="15875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80"/>
              </a:lnSpc>
            </a:pPr>
            <a:r>
              <a:rPr dirty="0" sz="2400" spc="-220" b="1"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55820" y="2398160"/>
            <a:ext cx="8698230" cy="6133465"/>
            <a:chOff x="255820" y="2398160"/>
            <a:chExt cx="8698230" cy="6133465"/>
          </a:xfrm>
        </p:grpSpPr>
        <p:sp>
          <p:nvSpPr>
            <p:cNvPr id="6" name="object 6" descr=""/>
            <p:cNvSpPr/>
            <p:nvPr/>
          </p:nvSpPr>
          <p:spPr>
            <a:xfrm>
              <a:off x="274793" y="2417210"/>
              <a:ext cx="8660130" cy="6095365"/>
            </a:xfrm>
            <a:custGeom>
              <a:avLst/>
              <a:gdLst/>
              <a:ahLst/>
              <a:cxnLst/>
              <a:rect l="l" t="t" r="r" b="b"/>
              <a:pathLst>
                <a:path w="8660130" h="6095365">
                  <a:moveTo>
                    <a:pt x="8659868" y="6095368"/>
                  </a:moveTo>
                  <a:lnTo>
                    <a:pt x="0" y="6095368"/>
                  </a:lnTo>
                  <a:lnTo>
                    <a:pt x="0" y="0"/>
                  </a:lnTo>
                  <a:lnTo>
                    <a:pt x="8659868" y="0"/>
                  </a:lnTo>
                  <a:lnTo>
                    <a:pt x="8659868" y="6095368"/>
                  </a:lnTo>
                  <a:close/>
                </a:path>
              </a:pathLst>
            </a:custGeom>
            <a:solidFill>
              <a:srgbClr val="FAF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4870" y="2417210"/>
              <a:ext cx="8660130" cy="6095365"/>
            </a:xfrm>
            <a:custGeom>
              <a:avLst/>
              <a:gdLst/>
              <a:ahLst/>
              <a:cxnLst/>
              <a:rect l="l" t="t" r="r" b="b"/>
              <a:pathLst>
                <a:path w="8660130" h="6095365">
                  <a:moveTo>
                    <a:pt x="0" y="0"/>
                  </a:moveTo>
                  <a:lnTo>
                    <a:pt x="8659707" y="0"/>
                  </a:lnTo>
                  <a:lnTo>
                    <a:pt x="8659707" y="6095255"/>
                  </a:lnTo>
                  <a:lnTo>
                    <a:pt x="0" y="6095255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AF9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197" y="3555023"/>
              <a:ext cx="68815" cy="6881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570935" y="2652466"/>
            <a:ext cx="6092190" cy="1649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2700" spc="140" b="1">
                <a:solidFill>
                  <a:srgbClr val="12110F"/>
                </a:solidFill>
                <a:latin typeface="Trebuchet MS"/>
                <a:cs typeface="Trebuchet MS"/>
              </a:rPr>
              <a:t>Fase</a:t>
            </a:r>
            <a:r>
              <a:rPr dirty="0" sz="270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285" b="1">
                <a:solidFill>
                  <a:srgbClr val="12110F"/>
                </a:solidFill>
                <a:latin typeface="Trebuchet MS"/>
                <a:cs typeface="Trebuchet MS"/>
              </a:rPr>
              <a:t>2</a:t>
            </a:r>
            <a:r>
              <a:rPr dirty="0" sz="2700" spc="-12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295" b="1">
                <a:solidFill>
                  <a:srgbClr val="12110F"/>
                </a:solidFill>
                <a:latin typeface="Trebuchet MS"/>
                <a:cs typeface="Trebuchet MS"/>
              </a:rPr>
              <a:t>-</a:t>
            </a:r>
            <a:r>
              <a:rPr dirty="0" sz="2700" spc="-12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70" b="1">
                <a:solidFill>
                  <a:srgbClr val="12110F"/>
                </a:solidFill>
                <a:latin typeface="Trebuchet MS"/>
                <a:cs typeface="Trebuchet MS"/>
              </a:rPr>
              <a:t>Pengujian</a:t>
            </a:r>
            <a:r>
              <a:rPr dirty="0" sz="2700" spc="-12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110" b="1">
                <a:solidFill>
                  <a:srgbClr val="12110F"/>
                </a:solidFill>
                <a:latin typeface="Trebuchet MS"/>
                <a:cs typeface="Trebuchet MS"/>
              </a:rPr>
              <a:t>Fungsional</a:t>
            </a:r>
            <a:r>
              <a:rPr dirty="0" sz="2700" spc="-12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95" b="1">
                <a:solidFill>
                  <a:srgbClr val="12110F"/>
                </a:solidFill>
                <a:latin typeface="Trebuchet MS"/>
                <a:cs typeface="Trebuchet MS"/>
              </a:rPr>
              <a:t>&amp;</a:t>
            </a:r>
            <a:r>
              <a:rPr dirty="0" sz="270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265" b="1">
                <a:solidFill>
                  <a:srgbClr val="12110F"/>
                </a:solidFill>
                <a:latin typeface="Trebuchet MS"/>
                <a:cs typeface="Trebuchet MS"/>
              </a:rPr>
              <a:t>QA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ts val="2440"/>
              </a:lnSpc>
              <a:spcBef>
                <a:spcPts val="40"/>
              </a:spcBef>
            </a:pPr>
            <a:r>
              <a:rPr dirty="0" sz="2150" spc="150" b="1">
                <a:solidFill>
                  <a:srgbClr val="12110F"/>
                </a:solidFill>
                <a:latin typeface="Trebuchet MS"/>
                <a:cs typeface="Trebuchet MS"/>
              </a:rPr>
              <a:t>Metode</a:t>
            </a:r>
            <a:r>
              <a:rPr dirty="0" sz="2150" spc="-3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50" spc="65" b="1">
                <a:solidFill>
                  <a:srgbClr val="12110F"/>
                </a:solidFill>
                <a:latin typeface="Trebuchet MS"/>
                <a:cs typeface="Trebuchet MS"/>
              </a:rPr>
              <a:t>Pengujian</a:t>
            </a:r>
            <a:r>
              <a:rPr dirty="0" sz="2150" spc="-3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50" spc="-440" b="1">
                <a:solidFill>
                  <a:srgbClr val="12110F"/>
                </a:solidFill>
                <a:latin typeface="Trebuchet MS"/>
                <a:cs typeface="Trebuchet MS"/>
              </a:rPr>
              <a:t>:</a:t>
            </a:r>
            <a:endParaRPr sz="2150">
              <a:latin typeface="Trebuchet MS"/>
              <a:cs typeface="Trebuchet MS"/>
            </a:endParaRPr>
          </a:p>
          <a:p>
            <a:pPr algn="just" marL="461645" marR="431800">
              <a:lnSpc>
                <a:spcPts val="2300"/>
              </a:lnSpc>
              <a:spcBef>
                <a:spcPts val="175"/>
              </a:spcBef>
            </a:pPr>
            <a:r>
              <a:rPr dirty="0" sz="2150" spc="150">
                <a:solidFill>
                  <a:srgbClr val="12110F"/>
                </a:solidFill>
                <a:latin typeface="Tahoma"/>
                <a:cs typeface="Tahoma"/>
              </a:rPr>
              <a:t>Black-</a:t>
            </a:r>
            <a:r>
              <a:rPr dirty="0" sz="2150" spc="135">
                <a:solidFill>
                  <a:srgbClr val="12110F"/>
                </a:solidFill>
                <a:latin typeface="Tahoma"/>
                <a:cs typeface="Tahoma"/>
              </a:rPr>
              <a:t>box</a:t>
            </a:r>
            <a:r>
              <a:rPr dirty="0" sz="2150" spc="-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2110F"/>
                </a:solidFill>
                <a:latin typeface="Tahoma"/>
                <a:cs typeface="Tahoma"/>
              </a:rPr>
              <a:t>Testing:</a:t>
            </a:r>
            <a:r>
              <a:rPr dirty="0" sz="2150" spc="-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12110F"/>
                </a:solidFill>
                <a:latin typeface="Tahoma"/>
                <a:cs typeface="Tahoma"/>
              </a:rPr>
              <a:t>Menguji</a:t>
            </a:r>
            <a:r>
              <a:rPr dirty="0" sz="2150" spc="-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12110F"/>
                </a:solidFill>
                <a:latin typeface="Tahoma"/>
                <a:cs typeface="Tahoma"/>
              </a:rPr>
              <a:t>aplikasi</a:t>
            </a:r>
            <a:r>
              <a:rPr dirty="0" sz="2150" spc="-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12110F"/>
                </a:solidFill>
                <a:latin typeface="Tahoma"/>
                <a:cs typeface="Tahoma"/>
              </a:rPr>
              <a:t>dari </a:t>
            </a:r>
            <a:r>
              <a:rPr dirty="0" sz="2150" spc="110">
                <a:solidFill>
                  <a:srgbClr val="12110F"/>
                </a:solidFill>
                <a:latin typeface="Tahoma"/>
                <a:cs typeface="Tahoma"/>
              </a:rPr>
              <a:t>sudut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12110F"/>
                </a:solidFill>
                <a:latin typeface="Tahoma"/>
                <a:cs typeface="Tahoma"/>
              </a:rPr>
              <a:t>pandang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12110F"/>
                </a:solidFill>
                <a:latin typeface="Tahoma"/>
                <a:cs typeface="Tahoma"/>
              </a:rPr>
              <a:t>pengguna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12110F"/>
                </a:solidFill>
                <a:latin typeface="Tahoma"/>
                <a:cs typeface="Tahoma"/>
              </a:rPr>
              <a:t>tanpa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12110F"/>
                </a:solidFill>
                <a:latin typeface="Tahoma"/>
                <a:cs typeface="Tahoma"/>
              </a:rPr>
              <a:t>melihat </a:t>
            </a:r>
            <a:r>
              <a:rPr dirty="0" sz="2150" spc="135">
                <a:solidFill>
                  <a:srgbClr val="12110F"/>
                </a:solidFill>
                <a:latin typeface="Tahoma"/>
                <a:cs typeface="Tahoma"/>
              </a:rPr>
              <a:t>kode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2110F"/>
                </a:solidFill>
                <a:latin typeface="Tahoma"/>
                <a:cs typeface="Tahoma"/>
              </a:rPr>
              <a:t>internal.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46197" y="5017352"/>
            <a:ext cx="69215" cy="2116455"/>
            <a:chOff x="1846197" y="5017352"/>
            <a:chExt cx="69215" cy="211645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197" y="5017352"/>
              <a:ext cx="68815" cy="6881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6197" y="5894750"/>
              <a:ext cx="68815" cy="6881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197" y="7064614"/>
              <a:ext cx="68815" cy="68815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570935" y="4534986"/>
            <a:ext cx="6119495" cy="3276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ts val="2440"/>
              </a:lnSpc>
              <a:spcBef>
                <a:spcPts val="90"/>
              </a:spcBef>
            </a:pPr>
            <a:r>
              <a:rPr dirty="0" sz="2150" spc="100" b="1">
                <a:solidFill>
                  <a:srgbClr val="12110F"/>
                </a:solidFill>
                <a:latin typeface="Trebuchet MS"/>
                <a:cs typeface="Trebuchet MS"/>
              </a:rPr>
              <a:t>Lingkup</a:t>
            </a:r>
            <a:r>
              <a:rPr dirty="0" sz="2150" spc="-3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50" spc="65" b="1">
                <a:solidFill>
                  <a:srgbClr val="12110F"/>
                </a:solidFill>
                <a:latin typeface="Trebuchet MS"/>
                <a:cs typeface="Trebuchet MS"/>
              </a:rPr>
              <a:t>Pengujian</a:t>
            </a:r>
            <a:r>
              <a:rPr dirty="0" sz="2150" spc="-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50" spc="-440" b="1">
                <a:solidFill>
                  <a:srgbClr val="12110F"/>
                </a:solidFill>
                <a:latin typeface="Trebuchet MS"/>
                <a:cs typeface="Trebuchet MS"/>
              </a:rPr>
              <a:t>:</a:t>
            </a:r>
            <a:endParaRPr sz="2150">
              <a:latin typeface="Trebuchet MS"/>
              <a:cs typeface="Trebuchet MS"/>
            </a:endParaRPr>
          </a:p>
          <a:p>
            <a:pPr marL="461645" marR="458470">
              <a:lnSpc>
                <a:spcPts val="2300"/>
              </a:lnSpc>
              <a:spcBef>
                <a:spcPts val="170"/>
              </a:spcBef>
            </a:pPr>
            <a:r>
              <a:rPr dirty="0" sz="2150" spc="100">
                <a:solidFill>
                  <a:srgbClr val="12110F"/>
                </a:solidFill>
                <a:latin typeface="Tahoma"/>
                <a:cs typeface="Tahoma"/>
              </a:rPr>
              <a:t>Otentikasi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12110F"/>
                </a:solidFill>
                <a:latin typeface="Tahoma"/>
                <a:cs typeface="Tahoma"/>
              </a:rPr>
              <a:t>Pengguna: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Verifikasi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30">
                <a:solidFill>
                  <a:srgbClr val="12110F"/>
                </a:solidFill>
                <a:latin typeface="Tahoma"/>
                <a:cs typeface="Tahoma"/>
              </a:rPr>
              <a:t>alur </a:t>
            </a:r>
            <a:r>
              <a:rPr dirty="0" sz="2150" spc="55">
                <a:solidFill>
                  <a:srgbClr val="12110F"/>
                </a:solidFill>
                <a:latin typeface="Tahoma"/>
                <a:cs typeface="Tahoma"/>
              </a:rPr>
              <a:t>registrasi,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2110F"/>
                </a:solidFill>
                <a:latin typeface="Tahoma"/>
                <a:cs typeface="Tahoma"/>
              </a:rPr>
              <a:t>login,</a:t>
            </a:r>
            <a:r>
              <a:rPr dirty="0" sz="2150" spc="-1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12110F"/>
                </a:solidFill>
                <a:latin typeface="Tahoma"/>
                <a:cs typeface="Tahoma"/>
              </a:rPr>
              <a:t>logout,</a:t>
            </a:r>
            <a:r>
              <a:rPr dirty="0" sz="2150" spc="-1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12110F"/>
                </a:solidFill>
                <a:latin typeface="Tahoma"/>
                <a:cs typeface="Tahoma"/>
              </a:rPr>
              <a:t>penanganan </a:t>
            </a:r>
            <a:r>
              <a:rPr dirty="0" sz="2150" spc="120">
                <a:solidFill>
                  <a:srgbClr val="12110F"/>
                </a:solidFill>
                <a:latin typeface="Tahoma"/>
                <a:cs typeface="Tahoma"/>
              </a:rPr>
              <a:t>kasus</a:t>
            </a:r>
            <a:r>
              <a:rPr dirty="0" sz="2150" spc="-13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12110F"/>
                </a:solidFill>
                <a:latin typeface="Tahoma"/>
                <a:cs typeface="Tahoma"/>
              </a:rPr>
              <a:t>error.</a:t>
            </a:r>
            <a:endParaRPr sz="2150">
              <a:latin typeface="Tahoma"/>
              <a:cs typeface="Tahoma"/>
            </a:endParaRPr>
          </a:p>
          <a:p>
            <a:pPr marL="461645" marR="5080">
              <a:lnSpc>
                <a:spcPts val="2300"/>
              </a:lnSpc>
              <a:spcBef>
                <a:spcPts val="10"/>
              </a:spcBef>
            </a:pPr>
            <a:r>
              <a:rPr dirty="0" sz="2150" spc="85">
                <a:solidFill>
                  <a:srgbClr val="12110F"/>
                </a:solidFill>
                <a:latin typeface="Tahoma"/>
                <a:cs typeface="Tahoma"/>
              </a:rPr>
              <a:t>Manajemen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12110F"/>
                </a:solidFill>
                <a:latin typeface="Tahoma"/>
                <a:cs typeface="Tahoma"/>
              </a:rPr>
              <a:t>Data: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12110F"/>
                </a:solidFill>
                <a:latin typeface="Tahoma"/>
                <a:cs typeface="Tahoma"/>
              </a:rPr>
              <a:t>Memastikan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12110F"/>
                </a:solidFill>
                <a:latin typeface="Tahoma"/>
                <a:cs typeface="Tahoma"/>
              </a:rPr>
              <a:t>data </a:t>
            </a:r>
            <a:r>
              <a:rPr dirty="0" sz="2150" spc="85">
                <a:solidFill>
                  <a:srgbClr val="12110F"/>
                </a:solidFill>
                <a:latin typeface="Tahoma"/>
                <a:cs typeface="Tahoma"/>
              </a:rPr>
              <a:t>pengeluaran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70">
                <a:solidFill>
                  <a:srgbClr val="12110F"/>
                </a:solidFill>
                <a:latin typeface="Tahoma"/>
                <a:cs typeface="Tahoma"/>
              </a:rPr>
              <a:t>&amp;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12110F"/>
                </a:solidFill>
                <a:latin typeface="Tahoma"/>
                <a:cs typeface="Tahoma"/>
              </a:rPr>
              <a:t>anggaran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12110F"/>
                </a:solidFill>
                <a:latin typeface="Tahoma"/>
                <a:cs typeface="Tahoma"/>
              </a:rPr>
              <a:t>tersimpan</a:t>
            </a:r>
            <a:r>
              <a:rPr dirty="0" sz="2150" spc="-11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dengan benar</a:t>
            </a:r>
            <a:r>
              <a:rPr dirty="0" sz="2150" spc="-13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12110F"/>
                </a:solidFill>
                <a:latin typeface="Tahoma"/>
                <a:cs typeface="Tahoma"/>
              </a:rPr>
              <a:t>di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12110F"/>
                </a:solidFill>
                <a:latin typeface="Tahoma"/>
                <a:cs typeface="Tahoma"/>
              </a:rPr>
              <a:t>Firebase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tampil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akurat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12110F"/>
                </a:solidFill>
                <a:latin typeface="Tahoma"/>
                <a:cs typeface="Tahoma"/>
              </a:rPr>
              <a:t>di </a:t>
            </a:r>
            <a:r>
              <a:rPr dirty="0" sz="2150" spc="45">
                <a:solidFill>
                  <a:srgbClr val="12110F"/>
                </a:solidFill>
                <a:latin typeface="Tahoma"/>
                <a:cs typeface="Tahoma"/>
              </a:rPr>
              <a:t>dasbor.</a:t>
            </a:r>
            <a:endParaRPr sz="2150">
              <a:latin typeface="Tahoma"/>
              <a:cs typeface="Tahoma"/>
            </a:endParaRPr>
          </a:p>
          <a:p>
            <a:pPr marL="461645" marR="269875">
              <a:lnSpc>
                <a:spcPts val="2300"/>
              </a:lnSpc>
              <a:spcBef>
                <a:spcPts val="10"/>
              </a:spcBef>
            </a:pPr>
            <a:r>
              <a:rPr dirty="0" sz="2150" spc="110">
                <a:solidFill>
                  <a:srgbClr val="12110F"/>
                </a:solidFill>
                <a:latin typeface="Tahoma"/>
                <a:cs typeface="Tahoma"/>
              </a:rPr>
              <a:t>Interaktivitas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12110F"/>
                </a:solidFill>
                <a:latin typeface="Tahoma"/>
                <a:cs typeface="Tahoma"/>
              </a:rPr>
              <a:t>Antarmuka: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12110F"/>
                </a:solidFill>
                <a:latin typeface="Tahoma"/>
                <a:cs typeface="Tahoma"/>
              </a:rPr>
              <a:t>Menguji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12110F"/>
                </a:solidFill>
                <a:latin typeface="Tahoma"/>
                <a:cs typeface="Tahoma"/>
              </a:rPr>
              <a:t>semua elemen</a:t>
            </a:r>
            <a:r>
              <a:rPr dirty="0" sz="2150" spc="-3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12110F"/>
                </a:solidFill>
                <a:latin typeface="Tahoma"/>
                <a:cs typeface="Tahoma"/>
              </a:rPr>
              <a:t>interaktif</a:t>
            </a:r>
            <a:r>
              <a:rPr dirty="0" sz="2150" spc="-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12110F"/>
                </a:solidFill>
                <a:latin typeface="Tahoma"/>
                <a:cs typeface="Tahoma"/>
              </a:rPr>
              <a:t>(tombol,</a:t>
            </a:r>
            <a:r>
              <a:rPr dirty="0" sz="2150" spc="-3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12110F"/>
                </a:solidFill>
                <a:latin typeface="Tahoma"/>
                <a:cs typeface="Tahoma"/>
              </a:rPr>
              <a:t>sidebar)</a:t>
            </a:r>
            <a:r>
              <a:rPr dirty="0" sz="2150" spc="-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12110F"/>
                </a:solidFill>
                <a:latin typeface="Tahoma"/>
                <a:cs typeface="Tahoma"/>
              </a:rPr>
              <a:t>agar </a:t>
            </a:r>
            <a:r>
              <a:rPr dirty="0" sz="2150" spc="100">
                <a:solidFill>
                  <a:srgbClr val="12110F"/>
                </a:solidFill>
                <a:latin typeface="Tahoma"/>
                <a:cs typeface="Tahoma"/>
              </a:rPr>
              <a:t>berfungsi</a:t>
            </a:r>
            <a:r>
              <a:rPr dirty="0" sz="2150" spc="-12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12110F"/>
                </a:solidFill>
                <a:latin typeface="Tahoma"/>
                <a:cs typeface="Tahoma"/>
              </a:rPr>
              <a:t>lancar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12110F"/>
                </a:solidFill>
                <a:latin typeface="Tahoma"/>
                <a:cs typeface="Tahoma"/>
              </a:rPr>
              <a:t>di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12110F"/>
                </a:solidFill>
                <a:latin typeface="Tahoma"/>
                <a:cs typeface="Tahoma"/>
              </a:rPr>
              <a:t>berbagai</a:t>
            </a:r>
            <a:r>
              <a:rPr dirty="0" sz="2150" spc="-12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12110F"/>
                </a:solidFill>
                <a:latin typeface="Tahoma"/>
                <a:cs typeface="Tahoma"/>
              </a:rPr>
              <a:t>perangkat.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2623" y="2565285"/>
            <a:ext cx="712470" cy="712470"/>
          </a:xfrm>
          <a:custGeom>
            <a:avLst/>
            <a:gdLst/>
            <a:ahLst/>
            <a:cxnLst/>
            <a:rect l="l" t="t" r="r" b="b"/>
            <a:pathLst>
              <a:path w="712469" h="712470">
                <a:moveTo>
                  <a:pt x="356076" y="712152"/>
                </a:moveTo>
                <a:lnTo>
                  <a:pt x="307758" y="708902"/>
                </a:lnTo>
                <a:lnTo>
                  <a:pt x="261417" y="699433"/>
                </a:lnTo>
                <a:lnTo>
                  <a:pt x="217475" y="684170"/>
                </a:lnTo>
                <a:lnTo>
                  <a:pt x="176357" y="663537"/>
                </a:lnTo>
                <a:lnTo>
                  <a:pt x="138488" y="637959"/>
                </a:lnTo>
                <a:lnTo>
                  <a:pt x="104292" y="607860"/>
                </a:lnTo>
                <a:lnTo>
                  <a:pt x="74192" y="573663"/>
                </a:lnTo>
                <a:lnTo>
                  <a:pt x="48614" y="535794"/>
                </a:lnTo>
                <a:lnTo>
                  <a:pt x="27982" y="494677"/>
                </a:lnTo>
                <a:lnTo>
                  <a:pt x="12719" y="450735"/>
                </a:lnTo>
                <a:lnTo>
                  <a:pt x="3250" y="404393"/>
                </a:lnTo>
                <a:lnTo>
                  <a:pt x="0" y="356076"/>
                </a:lnTo>
                <a:lnTo>
                  <a:pt x="3250" y="307758"/>
                </a:lnTo>
                <a:lnTo>
                  <a:pt x="12719" y="261417"/>
                </a:lnTo>
                <a:lnTo>
                  <a:pt x="27982" y="217475"/>
                </a:lnTo>
                <a:lnTo>
                  <a:pt x="48614" y="176357"/>
                </a:lnTo>
                <a:lnTo>
                  <a:pt x="74192" y="138488"/>
                </a:lnTo>
                <a:lnTo>
                  <a:pt x="104292" y="104292"/>
                </a:lnTo>
                <a:lnTo>
                  <a:pt x="138488" y="74192"/>
                </a:lnTo>
                <a:lnTo>
                  <a:pt x="176357" y="48614"/>
                </a:lnTo>
                <a:lnTo>
                  <a:pt x="217475" y="27982"/>
                </a:lnTo>
                <a:lnTo>
                  <a:pt x="261417" y="12719"/>
                </a:lnTo>
                <a:lnTo>
                  <a:pt x="307758" y="3250"/>
                </a:lnTo>
                <a:lnTo>
                  <a:pt x="356076" y="0"/>
                </a:lnTo>
                <a:lnTo>
                  <a:pt x="404393" y="3250"/>
                </a:lnTo>
                <a:lnTo>
                  <a:pt x="450735" y="12719"/>
                </a:lnTo>
                <a:lnTo>
                  <a:pt x="494677" y="27982"/>
                </a:lnTo>
                <a:lnTo>
                  <a:pt x="535794" y="48614"/>
                </a:lnTo>
                <a:lnTo>
                  <a:pt x="573663" y="74192"/>
                </a:lnTo>
                <a:lnTo>
                  <a:pt x="607860" y="104292"/>
                </a:lnTo>
                <a:lnTo>
                  <a:pt x="637959" y="138488"/>
                </a:lnTo>
                <a:lnTo>
                  <a:pt x="663537" y="176357"/>
                </a:lnTo>
                <a:lnTo>
                  <a:pt x="684170" y="217475"/>
                </a:lnTo>
                <a:lnTo>
                  <a:pt x="699433" y="261417"/>
                </a:lnTo>
                <a:lnTo>
                  <a:pt x="708902" y="307758"/>
                </a:lnTo>
                <a:lnTo>
                  <a:pt x="712152" y="356076"/>
                </a:lnTo>
                <a:lnTo>
                  <a:pt x="708902" y="404393"/>
                </a:lnTo>
                <a:lnTo>
                  <a:pt x="699433" y="450735"/>
                </a:lnTo>
                <a:lnTo>
                  <a:pt x="684170" y="494677"/>
                </a:lnTo>
                <a:lnTo>
                  <a:pt x="663537" y="535794"/>
                </a:lnTo>
                <a:lnTo>
                  <a:pt x="637959" y="573663"/>
                </a:lnTo>
                <a:lnTo>
                  <a:pt x="607860" y="607860"/>
                </a:lnTo>
                <a:lnTo>
                  <a:pt x="573663" y="637959"/>
                </a:lnTo>
                <a:lnTo>
                  <a:pt x="535794" y="663537"/>
                </a:lnTo>
                <a:lnTo>
                  <a:pt x="494677" y="684170"/>
                </a:lnTo>
                <a:lnTo>
                  <a:pt x="450735" y="699433"/>
                </a:lnTo>
                <a:lnTo>
                  <a:pt x="404393" y="708902"/>
                </a:lnTo>
                <a:lnTo>
                  <a:pt x="356076" y="71215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23250" y="2676410"/>
            <a:ext cx="223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190" b="1"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0" y="2207715"/>
            <a:ext cx="4562474" cy="436244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96078" y="5143500"/>
            <a:ext cx="4086224" cy="401954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46386" y="447513"/>
            <a:ext cx="993711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175"/>
              <a:t>Metodologi</a:t>
            </a:r>
            <a:r>
              <a:rPr dirty="0" sz="8800" spc="95"/>
              <a:t> </a:t>
            </a:r>
            <a:r>
              <a:rPr dirty="0" sz="8800" spc="-10"/>
              <a:t>Kerja</a:t>
            </a:r>
            <a:endParaRPr sz="8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6078" y="189105"/>
            <a:ext cx="4210049" cy="952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27417" y="2752610"/>
            <a:ext cx="466090" cy="4800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80"/>
              </a:lnSpc>
            </a:pPr>
            <a:r>
              <a:rPr dirty="0" sz="2400" spc="165" b="1">
                <a:latin typeface="Trebuchet MS"/>
                <a:cs typeface="Trebuchet MS"/>
              </a:rPr>
              <a:t>3</a:t>
            </a:r>
            <a:r>
              <a:rPr dirty="0" sz="2400" spc="105" b="1">
                <a:latin typeface="Trebuchet MS"/>
                <a:cs typeface="Trebuchet MS"/>
              </a:rPr>
              <a:t> </a:t>
            </a:r>
            <a:r>
              <a:rPr dirty="0" baseline="-32407" sz="3600" spc="-315" b="1">
                <a:latin typeface="Trebuchet MS"/>
                <a:cs typeface="Trebuchet MS"/>
              </a:rPr>
              <a:t>1</a:t>
            </a:r>
            <a:endParaRPr baseline="-32407" sz="360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72623" y="2565285"/>
            <a:ext cx="1020444" cy="895985"/>
            <a:chOff x="672623" y="2565285"/>
            <a:chExt cx="1020444" cy="895985"/>
          </a:xfrm>
        </p:grpSpPr>
        <p:sp>
          <p:nvSpPr>
            <p:cNvPr id="6" name="object 6" descr=""/>
            <p:cNvSpPr/>
            <p:nvPr/>
          </p:nvSpPr>
          <p:spPr>
            <a:xfrm>
              <a:off x="935237" y="2730743"/>
              <a:ext cx="757555" cy="730885"/>
            </a:xfrm>
            <a:custGeom>
              <a:avLst/>
              <a:gdLst/>
              <a:ahLst/>
              <a:cxnLst/>
              <a:rect l="l" t="t" r="r" b="b"/>
              <a:pathLst>
                <a:path w="757555" h="730885">
                  <a:moveTo>
                    <a:pt x="378753" y="730401"/>
                  </a:moveTo>
                  <a:lnTo>
                    <a:pt x="331243" y="727556"/>
                  </a:lnTo>
                  <a:lnTo>
                    <a:pt x="285494" y="719248"/>
                  </a:lnTo>
                  <a:lnTo>
                    <a:pt x="241861" y="705819"/>
                  </a:lnTo>
                  <a:lnTo>
                    <a:pt x="200699" y="687612"/>
                  </a:lnTo>
                  <a:lnTo>
                    <a:pt x="162363" y="664969"/>
                  </a:lnTo>
                  <a:lnTo>
                    <a:pt x="127208" y="638233"/>
                  </a:lnTo>
                  <a:lnTo>
                    <a:pt x="95588" y="607745"/>
                  </a:lnTo>
                  <a:lnTo>
                    <a:pt x="67859" y="573847"/>
                  </a:lnTo>
                  <a:lnTo>
                    <a:pt x="44376" y="536883"/>
                  </a:lnTo>
                  <a:lnTo>
                    <a:pt x="25494" y="497194"/>
                  </a:lnTo>
                  <a:lnTo>
                    <a:pt x="11567" y="455122"/>
                  </a:lnTo>
                  <a:lnTo>
                    <a:pt x="2951" y="411010"/>
                  </a:lnTo>
                  <a:lnTo>
                    <a:pt x="0" y="365200"/>
                  </a:lnTo>
                  <a:lnTo>
                    <a:pt x="2951" y="319390"/>
                  </a:lnTo>
                  <a:lnTo>
                    <a:pt x="11567" y="275278"/>
                  </a:lnTo>
                  <a:lnTo>
                    <a:pt x="25494" y="233207"/>
                  </a:lnTo>
                  <a:lnTo>
                    <a:pt x="44376" y="193518"/>
                  </a:lnTo>
                  <a:lnTo>
                    <a:pt x="67859" y="156553"/>
                  </a:lnTo>
                  <a:lnTo>
                    <a:pt x="95588" y="122656"/>
                  </a:lnTo>
                  <a:lnTo>
                    <a:pt x="127208" y="92168"/>
                  </a:lnTo>
                  <a:lnTo>
                    <a:pt x="162363" y="65431"/>
                  </a:lnTo>
                  <a:lnTo>
                    <a:pt x="200699" y="42788"/>
                  </a:lnTo>
                  <a:lnTo>
                    <a:pt x="241861" y="24582"/>
                  </a:lnTo>
                  <a:lnTo>
                    <a:pt x="285494" y="11153"/>
                  </a:lnTo>
                  <a:lnTo>
                    <a:pt x="331243" y="2845"/>
                  </a:lnTo>
                  <a:lnTo>
                    <a:pt x="378753" y="0"/>
                  </a:lnTo>
                  <a:lnTo>
                    <a:pt x="426263" y="2845"/>
                  </a:lnTo>
                  <a:lnTo>
                    <a:pt x="472012" y="11153"/>
                  </a:lnTo>
                  <a:lnTo>
                    <a:pt x="515644" y="24582"/>
                  </a:lnTo>
                  <a:lnTo>
                    <a:pt x="556806" y="42788"/>
                  </a:lnTo>
                  <a:lnTo>
                    <a:pt x="595142" y="65431"/>
                  </a:lnTo>
                  <a:lnTo>
                    <a:pt x="630298" y="92168"/>
                  </a:lnTo>
                  <a:lnTo>
                    <a:pt x="661917" y="122656"/>
                  </a:lnTo>
                  <a:lnTo>
                    <a:pt x="689646" y="156553"/>
                  </a:lnTo>
                  <a:lnTo>
                    <a:pt x="713129" y="193518"/>
                  </a:lnTo>
                  <a:lnTo>
                    <a:pt x="732011" y="233207"/>
                  </a:lnTo>
                  <a:lnTo>
                    <a:pt x="745938" y="275278"/>
                  </a:lnTo>
                  <a:lnTo>
                    <a:pt x="754555" y="319390"/>
                  </a:lnTo>
                  <a:lnTo>
                    <a:pt x="757506" y="365200"/>
                  </a:lnTo>
                  <a:lnTo>
                    <a:pt x="754555" y="411010"/>
                  </a:lnTo>
                  <a:lnTo>
                    <a:pt x="745938" y="455122"/>
                  </a:lnTo>
                  <a:lnTo>
                    <a:pt x="732011" y="497194"/>
                  </a:lnTo>
                  <a:lnTo>
                    <a:pt x="713129" y="536883"/>
                  </a:lnTo>
                  <a:lnTo>
                    <a:pt x="689646" y="573847"/>
                  </a:lnTo>
                  <a:lnTo>
                    <a:pt x="661917" y="607745"/>
                  </a:lnTo>
                  <a:lnTo>
                    <a:pt x="630298" y="638233"/>
                  </a:lnTo>
                  <a:lnTo>
                    <a:pt x="595142" y="664969"/>
                  </a:lnTo>
                  <a:lnTo>
                    <a:pt x="556806" y="687612"/>
                  </a:lnTo>
                  <a:lnTo>
                    <a:pt x="515644" y="705819"/>
                  </a:lnTo>
                  <a:lnTo>
                    <a:pt x="472012" y="719248"/>
                  </a:lnTo>
                  <a:lnTo>
                    <a:pt x="426263" y="727556"/>
                  </a:lnTo>
                  <a:lnTo>
                    <a:pt x="378753" y="730401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72623" y="2565285"/>
              <a:ext cx="712470" cy="712470"/>
            </a:xfrm>
            <a:custGeom>
              <a:avLst/>
              <a:gdLst/>
              <a:ahLst/>
              <a:cxnLst/>
              <a:rect l="l" t="t" r="r" b="b"/>
              <a:pathLst>
                <a:path w="712469" h="712470">
                  <a:moveTo>
                    <a:pt x="356076" y="712152"/>
                  </a:moveTo>
                  <a:lnTo>
                    <a:pt x="307758" y="708902"/>
                  </a:lnTo>
                  <a:lnTo>
                    <a:pt x="261417" y="699433"/>
                  </a:lnTo>
                  <a:lnTo>
                    <a:pt x="217475" y="684170"/>
                  </a:lnTo>
                  <a:lnTo>
                    <a:pt x="176357" y="663537"/>
                  </a:lnTo>
                  <a:lnTo>
                    <a:pt x="138488" y="637959"/>
                  </a:lnTo>
                  <a:lnTo>
                    <a:pt x="104292" y="607860"/>
                  </a:lnTo>
                  <a:lnTo>
                    <a:pt x="74192" y="573663"/>
                  </a:lnTo>
                  <a:lnTo>
                    <a:pt x="48614" y="535794"/>
                  </a:lnTo>
                  <a:lnTo>
                    <a:pt x="27982" y="494677"/>
                  </a:lnTo>
                  <a:lnTo>
                    <a:pt x="12719" y="450735"/>
                  </a:lnTo>
                  <a:lnTo>
                    <a:pt x="3250" y="404393"/>
                  </a:lnTo>
                  <a:lnTo>
                    <a:pt x="0" y="356076"/>
                  </a:lnTo>
                  <a:lnTo>
                    <a:pt x="3250" y="307758"/>
                  </a:lnTo>
                  <a:lnTo>
                    <a:pt x="12719" y="261417"/>
                  </a:lnTo>
                  <a:lnTo>
                    <a:pt x="27982" y="217475"/>
                  </a:lnTo>
                  <a:lnTo>
                    <a:pt x="48614" y="176357"/>
                  </a:lnTo>
                  <a:lnTo>
                    <a:pt x="74192" y="138488"/>
                  </a:lnTo>
                  <a:lnTo>
                    <a:pt x="104292" y="104292"/>
                  </a:lnTo>
                  <a:lnTo>
                    <a:pt x="138488" y="74192"/>
                  </a:lnTo>
                  <a:lnTo>
                    <a:pt x="176357" y="48614"/>
                  </a:lnTo>
                  <a:lnTo>
                    <a:pt x="217475" y="27982"/>
                  </a:lnTo>
                  <a:lnTo>
                    <a:pt x="261417" y="12719"/>
                  </a:lnTo>
                  <a:lnTo>
                    <a:pt x="307758" y="3250"/>
                  </a:lnTo>
                  <a:lnTo>
                    <a:pt x="356076" y="0"/>
                  </a:lnTo>
                  <a:lnTo>
                    <a:pt x="404393" y="3250"/>
                  </a:lnTo>
                  <a:lnTo>
                    <a:pt x="450735" y="12719"/>
                  </a:lnTo>
                  <a:lnTo>
                    <a:pt x="494677" y="27982"/>
                  </a:lnTo>
                  <a:lnTo>
                    <a:pt x="535794" y="48614"/>
                  </a:lnTo>
                  <a:lnTo>
                    <a:pt x="573663" y="74192"/>
                  </a:lnTo>
                  <a:lnTo>
                    <a:pt x="607860" y="104292"/>
                  </a:lnTo>
                  <a:lnTo>
                    <a:pt x="637959" y="138488"/>
                  </a:lnTo>
                  <a:lnTo>
                    <a:pt x="663537" y="176357"/>
                  </a:lnTo>
                  <a:lnTo>
                    <a:pt x="684170" y="217475"/>
                  </a:lnTo>
                  <a:lnTo>
                    <a:pt x="699433" y="261417"/>
                  </a:lnTo>
                  <a:lnTo>
                    <a:pt x="708902" y="307758"/>
                  </a:lnTo>
                  <a:lnTo>
                    <a:pt x="712152" y="356076"/>
                  </a:lnTo>
                  <a:lnTo>
                    <a:pt x="708902" y="404393"/>
                  </a:lnTo>
                  <a:lnTo>
                    <a:pt x="699433" y="450735"/>
                  </a:lnTo>
                  <a:lnTo>
                    <a:pt x="684170" y="494677"/>
                  </a:lnTo>
                  <a:lnTo>
                    <a:pt x="663537" y="535794"/>
                  </a:lnTo>
                  <a:lnTo>
                    <a:pt x="637959" y="573663"/>
                  </a:lnTo>
                  <a:lnTo>
                    <a:pt x="607860" y="607860"/>
                  </a:lnTo>
                  <a:lnTo>
                    <a:pt x="573663" y="637959"/>
                  </a:lnTo>
                  <a:lnTo>
                    <a:pt x="535794" y="663537"/>
                  </a:lnTo>
                  <a:lnTo>
                    <a:pt x="494677" y="684170"/>
                  </a:lnTo>
                  <a:lnTo>
                    <a:pt x="450735" y="699433"/>
                  </a:lnTo>
                  <a:lnTo>
                    <a:pt x="404393" y="708902"/>
                  </a:lnTo>
                  <a:lnTo>
                    <a:pt x="356076" y="71215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3912806"/>
            <a:ext cx="9039224" cy="254317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97947" y="2711693"/>
            <a:ext cx="8696325" cy="5248275"/>
            <a:chOff x="297947" y="2711693"/>
            <a:chExt cx="8696325" cy="5248275"/>
          </a:xfrm>
        </p:grpSpPr>
        <p:sp>
          <p:nvSpPr>
            <p:cNvPr id="10" name="object 10" descr=""/>
            <p:cNvSpPr/>
            <p:nvPr/>
          </p:nvSpPr>
          <p:spPr>
            <a:xfrm>
              <a:off x="316939" y="2730742"/>
              <a:ext cx="8655685" cy="5213985"/>
            </a:xfrm>
            <a:custGeom>
              <a:avLst/>
              <a:gdLst/>
              <a:ahLst/>
              <a:cxnLst/>
              <a:rect l="l" t="t" r="r" b="b"/>
              <a:pathLst>
                <a:path w="8655685" h="5213984">
                  <a:moveTo>
                    <a:pt x="8655509" y="5213671"/>
                  </a:moveTo>
                  <a:lnTo>
                    <a:pt x="0" y="5213671"/>
                  </a:lnTo>
                  <a:lnTo>
                    <a:pt x="0" y="0"/>
                  </a:lnTo>
                  <a:lnTo>
                    <a:pt x="8655509" y="0"/>
                  </a:lnTo>
                  <a:lnTo>
                    <a:pt x="8655509" y="5213671"/>
                  </a:lnTo>
                  <a:close/>
                </a:path>
              </a:pathLst>
            </a:custGeom>
            <a:solidFill>
              <a:srgbClr val="FAF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6997" y="2730743"/>
              <a:ext cx="8658225" cy="5210175"/>
            </a:xfrm>
            <a:custGeom>
              <a:avLst/>
              <a:gdLst/>
              <a:ahLst/>
              <a:cxnLst/>
              <a:rect l="l" t="t" r="r" b="b"/>
              <a:pathLst>
                <a:path w="8658225" h="5210175">
                  <a:moveTo>
                    <a:pt x="0" y="5210174"/>
                  </a:moveTo>
                  <a:lnTo>
                    <a:pt x="0" y="0"/>
                  </a:lnTo>
                  <a:lnTo>
                    <a:pt x="8658167" y="0"/>
                  </a:lnTo>
                </a:path>
              </a:pathLst>
            </a:custGeom>
            <a:ln w="38099">
              <a:solidFill>
                <a:srgbClr val="FAF9F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606998" y="3183125"/>
            <a:ext cx="6345555" cy="4400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2700" spc="140" b="1">
                <a:solidFill>
                  <a:srgbClr val="12110F"/>
                </a:solidFill>
                <a:latin typeface="Trebuchet MS"/>
                <a:cs typeface="Trebuchet MS"/>
              </a:rPr>
              <a:t>Fase</a:t>
            </a:r>
            <a:r>
              <a:rPr dirty="0" sz="2700" spc="-11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204" b="1">
                <a:solidFill>
                  <a:srgbClr val="12110F"/>
                </a:solidFill>
                <a:latin typeface="Trebuchet MS"/>
                <a:cs typeface="Trebuchet MS"/>
              </a:rPr>
              <a:t>3</a:t>
            </a:r>
            <a:r>
              <a:rPr dirty="0" sz="270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295" b="1">
                <a:solidFill>
                  <a:srgbClr val="12110F"/>
                </a:solidFill>
                <a:latin typeface="Trebuchet MS"/>
                <a:cs typeface="Trebuchet MS"/>
              </a:rPr>
              <a:t>-</a:t>
            </a:r>
            <a:r>
              <a:rPr dirty="0" sz="270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70" b="1">
                <a:solidFill>
                  <a:srgbClr val="12110F"/>
                </a:solidFill>
                <a:latin typeface="Trebuchet MS"/>
                <a:cs typeface="Trebuchet MS"/>
              </a:rPr>
              <a:t>Pengujian</a:t>
            </a:r>
            <a:r>
              <a:rPr dirty="0" sz="270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95" b="1">
                <a:solidFill>
                  <a:srgbClr val="12110F"/>
                </a:solidFill>
                <a:latin typeface="Trebuchet MS"/>
                <a:cs typeface="Trebuchet MS"/>
              </a:rPr>
              <a:t>&amp;</a:t>
            </a:r>
            <a:r>
              <a:rPr dirty="0" sz="270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90" b="1">
                <a:solidFill>
                  <a:srgbClr val="12110F"/>
                </a:solidFill>
                <a:latin typeface="Trebuchet MS"/>
                <a:cs typeface="Trebuchet MS"/>
              </a:rPr>
              <a:t>Validasi</a:t>
            </a:r>
            <a:r>
              <a:rPr dirty="0" sz="2700" spc="-11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b="1">
                <a:solidFill>
                  <a:srgbClr val="12110F"/>
                </a:solidFill>
                <a:latin typeface="Trebuchet MS"/>
                <a:cs typeface="Trebuchet MS"/>
              </a:rPr>
              <a:t>Fitur</a:t>
            </a:r>
            <a:r>
              <a:rPr dirty="0" sz="2700" spc="-10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700" spc="465" b="1">
                <a:solidFill>
                  <a:srgbClr val="12110F"/>
                </a:solidFill>
                <a:latin typeface="Trebuchet MS"/>
                <a:cs typeface="Trebuchet MS"/>
              </a:rPr>
              <a:t>AI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909762" y="4338690"/>
            <a:ext cx="66675" cy="2352675"/>
            <a:chOff x="1909762" y="4338690"/>
            <a:chExt cx="66675" cy="2352675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9762" y="4338690"/>
              <a:ext cx="66675" cy="666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9762" y="5481690"/>
              <a:ext cx="66675" cy="666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9762" y="6624690"/>
              <a:ext cx="66675" cy="6667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643062" y="3863742"/>
            <a:ext cx="6327775" cy="292354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ts val="2385"/>
              </a:lnSpc>
              <a:spcBef>
                <a:spcPts val="140"/>
              </a:spcBef>
            </a:pPr>
            <a:r>
              <a:rPr dirty="0" sz="2100" spc="145" b="1">
                <a:solidFill>
                  <a:srgbClr val="12110F"/>
                </a:solidFill>
                <a:latin typeface="Trebuchet MS"/>
                <a:cs typeface="Trebuchet MS"/>
              </a:rPr>
              <a:t>Tantangan</a:t>
            </a:r>
            <a:r>
              <a:rPr dirty="0" sz="2100" spc="-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00" spc="50" b="1">
                <a:solidFill>
                  <a:srgbClr val="12110F"/>
                </a:solidFill>
                <a:latin typeface="Trebuchet MS"/>
                <a:cs typeface="Trebuchet MS"/>
              </a:rPr>
              <a:t>Utama:</a:t>
            </a:r>
            <a:endParaRPr sz="2100">
              <a:latin typeface="Trebuchet MS"/>
              <a:cs typeface="Trebuchet MS"/>
            </a:endParaRPr>
          </a:p>
          <a:p>
            <a:pPr algn="just" marL="461645" marR="806450">
              <a:lnSpc>
                <a:spcPts val="2250"/>
              </a:lnSpc>
              <a:spcBef>
                <a:spcPts val="165"/>
              </a:spcBef>
            </a:pPr>
            <a:r>
              <a:rPr dirty="0" sz="2100" spc="95">
                <a:solidFill>
                  <a:srgbClr val="12110F"/>
                </a:solidFill>
                <a:latin typeface="Tahoma"/>
                <a:cs typeface="Tahoma"/>
              </a:rPr>
              <a:t>Menguji</a:t>
            </a:r>
            <a:r>
              <a:rPr dirty="0" sz="2100" spc="-1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12110F"/>
                </a:solidFill>
                <a:latin typeface="Tahoma"/>
                <a:cs typeface="Tahoma"/>
              </a:rPr>
              <a:t>fitur</a:t>
            </a:r>
            <a:r>
              <a:rPr dirty="0" sz="2100" spc="-1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12110F"/>
                </a:solidFill>
                <a:latin typeface="Tahoma"/>
                <a:cs typeface="Tahoma"/>
              </a:rPr>
              <a:t>terintegrasi</a:t>
            </a:r>
            <a:r>
              <a:rPr dirty="0" sz="2100" spc="-11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14">
                <a:solidFill>
                  <a:srgbClr val="12110F"/>
                </a:solidFill>
                <a:latin typeface="Tahoma"/>
                <a:cs typeface="Tahoma"/>
              </a:rPr>
              <a:t>dengan </a:t>
            </a:r>
            <a:r>
              <a:rPr dirty="0" sz="2100" spc="155">
                <a:solidFill>
                  <a:srgbClr val="12110F"/>
                </a:solidFill>
                <a:latin typeface="Tahoma"/>
                <a:cs typeface="Tahoma"/>
              </a:rPr>
              <a:t>Google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30">
                <a:solidFill>
                  <a:srgbClr val="12110F"/>
                </a:solidFill>
                <a:latin typeface="Tahoma"/>
                <a:cs typeface="Tahoma"/>
              </a:rPr>
              <a:t>Gemini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229">
                <a:solidFill>
                  <a:srgbClr val="12110F"/>
                </a:solidFill>
                <a:latin typeface="Tahoma"/>
                <a:cs typeface="Tahoma"/>
              </a:rPr>
              <a:t>API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12110F"/>
                </a:solidFill>
                <a:latin typeface="Tahoma"/>
                <a:cs typeface="Tahoma"/>
              </a:rPr>
              <a:t>karena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25">
                <a:solidFill>
                  <a:srgbClr val="12110F"/>
                </a:solidFill>
                <a:latin typeface="Tahoma"/>
                <a:cs typeface="Tahoma"/>
              </a:rPr>
              <a:t>responsnya </a:t>
            </a:r>
            <a:r>
              <a:rPr dirty="0" sz="2100" spc="50">
                <a:solidFill>
                  <a:srgbClr val="12110F"/>
                </a:solidFill>
                <a:latin typeface="Tahoma"/>
                <a:cs typeface="Tahoma"/>
              </a:rPr>
              <a:t>dinamis.</a:t>
            </a:r>
            <a:endParaRPr sz="2100">
              <a:latin typeface="Tahoma"/>
              <a:cs typeface="Tahoma"/>
            </a:endParaRPr>
          </a:p>
          <a:p>
            <a:pPr>
              <a:lnSpc>
                <a:spcPts val="2085"/>
              </a:lnSpc>
            </a:pPr>
            <a:r>
              <a:rPr dirty="0" sz="2100" spc="165" b="1">
                <a:solidFill>
                  <a:srgbClr val="12110F"/>
                </a:solidFill>
                <a:latin typeface="Trebuchet MS"/>
                <a:cs typeface="Trebuchet MS"/>
              </a:rPr>
              <a:t>Fokus</a:t>
            </a:r>
            <a:r>
              <a:rPr dirty="0" sz="2100" spc="-2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00" spc="40" b="1">
                <a:solidFill>
                  <a:srgbClr val="12110F"/>
                </a:solidFill>
                <a:latin typeface="Trebuchet MS"/>
                <a:cs typeface="Trebuchet MS"/>
              </a:rPr>
              <a:t>Pengujian:</a:t>
            </a:r>
            <a:endParaRPr sz="2100">
              <a:latin typeface="Trebuchet MS"/>
              <a:cs typeface="Trebuchet MS"/>
            </a:endParaRPr>
          </a:p>
          <a:p>
            <a:pPr marL="461645" marR="5080">
              <a:lnSpc>
                <a:spcPts val="2250"/>
              </a:lnSpc>
              <a:spcBef>
                <a:spcPts val="165"/>
              </a:spcBef>
            </a:pPr>
            <a:r>
              <a:rPr dirty="0" sz="2100" spc="114">
                <a:solidFill>
                  <a:srgbClr val="12110F"/>
                </a:solidFill>
                <a:latin typeface="Tahoma"/>
                <a:cs typeface="Tahoma"/>
              </a:rPr>
              <a:t>Tidak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12110F"/>
                </a:solidFill>
                <a:latin typeface="Tahoma"/>
                <a:cs typeface="Tahoma"/>
              </a:rPr>
              <a:t>hanya</a:t>
            </a:r>
            <a:r>
              <a:rPr dirty="0" sz="2100" spc="-9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80">
                <a:solidFill>
                  <a:srgbClr val="12110F"/>
                </a:solidFill>
                <a:latin typeface="Tahoma"/>
                <a:cs typeface="Tahoma"/>
              </a:rPr>
              <a:t>fungsionalitas,</a:t>
            </a:r>
            <a:r>
              <a:rPr dirty="0" sz="2100" spc="-9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12110F"/>
                </a:solidFill>
                <a:latin typeface="Tahoma"/>
                <a:cs typeface="Tahoma"/>
              </a:rPr>
              <a:t>tetapi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12110F"/>
                </a:solidFill>
                <a:latin typeface="Tahoma"/>
                <a:cs typeface="Tahoma"/>
              </a:rPr>
              <a:t>juga</a:t>
            </a:r>
            <a:r>
              <a:rPr dirty="0" sz="2100" spc="-9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12110F"/>
                </a:solidFill>
                <a:latin typeface="Tahoma"/>
                <a:cs typeface="Tahoma"/>
              </a:rPr>
              <a:t>pada </a:t>
            </a:r>
            <a:r>
              <a:rPr dirty="0" sz="2100" spc="100">
                <a:solidFill>
                  <a:srgbClr val="12110F"/>
                </a:solidFill>
                <a:latin typeface="Tahoma"/>
                <a:cs typeface="Tahoma"/>
              </a:rPr>
              <a:t>kualitas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12110F"/>
                </a:solidFill>
                <a:latin typeface="Tahoma"/>
                <a:cs typeface="Tahoma"/>
              </a:rPr>
              <a:t>relevansi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12110F"/>
                </a:solidFill>
                <a:latin typeface="Tahoma"/>
                <a:cs typeface="Tahoma"/>
              </a:rPr>
              <a:t>konten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20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2100" spc="-10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85">
                <a:solidFill>
                  <a:srgbClr val="12110F"/>
                </a:solidFill>
                <a:latin typeface="Tahoma"/>
                <a:cs typeface="Tahoma"/>
              </a:rPr>
              <a:t>dihasilkan </a:t>
            </a:r>
            <a:r>
              <a:rPr dirty="0" sz="2100" spc="45">
                <a:solidFill>
                  <a:srgbClr val="12110F"/>
                </a:solidFill>
                <a:latin typeface="Tahoma"/>
                <a:cs typeface="Tahoma"/>
              </a:rPr>
              <a:t>AI.</a:t>
            </a:r>
            <a:endParaRPr sz="2100">
              <a:latin typeface="Tahoma"/>
              <a:cs typeface="Tahoma"/>
            </a:endParaRPr>
          </a:p>
          <a:p>
            <a:pPr>
              <a:lnSpc>
                <a:spcPts val="2085"/>
              </a:lnSpc>
            </a:pPr>
            <a:r>
              <a:rPr dirty="0" sz="2100" spc="50" b="1">
                <a:solidFill>
                  <a:srgbClr val="12110F"/>
                </a:solidFill>
                <a:latin typeface="Trebuchet MS"/>
                <a:cs typeface="Trebuchet MS"/>
              </a:rPr>
              <a:t>Fitur</a:t>
            </a:r>
            <a:r>
              <a:rPr dirty="0" sz="2100" spc="-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00" spc="180" b="1">
                <a:solidFill>
                  <a:srgbClr val="12110F"/>
                </a:solidFill>
                <a:latin typeface="Trebuchet MS"/>
                <a:cs typeface="Trebuchet MS"/>
              </a:rPr>
              <a:t>yang</a:t>
            </a:r>
            <a:r>
              <a:rPr dirty="0" sz="2100" spc="-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100" spc="-10" b="1">
                <a:solidFill>
                  <a:srgbClr val="12110F"/>
                </a:solidFill>
                <a:latin typeface="Trebuchet MS"/>
                <a:cs typeface="Trebuchet MS"/>
              </a:rPr>
              <a:t>Diuji:</a:t>
            </a:r>
            <a:endParaRPr sz="2100">
              <a:latin typeface="Trebuchet MS"/>
              <a:cs typeface="Trebuchet MS"/>
            </a:endParaRPr>
          </a:p>
          <a:p>
            <a:pPr marL="461645">
              <a:lnSpc>
                <a:spcPts val="2385"/>
              </a:lnSpc>
            </a:pPr>
            <a:r>
              <a:rPr dirty="0" sz="2100" spc="65">
                <a:solidFill>
                  <a:srgbClr val="12110F"/>
                </a:solidFill>
                <a:latin typeface="Tahoma"/>
                <a:cs typeface="Tahoma"/>
              </a:rPr>
              <a:t>"Analisis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45">
                <a:solidFill>
                  <a:srgbClr val="12110F"/>
                </a:solidFill>
                <a:latin typeface="Tahoma"/>
                <a:cs typeface="Tahoma"/>
              </a:rPr>
              <a:t>Bulanan"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10">
                <a:solidFill>
                  <a:srgbClr val="12110F"/>
                </a:solidFill>
                <a:latin typeface="Tahoma"/>
                <a:cs typeface="Tahoma"/>
              </a:rPr>
              <a:t>dan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105">
                <a:solidFill>
                  <a:srgbClr val="12110F"/>
                </a:solidFill>
                <a:latin typeface="Tahoma"/>
                <a:cs typeface="Tahoma"/>
              </a:rPr>
              <a:t>"Wawasan</a:t>
            </a:r>
            <a:r>
              <a:rPr dirty="0" sz="2100" spc="-10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12110F"/>
                </a:solidFill>
                <a:latin typeface="Tahoma"/>
                <a:cs typeface="Tahoma"/>
              </a:rPr>
              <a:t>Harian".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88533" y="751757"/>
            <a:ext cx="993711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175"/>
              <a:t>Metodologi</a:t>
            </a:r>
            <a:r>
              <a:rPr dirty="0" sz="8800" spc="95"/>
              <a:t> </a:t>
            </a:r>
            <a:r>
              <a:rPr dirty="0" sz="8800" spc="-10"/>
              <a:t>Kerja</a:t>
            </a:r>
            <a:endParaRPr sz="8800"/>
          </a:p>
        </p:txBody>
      </p:sp>
      <p:sp>
        <p:nvSpPr>
          <p:cNvPr id="19" name="object 19" descr=""/>
          <p:cNvSpPr/>
          <p:nvPr/>
        </p:nvSpPr>
        <p:spPr>
          <a:xfrm>
            <a:off x="601838" y="3095943"/>
            <a:ext cx="712470" cy="712470"/>
          </a:xfrm>
          <a:custGeom>
            <a:avLst/>
            <a:gdLst/>
            <a:ahLst/>
            <a:cxnLst/>
            <a:rect l="l" t="t" r="r" b="b"/>
            <a:pathLst>
              <a:path w="712469" h="712470">
                <a:moveTo>
                  <a:pt x="356076" y="712152"/>
                </a:moveTo>
                <a:lnTo>
                  <a:pt x="307758" y="708902"/>
                </a:lnTo>
                <a:lnTo>
                  <a:pt x="261417" y="699433"/>
                </a:lnTo>
                <a:lnTo>
                  <a:pt x="217475" y="684170"/>
                </a:lnTo>
                <a:lnTo>
                  <a:pt x="176357" y="663537"/>
                </a:lnTo>
                <a:lnTo>
                  <a:pt x="138488" y="637959"/>
                </a:lnTo>
                <a:lnTo>
                  <a:pt x="104292" y="607860"/>
                </a:lnTo>
                <a:lnTo>
                  <a:pt x="74192" y="573663"/>
                </a:lnTo>
                <a:lnTo>
                  <a:pt x="48614" y="535794"/>
                </a:lnTo>
                <a:lnTo>
                  <a:pt x="27982" y="494677"/>
                </a:lnTo>
                <a:lnTo>
                  <a:pt x="12719" y="450735"/>
                </a:lnTo>
                <a:lnTo>
                  <a:pt x="3250" y="404393"/>
                </a:lnTo>
                <a:lnTo>
                  <a:pt x="0" y="356076"/>
                </a:lnTo>
                <a:lnTo>
                  <a:pt x="3250" y="307759"/>
                </a:lnTo>
                <a:lnTo>
                  <a:pt x="12719" y="261417"/>
                </a:lnTo>
                <a:lnTo>
                  <a:pt x="27982" y="217475"/>
                </a:lnTo>
                <a:lnTo>
                  <a:pt x="48614" y="176357"/>
                </a:lnTo>
                <a:lnTo>
                  <a:pt x="74192" y="138488"/>
                </a:lnTo>
                <a:lnTo>
                  <a:pt x="104292" y="104292"/>
                </a:lnTo>
                <a:lnTo>
                  <a:pt x="138488" y="74193"/>
                </a:lnTo>
                <a:lnTo>
                  <a:pt x="176357" y="48614"/>
                </a:lnTo>
                <a:lnTo>
                  <a:pt x="217475" y="27982"/>
                </a:lnTo>
                <a:lnTo>
                  <a:pt x="261417" y="12719"/>
                </a:lnTo>
                <a:lnTo>
                  <a:pt x="307758" y="3250"/>
                </a:lnTo>
                <a:lnTo>
                  <a:pt x="356076" y="0"/>
                </a:lnTo>
                <a:lnTo>
                  <a:pt x="404393" y="3250"/>
                </a:lnTo>
                <a:lnTo>
                  <a:pt x="450735" y="12719"/>
                </a:lnTo>
                <a:lnTo>
                  <a:pt x="494677" y="27982"/>
                </a:lnTo>
                <a:lnTo>
                  <a:pt x="535794" y="48614"/>
                </a:lnTo>
                <a:lnTo>
                  <a:pt x="573663" y="74193"/>
                </a:lnTo>
                <a:lnTo>
                  <a:pt x="607860" y="104292"/>
                </a:lnTo>
                <a:lnTo>
                  <a:pt x="637959" y="138488"/>
                </a:lnTo>
                <a:lnTo>
                  <a:pt x="663537" y="176357"/>
                </a:lnTo>
                <a:lnTo>
                  <a:pt x="684170" y="217475"/>
                </a:lnTo>
                <a:lnTo>
                  <a:pt x="699433" y="261417"/>
                </a:lnTo>
                <a:lnTo>
                  <a:pt x="708902" y="307759"/>
                </a:lnTo>
                <a:lnTo>
                  <a:pt x="712152" y="356076"/>
                </a:lnTo>
                <a:lnTo>
                  <a:pt x="708902" y="404393"/>
                </a:lnTo>
                <a:lnTo>
                  <a:pt x="699433" y="450735"/>
                </a:lnTo>
                <a:lnTo>
                  <a:pt x="684170" y="494677"/>
                </a:lnTo>
                <a:lnTo>
                  <a:pt x="663537" y="535794"/>
                </a:lnTo>
                <a:lnTo>
                  <a:pt x="637959" y="573663"/>
                </a:lnTo>
                <a:lnTo>
                  <a:pt x="607860" y="607860"/>
                </a:lnTo>
                <a:lnTo>
                  <a:pt x="573663" y="637959"/>
                </a:lnTo>
                <a:lnTo>
                  <a:pt x="535794" y="663537"/>
                </a:lnTo>
                <a:lnTo>
                  <a:pt x="494677" y="684170"/>
                </a:lnTo>
                <a:lnTo>
                  <a:pt x="450735" y="699433"/>
                </a:lnTo>
                <a:lnTo>
                  <a:pt x="404393" y="708902"/>
                </a:lnTo>
                <a:lnTo>
                  <a:pt x="356076" y="71215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56631" y="3207068"/>
            <a:ext cx="215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114" b="1"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88202" y="3422089"/>
            <a:ext cx="0" cy="4601210"/>
          </a:xfrm>
          <a:custGeom>
            <a:avLst/>
            <a:gdLst/>
            <a:ahLst/>
            <a:cxnLst/>
            <a:rect l="l" t="t" r="r" b="b"/>
            <a:pathLst>
              <a:path w="0" h="4601209">
                <a:moveTo>
                  <a:pt x="0" y="4601143"/>
                </a:moveTo>
                <a:lnTo>
                  <a:pt x="0" y="0"/>
                </a:lnTo>
              </a:path>
            </a:pathLst>
          </a:custGeom>
          <a:ln w="9524">
            <a:solidFill>
              <a:srgbClr val="4E45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95240" y="449339"/>
            <a:ext cx="1245933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215"/>
              <a:t>Respon</a:t>
            </a:r>
            <a:r>
              <a:rPr dirty="0" sz="8800" spc="114"/>
              <a:t> </a:t>
            </a:r>
            <a:r>
              <a:rPr dirty="0" sz="8800"/>
              <a:t>Ai</a:t>
            </a:r>
            <a:r>
              <a:rPr dirty="0" sz="8800" spc="120"/>
              <a:t> </a:t>
            </a:r>
            <a:r>
              <a:rPr dirty="0" sz="8800"/>
              <a:t>yang</a:t>
            </a:r>
            <a:r>
              <a:rPr dirty="0" sz="8800" spc="114"/>
              <a:t> </a:t>
            </a:r>
            <a:r>
              <a:rPr dirty="0" sz="8800" spc="200"/>
              <a:t>Tidak</a:t>
            </a:r>
            <a:endParaRPr sz="8800"/>
          </a:p>
        </p:txBody>
      </p:sp>
      <p:sp>
        <p:nvSpPr>
          <p:cNvPr id="5" name="object 5" descr=""/>
          <p:cNvSpPr txBox="1"/>
          <p:nvPr/>
        </p:nvSpPr>
        <p:spPr>
          <a:xfrm>
            <a:off x="6072435" y="1563764"/>
            <a:ext cx="5904865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285" b="1">
                <a:solidFill>
                  <a:srgbClr val="12110F"/>
                </a:solidFill>
                <a:latin typeface="Tahoma"/>
                <a:cs typeface="Tahoma"/>
              </a:rPr>
              <a:t>Konsisten</a:t>
            </a:r>
            <a:endParaRPr sz="88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169" y="3755525"/>
            <a:ext cx="8991599" cy="2771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582924" y="3368206"/>
            <a:ext cx="46075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75" b="1">
                <a:solidFill>
                  <a:srgbClr val="4E45E4"/>
                </a:solidFill>
                <a:latin typeface="Trebuchet MS"/>
                <a:cs typeface="Trebuchet MS"/>
              </a:rPr>
              <a:t>Jawaban</a:t>
            </a:r>
            <a:r>
              <a:rPr dirty="0" sz="2200" spc="-100" b="1">
                <a:solidFill>
                  <a:srgbClr val="4E45E4"/>
                </a:solidFill>
                <a:latin typeface="Trebuchet MS"/>
                <a:cs typeface="Trebuchet MS"/>
              </a:rPr>
              <a:t> </a:t>
            </a:r>
            <a:r>
              <a:rPr dirty="0" sz="2200" spc="90" b="1">
                <a:solidFill>
                  <a:srgbClr val="4E45E4"/>
                </a:solidFill>
                <a:latin typeface="Trebuchet MS"/>
                <a:cs typeface="Trebuchet MS"/>
              </a:rPr>
              <a:t>Ai</a:t>
            </a:r>
            <a:r>
              <a:rPr dirty="0" sz="2200" spc="-95" b="1">
                <a:solidFill>
                  <a:srgbClr val="4E45E4"/>
                </a:solidFill>
                <a:latin typeface="Trebuchet MS"/>
                <a:cs typeface="Trebuchet MS"/>
              </a:rPr>
              <a:t> </a:t>
            </a:r>
            <a:r>
              <a:rPr dirty="0" sz="2200" spc="140" b="1">
                <a:solidFill>
                  <a:srgbClr val="4E45E4"/>
                </a:solidFill>
                <a:latin typeface="Trebuchet MS"/>
                <a:cs typeface="Trebuchet MS"/>
              </a:rPr>
              <a:t>yang</a:t>
            </a:r>
            <a:r>
              <a:rPr dirty="0" sz="2200" spc="-95" b="1">
                <a:solidFill>
                  <a:srgbClr val="4E45E4"/>
                </a:solidFill>
                <a:latin typeface="Trebuchet MS"/>
                <a:cs typeface="Trebuchet MS"/>
              </a:rPr>
              <a:t> </a:t>
            </a:r>
            <a:r>
              <a:rPr dirty="0" sz="2200" spc="85" b="1">
                <a:solidFill>
                  <a:srgbClr val="4E45E4"/>
                </a:solidFill>
                <a:latin typeface="Trebuchet MS"/>
                <a:cs typeface="Trebuchet MS"/>
              </a:rPr>
              <a:t>muncul</a:t>
            </a:r>
            <a:r>
              <a:rPr dirty="0" sz="2200" spc="-95" b="1">
                <a:solidFill>
                  <a:srgbClr val="4E45E4"/>
                </a:solidFill>
                <a:latin typeface="Trebuchet MS"/>
                <a:cs typeface="Trebuchet MS"/>
              </a:rPr>
              <a:t> </a:t>
            </a:r>
            <a:r>
              <a:rPr dirty="0" sz="2200" spc="-10" b="1">
                <a:solidFill>
                  <a:srgbClr val="4E45E4"/>
                </a:solidFill>
                <a:latin typeface="Trebuchet MS"/>
                <a:cs typeface="Trebuchet MS"/>
              </a:rPr>
              <a:t>HTML:**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4403" y="5367356"/>
            <a:ext cx="8067673" cy="38861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231936" y="4980037"/>
            <a:ext cx="51892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25" b="1">
                <a:solidFill>
                  <a:srgbClr val="4E45E3"/>
                </a:solidFill>
                <a:latin typeface="Trebuchet MS"/>
                <a:cs typeface="Trebuchet MS"/>
              </a:rPr>
              <a:t>Contoh</a:t>
            </a:r>
            <a:r>
              <a:rPr dirty="0" sz="2200" spc="-100" b="1">
                <a:solidFill>
                  <a:srgbClr val="4E45E3"/>
                </a:solidFill>
                <a:latin typeface="Trebuchet MS"/>
                <a:cs typeface="Trebuchet MS"/>
              </a:rPr>
              <a:t> </a:t>
            </a:r>
            <a:r>
              <a:rPr dirty="0" sz="2200" spc="75" b="1">
                <a:solidFill>
                  <a:srgbClr val="4E45E3"/>
                </a:solidFill>
                <a:latin typeface="Trebuchet MS"/>
                <a:cs typeface="Trebuchet MS"/>
              </a:rPr>
              <a:t>Jawaban</a:t>
            </a:r>
            <a:r>
              <a:rPr dirty="0" sz="2200" spc="-100" b="1">
                <a:solidFill>
                  <a:srgbClr val="4E45E3"/>
                </a:solidFill>
                <a:latin typeface="Trebuchet MS"/>
                <a:cs typeface="Trebuchet MS"/>
              </a:rPr>
              <a:t> </a:t>
            </a:r>
            <a:r>
              <a:rPr dirty="0" sz="2200" spc="390" b="1">
                <a:solidFill>
                  <a:srgbClr val="4E45E3"/>
                </a:solidFill>
                <a:latin typeface="Trebuchet MS"/>
                <a:cs typeface="Trebuchet MS"/>
              </a:rPr>
              <a:t>AI</a:t>
            </a:r>
            <a:r>
              <a:rPr dirty="0" sz="2200" spc="-95" b="1">
                <a:solidFill>
                  <a:srgbClr val="4E45E3"/>
                </a:solidFill>
                <a:latin typeface="Trebuchet MS"/>
                <a:cs typeface="Trebuchet MS"/>
              </a:rPr>
              <a:t> </a:t>
            </a:r>
            <a:r>
              <a:rPr dirty="0" sz="2200" spc="140" b="1">
                <a:solidFill>
                  <a:srgbClr val="4E45E3"/>
                </a:solidFill>
                <a:latin typeface="Trebuchet MS"/>
                <a:cs typeface="Trebuchet MS"/>
              </a:rPr>
              <a:t>yang</a:t>
            </a:r>
            <a:r>
              <a:rPr dirty="0" sz="2200" spc="-100" b="1">
                <a:solidFill>
                  <a:srgbClr val="4E45E3"/>
                </a:solidFill>
                <a:latin typeface="Trebuchet MS"/>
                <a:cs typeface="Trebuchet MS"/>
              </a:rPr>
              <a:t> </a:t>
            </a:r>
            <a:r>
              <a:rPr dirty="0" sz="2200" spc="80" b="1">
                <a:solidFill>
                  <a:srgbClr val="4E45E3"/>
                </a:solidFill>
                <a:latin typeface="Trebuchet MS"/>
                <a:cs typeface="Trebuchet MS"/>
              </a:rPr>
              <a:t>seharusnya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8123789" y="1546800"/>
            <a:ext cx="164465" cy="1885950"/>
          </a:xfrm>
          <a:custGeom>
            <a:avLst/>
            <a:gdLst/>
            <a:ahLst/>
            <a:cxnLst/>
            <a:rect l="l" t="t" r="r" b="b"/>
            <a:pathLst>
              <a:path w="164465" h="1885950">
                <a:moveTo>
                  <a:pt x="164208" y="1885423"/>
                </a:moveTo>
                <a:lnTo>
                  <a:pt x="0" y="942711"/>
                </a:lnTo>
                <a:lnTo>
                  <a:pt x="164208" y="0"/>
                </a:lnTo>
                <a:lnTo>
                  <a:pt x="164208" y="1885423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634807" y="0"/>
            <a:ext cx="403225" cy="5140960"/>
          </a:xfrm>
          <a:custGeom>
            <a:avLst/>
            <a:gdLst/>
            <a:ahLst/>
            <a:cxnLst/>
            <a:rect l="l" t="t" r="r" b="b"/>
            <a:pathLst>
              <a:path w="403225" h="5140960">
                <a:moveTo>
                  <a:pt x="403092" y="5140959"/>
                </a:moveTo>
                <a:lnTo>
                  <a:pt x="0" y="2489512"/>
                </a:lnTo>
                <a:lnTo>
                  <a:pt x="378362" y="0"/>
                </a:lnTo>
                <a:lnTo>
                  <a:pt x="403092" y="0"/>
                </a:lnTo>
                <a:lnTo>
                  <a:pt x="403092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7145823" y="0"/>
            <a:ext cx="344805" cy="5140960"/>
          </a:xfrm>
          <a:custGeom>
            <a:avLst/>
            <a:gdLst/>
            <a:ahLst/>
            <a:cxnLst/>
            <a:rect l="l" t="t" r="r" b="b"/>
            <a:pathLst>
              <a:path w="344805" h="5140960">
                <a:moveTo>
                  <a:pt x="344198" y="5140959"/>
                </a:moveTo>
                <a:lnTo>
                  <a:pt x="0" y="2489512"/>
                </a:lnTo>
                <a:lnTo>
                  <a:pt x="323082" y="0"/>
                </a:lnTo>
                <a:lnTo>
                  <a:pt x="344198" y="0"/>
                </a:lnTo>
                <a:lnTo>
                  <a:pt x="344198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656839" y="0"/>
            <a:ext cx="285750" cy="5140960"/>
          </a:xfrm>
          <a:custGeom>
            <a:avLst/>
            <a:gdLst/>
            <a:ahLst/>
            <a:cxnLst/>
            <a:rect l="l" t="t" r="r" b="b"/>
            <a:pathLst>
              <a:path w="285750" h="5140960">
                <a:moveTo>
                  <a:pt x="285148" y="5140959"/>
                </a:moveTo>
                <a:lnTo>
                  <a:pt x="0" y="2489512"/>
                </a:lnTo>
                <a:lnTo>
                  <a:pt x="267654" y="0"/>
                </a:lnTo>
                <a:lnTo>
                  <a:pt x="285148" y="0"/>
                </a:lnTo>
                <a:lnTo>
                  <a:pt x="285148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167854" y="0"/>
            <a:ext cx="226695" cy="5140960"/>
          </a:xfrm>
          <a:custGeom>
            <a:avLst/>
            <a:gdLst/>
            <a:ahLst/>
            <a:cxnLst/>
            <a:rect l="l" t="t" r="r" b="b"/>
            <a:pathLst>
              <a:path w="226694" h="5140960">
                <a:moveTo>
                  <a:pt x="226255" y="5140959"/>
                </a:moveTo>
                <a:lnTo>
                  <a:pt x="0" y="2489512"/>
                </a:lnTo>
                <a:lnTo>
                  <a:pt x="212374" y="0"/>
                </a:lnTo>
                <a:lnTo>
                  <a:pt x="226255" y="0"/>
                </a:lnTo>
                <a:lnTo>
                  <a:pt x="226255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5678872" y="0"/>
            <a:ext cx="167640" cy="5140960"/>
          </a:xfrm>
          <a:custGeom>
            <a:avLst/>
            <a:gdLst/>
            <a:ahLst/>
            <a:cxnLst/>
            <a:rect l="l" t="t" r="r" b="b"/>
            <a:pathLst>
              <a:path w="167640" h="5140960">
                <a:moveTo>
                  <a:pt x="167204" y="5140959"/>
                </a:moveTo>
                <a:lnTo>
                  <a:pt x="0" y="2489512"/>
                </a:lnTo>
                <a:lnTo>
                  <a:pt x="156946" y="0"/>
                </a:lnTo>
                <a:lnTo>
                  <a:pt x="167204" y="0"/>
                </a:lnTo>
                <a:lnTo>
                  <a:pt x="167204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5189888" y="0"/>
            <a:ext cx="108585" cy="5140960"/>
          </a:xfrm>
          <a:custGeom>
            <a:avLst/>
            <a:gdLst/>
            <a:ahLst/>
            <a:cxnLst/>
            <a:rect l="l" t="t" r="r" b="b"/>
            <a:pathLst>
              <a:path w="108584" h="5140960">
                <a:moveTo>
                  <a:pt x="108312" y="5140959"/>
                </a:moveTo>
                <a:lnTo>
                  <a:pt x="0" y="2489512"/>
                </a:lnTo>
                <a:lnTo>
                  <a:pt x="101667" y="0"/>
                </a:lnTo>
                <a:lnTo>
                  <a:pt x="108312" y="0"/>
                </a:lnTo>
                <a:lnTo>
                  <a:pt x="108312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4701536" y="0"/>
            <a:ext cx="48895" cy="5140960"/>
          </a:xfrm>
          <a:custGeom>
            <a:avLst/>
            <a:gdLst/>
            <a:ahLst/>
            <a:cxnLst/>
            <a:rect l="l" t="t" r="r" b="b"/>
            <a:pathLst>
              <a:path w="48894" h="5140960">
                <a:moveTo>
                  <a:pt x="48629" y="5140959"/>
                </a:moveTo>
                <a:lnTo>
                  <a:pt x="0" y="2523542"/>
                </a:lnTo>
                <a:lnTo>
                  <a:pt x="0" y="2455482"/>
                </a:lnTo>
                <a:lnTo>
                  <a:pt x="45607" y="0"/>
                </a:lnTo>
                <a:lnTo>
                  <a:pt x="48629" y="0"/>
                </a:lnTo>
                <a:lnTo>
                  <a:pt x="48629" y="5140959"/>
                </a:lnTo>
                <a:close/>
              </a:path>
            </a:pathLst>
          </a:custGeom>
          <a:solidFill>
            <a:srgbClr val="1761C7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8947" y="8780656"/>
            <a:ext cx="4210049" cy="952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6E3E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9351" y="342950"/>
            <a:ext cx="3629024" cy="5619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901062" y="3239571"/>
            <a:ext cx="0" cy="6071870"/>
          </a:xfrm>
          <a:custGeom>
            <a:avLst/>
            <a:gdLst/>
            <a:ahLst/>
            <a:cxnLst/>
            <a:rect l="l" t="t" r="r" b="b"/>
            <a:pathLst>
              <a:path w="0" h="6071870">
                <a:moveTo>
                  <a:pt x="0" y="0"/>
                </a:moveTo>
                <a:lnTo>
                  <a:pt x="0" y="607169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6901" y="6333961"/>
            <a:ext cx="4781549" cy="3562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8854" y="6333961"/>
            <a:ext cx="4029074" cy="34956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0699" y="917202"/>
            <a:ext cx="13637894" cy="2145665"/>
          </a:xfrm>
          <a:prstGeom prst="rect"/>
        </p:spPr>
        <p:txBody>
          <a:bodyPr wrap="square" lIns="0" tIns="207645" rIns="0" bIns="0" rtlCol="0" vert="horz">
            <a:spAutoFit/>
          </a:bodyPr>
          <a:lstStyle/>
          <a:p>
            <a:pPr marL="12700" marR="5080">
              <a:lnSpc>
                <a:spcPts val="7580"/>
              </a:lnSpc>
              <a:spcBef>
                <a:spcPts val="1635"/>
              </a:spcBef>
            </a:pPr>
            <a:r>
              <a:rPr dirty="0" sz="7600" spc="60">
                <a:solidFill>
                  <a:srgbClr val="000000"/>
                </a:solidFill>
              </a:rPr>
              <a:t>Pelajaran</a:t>
            </a:r>
            <a:r>
              <a:rPr dirty="0" sz="7600" spc="-20">
                <a:solidFill>
                  <a:srgbClr val="000000"/>
                </a:solidFill>
              </a:rPr>
              <a:t> </a:t>
            </a:r>
            <a:r>
              <a:rPr dirty="0" sz="7600" spc="100">
                <a:solidFill>
                  <a:srgbClr val="000000"/>
                </a:solidFill>
              </a:rPr>
              <a:t>Berharga</a:t>
            </a:r>
            <a:r>
              <a:rPr dirty="0" sz="7600" spc="-15">
                <a:solidFill>
                  <a:srgbClr val="000000"/>
                </a:solidFill>
              </a:rPr>
              <a:t> </a:t>
            </a:r>
            <a:r>
              <a:rPr dirty="0" sz="7600" spc="210">
                <a:solidFill>
                  <a:srgbClr val="000000"/>
                </a:solidFill>
              </a:rPr>
              <a:t>Selama </a:t>
            </a:r>
            <a:r>
              <a:rPr dirty="0" sz="7600" spc="200">
                <a:solidFill>
                  <a:srgbClr val="000000"/>
                </a:solidFill>
              </a:rPr>
              <a:t>Kegiatan</a:t>
            </a:r>
            <a:endParaRPr sz="7600"/>
          </a:p>
        </p:txBody>
      </p:sp>
      <p:sp>
        <p:nvSpPr>
          <p:cNvPr id="8" name="object 8" descr=""/>
          <p:cNvSpPr txBox="1"/>
          <p:nvPr/>
        </p:nvSpPr>
        <p:spPr>
          <a:xfrm>
            <a:off x="9428956" y="3574674"/>
            <a:ext cx="8566785" cy="2673350"/>
          </a:xfrm>
          <a:prstGeom prst="rect">
            <a:avLst/>
          </a:prstGeom>
        </p:spPr>
        <p:txBody>
          <a:bodyPr wrap="square" lIns="0" tIns="236854" rIns="0" bIns="0" rtlCol="0" vert="horz">
            <a:spAutoFit/>
          </a:bodyPr>
          <a:lstStyle/>
          <a:p>
            <a:pPr marL="646430">
              <a:lnSpc>
                <a:spcPct val="100000"/>
              </a:lnSpc>
              <a:spcBef>
                <a:spcPts val="1864"/>
              </a:spcBef>
            </a:pPr>
            <a:r>
              <a:rPr dirty="0" sz="2900" spc="170" b="1">
                <a:latin typeface="Trebuchet MS"/>
                <a:cs typeface="Trebuchet MS"/>
              </a:rPr>
              <a:t>Proses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190" b="1">
                <a:latin typeface="Trebuchet MS"/>
                <a:cs typeface="Trebuchet MS"/>
              </a:rPr>
              <a:t>Pengembangan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95" b="1">
                <a:latin typeface="Trebuchet MS"/>
                <a:cs typeface="Trebuchet MS"/>
              </a:rPr>
              <a:t>Bersifat</a:t>
            </a:r>
            <a:r>
              <a:rPr dirty="0" sz="2900" spc="-110" b="1">
                <a:latin typeface="Trebuchet MS"/>
                <a:cs typeface="Trebuchet MS"/>
              </a:rPr>
              <a:t> </a:t>
            </a:r>
            <a:r>
              <a:rPr dirty="0" sz="2900" spc="110" b="1">
                <a:latin typeface="Trebuchet MS"/>
                <a:cs typeface="Trebuchet MS"/>
              </a:rPr>
              <a:t>Iteratif</a:t>
            </a: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1905"/>
              </a:spcBef>
            </a:pPr>
            <a:r>
              <a:rPr dirty="0" sz="2900" spc="140">
                <a:latin typeface="Tahoma"/>
                <a:cs typeface="Tahoma"/>
              </a:rPr>
              <a:t>Memahami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65">
                <a:latin typeface="Tahoma"/>
                <a:cs typeface="Tahoma"/>
              </a:rPr>
              <a:t>bahwa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40">
                <a:latin typeface="Tahoma"/>
                <a:cs typeface="Tahoma"/>
              </a:rPr>
              <a:t>pengembangan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60">
                <a:latin typeface="Tahoma"/>
                <a:cs typeface="Tahoma"/>
              </a:rPr>
              <a:t>software </a:t>
            </a:r>
            <a:r>
              <a:rPr dirty="0" sz="2900" spc="75">
                <a:latin typeface="Tahoma"/>
                <a:cs typeface="Tahoma"/>
              </a:rPr>
              <a:t>adalah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sebuah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siklus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-10">
                <a:latin typeface="Tahoma"/>
                <a:cs typeface="Tahoma"/>
              </a:rPr>
              <a:t>berkelanjutan: </a:t>
            </a:r>
            <a:r>
              <a:rPr dirty="0" sz="2900" spc="140">
                <a:latin typeface="Tahoma"/>
                <a:cs typeface="Tahoma"/>
              </a:rPr>
              <a:t>Pengembangan</a:t>
            </a:r>
            <a:r>
              <a:rPr dirty="0" sz="2900" spc="-245">
                <a:latin typeface="Tahoma"/>
                <a:cs typeface="Tahoma"/>
              </a:rPr>
              <a:t> </a:t>
            </a:r>
            <a:r>
              <a:rPr dirty="0" sz="2900" spc="-640">
                <a:latin typeface="Tahoma"/>
                <a:cs typeface="Tahoma"/>
              </a:rPr>
              <a:t>→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Pengujian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-640">
                <a:latin typeface="Tahoma"/>
                <a:cs typeface="Tahoma"/>
              </a:rPr>
              <a:t>→</a:t>
            </a:r>
            <a:r>
              <a:rPr dirty="0" sz="2900" spc="-245">
                <a:latin typeface="Tahoma"/>
                <a:cs typeface="Tahoma"/>
              </a:rPr>
              <a:t> </a:t>
            </a:r>
            <a:r>
              <a:rPr dirty="0" sz="2900" spc="55">
                <a:latin typeface="Tahoma"/>
                <a:cs typeface="Tahoma"/>
              </a:rPr>
              <a:t>Perbaikan.</a:t>
            </a:r>
            <a:r>
              <a:rPr dirty="0" sz="2900" spc="-240">
                <a:latin typeface="Tahoma"/>
                <a:cs typeface="Tahoma"/>
              </a:rPr>
              <a:t> </a:t>
            </a:r>
            <a:r>
              <a:rPr dirty="0" sz="2900" spc="135">
                <a:latin typeface="Tahoma"/>
                <a:cs typeface="Tahoma"/>
              </a:rPr>
              <a:t>Sebuah </a:t>
            </a:r>
            <a:r>
              <a:rPr dirty="0" sz="2900" spc="90">
                <a:latin typeface="Tahoma"/>
                <a:cs typeface="Tahoma"/>
              </a:rPr>
              <a:t>fitur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20">
                <a:latin typeface="Tahoma"/>
                <a:cs typeface="Tahoma"/>
              </a:rPr>
              <a:t>tidak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langsung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menjadi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60">
                <a:latin typeface="Tahoma"/>
                <a:cs typeface="Tahoma"/>
              </a:rPr>
              <a:t>sempurna.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4049" y="3574674"/>
            <a:ext cx="7829550" cy="2673350"/>
          </a:xfrm>
          <a:prstGeom prst="rect">
            <a:avLst/>
          </a:prstGeom>
        </p:spPr>
        <p:txBody>
          <a:bodyPr wrap="square" lIns="0" tIns="236854" rIns="0" bIns="0" rtlCol="0" vert="horz">
            <a:spAutoFit/>
          </a:bodyPr>
          <a:lstStyle/>
          <a:p>
            <a:pPr marL="1217930">
              <a:lnSpc>
                <a:spcPct val="100000"/>
              </a:lnSpc>
              <a:spcBef>
                <a:spcPts val="1864"/>
              </a:spcBef>
            </a:pPr>
            <a:r>
              <a:rPr dirty="0" sz="2900" spc="135" b="1">
                <a:latin typeface="Trebuchet MS"/>
                <a:cs typeface="Trebuchet MS"/>
              </a:rPr>
              <a:t>Komunikasi</a:t>
            </a:r>
            <a:r>
              <a:rPr dirty="0" sz="2900" spc="-120" b="1">
                <a:latin typeface="Trebuchet MS"/>
                <a:cs typeface="Trebuchet MS"/>
              </a:rPr>
              <a:t> </a:t>
            </a:r>
            <a:r>
              <a:rPr dirty="0" sz="2900" spc="100" b="1">
                <a:latin typeface="Trebuchet MS"/>
                <a:cs typeface="Trebuchet MS"/>
              </a:rPr>
              <a:t>&amp;</a:t>
            </a:r>
            <a:r>
              <a:rPr dirty="0" sz="2900" spc="-114" b="1">
                <a:latin typeface="Trebuchet MS"/>
                <a:cs typeface="Trebuchet MS"/>
              </a:rPr>
              <a:t> </a:t>
            </a:r>
            <a:r>
              <a:rPr dirty="0" sz="2900" spc="120" b="1">
                <a:latin typeface="Trebuchet MS"/>
                <a:cs typeface="Trebuchet MS"/>
              </a:rPr>
              <a:t>Kolaborasi</a:t>
            </a:r>
            <a:r>
              <a:rPr dirty="0" sz="2900" spc="-114" b="1">
                <a:latin typeface="Trebuchet MS"/>
                <a:cs typeface="Trebuchet MS"/>
              </a:rPr>
              <a:t> </a:t>
            </a:r>
            <a:r>
              <a:rPr dirty="0" sz="2900" spc="85" b="1">
                <a:latin typeface="Trebuchet MS"/>
                <a:cs typeface="Trebuchet MS"/>
              </a:rPr>
              <a:t>Tim</a:t>
            </a:r>
            <a:endParaRPr sz="2900">
              <a:latin typeface="Trebuchet MS"/>
              <a:cs typeface="Trebuchet MS"/>
            </a:endParaRPr>
          </a:p>
          <a:p>
            <a:pPr marL="12700" marR="5080">
              <a:lnSpc>
                <a:spcPts val="3450"/>
              </a:lnSpc>
              <a:spcBef>
                <a:spcPts val="1905"/>
              </a:spcBef>
            </a:pPr>
            <a:r>
              <a:rPr dirty="0" sz="2900" spc="125">
                <a:latin typeface="Tahoma"/>
                <a:cs typeface="Tahoma"/>
              </a:rPr>
              <a:t>Komunikasi</a:t>
            </a:r>
            <a:r>
              <a:rPr dirty="0" sz="2900" spc="-200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yang</a:t>
            </a:r>
            <a:r>
              <a:rPr dirty="0" sz="2900" spc="-200">
                <a:latin typeface="Tahoma"/>
                <a:cs typeface="Tahoma"/>
              </a:rPr>
              <a:t> </a:t>
            </a:r>
            <a:r>
              <a:rPr dirty="0" sz="2900">
                <a:latin typeface="Tahoma"/>
                <a:cs typeface="Tahoma"/>
              </a:rPr>
              <a:t>jelas</a:t>
            </a:r>
            <a:r>
              <a:rPr dirty="0" sz="2900" spc="-195">
                <a:latin typeface="Tahoma"/>
                <a:cs typeface="Tahoma"/>
              </a:rPr>
              <a:t> </a:t>
            </a:r>
            <a:r>
              <a:rPr dirty="0" sz="2900" spc="114">
                <a:latin typeface="Tahoma"/>
                <a:cs typeface="Tahoma"/>
              </a:rPr>
              <a:t>dan</a:t>
            </a:r>
            <a:r>
              <a:rPr dirty="0" sz="2900" spc="-200">
                <a:latin typeface="Tahoma"/>
                <a:cs typeface="Tahoma"/>
              </a:rPr>
              <a:t> </a:t>
            </a:r>
            <a:r>
              <a:rPr dirty="0" sz="2900" spc="80">
                <a:latin typeface="Tahoma"/>
                <a:cs typeface="Tahoma"/>
              </a:rPr>
              <a:t>rutin</a:t>
            </a:r>
            <a:r>
              <a:rPr dirty="0" sz="2900" spc="-195">
                <a:latin typeface="Tahoma"/>
                <a:cs typeface="Tahoma"/>
              </a:rPr>
              <a:t> </a:t>
            </a:r>
            <a:r>
              <a:rPr dirty="0" sz="2900" spc="75">
                <a:latin typeface="Tahoma"/>
                <a:cs typeface="Tahoma"/>
              </a:rPr>
              <a:t>adalah</a:t>
            </a:r>
            <a:r>
              <a:rPr dirty="0" sz="2900" spc="-200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kunci </a:t>
            </a:r>
            <a:r>
              <a:rPr dirty="0" sz="2900" spc="60">
                <a:latin typeface="Tahoma"/>
                <a:cs typeface="Tahoma"/>
              </a:rPr>
              <a:t>keberhasilan,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terutama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saat</a:t>
            </a:r>
            <a:r>
              <a:rPr dirty="0" sz="2900" spc="-229">
                <a:latin typeface="Tahoma"/>
                <a:cs typeface="Tahoma"/>
              </a:rPr>
              <a:t> </a:t>
            </a:r>
            <a:r>
              <a:rPr dirty="0" sz="2900" spc="110">
                <a:latin typeface="Tahoma"/>
                <a:cs typeface="Tahoma"/>
              </a:rPr>
              <a:t>peran</a:t>
            </a:r>
            <a:r>
              <a:rPr dirty="0" sz="2900" spc="-235">
                <a:latin typeface="Tahoma"/>
                <a:cs typeface="Tahoma"/>
              </a:rPr>
              <a:t> </a:t>
            </a:r>
            <a:r>
              <a:rPr dirty="0" sz="2900" spc="130">
                <a:latin typeface="Tahoma"/>
                <a:cs typeface="Tahoma"/>
              </a:rPr>
              <a:t>berbeda </a:t>
            </a:r>
            <a:r>
              <a:rPr dirty="0" sz="2900">
                <a:latin typeface="Tahoma"/>
                <a:cs typeface="Tahoma"/>
              </a:rPr>
              <a:t>(frontend,</a:t>
            </a:r>
            <a:r>
              <a:rPr dirty="0" sz="2900" spc="-160">
                <a:latin typeface="Tahoma"/>
                <a:cs typeface="Tahoma"/>
              </a:rPr>
              <a:t> </a:t>
            </a:r>
            <a:r>
              <a:rPr dirty="0" sz="2900" spc="95">
                <a:latin typeface="Tahoma"/>
                <a:cs typeface="Tahoma"/>
              </a:rPr>
              <a:t>backend,</a:t>
            </a:r>
            <a:r>
              <a:rPr dirty="0" sz="2900" spc="-155">
                <a:latin typeface="Tahoma"/>
                <a:cs typeface="Tahoma"/>
              </a:rPr>
              <a:t> </a:t>
            </a:r>
            <a:r>
              <a:rPr dirty="0" sz="2900" spc="125">
                <a:latin typeface="Tahoma"/>
                <a:cs typeface="Tahoma"/>
              </a:rPr>
              <a:t>QA)</a:t>
            </a:r>
            <a:r>
              <a:rPr dirty="0" sz="2900" spc="-160">
                <a:latin typeface="Tahoma"/>
                <a:cs typeface="Tahoma"/>
              </a:rPr>
              <a:t> </a:t>
            </a:r>
            <a:r>
              <a:rPr dirty="0" sz="2900" spc="105">
                <a:latin typeface="Tahoma"/>
                <a:cs typeface="Tahoma"/>
              </a:rPr>
              <a:t>harus</a:t>
            </a:r>
            <a:r>
              <a:rPr dirty="0" sz="2900" spc="-155">
                <a:latin typeface="Tahoma"/>
                <a:cs typeface="Tahoma"/>
              </a:rPr>
              <a:t> </a:t>
            </a:r>
            <a:r>
              <a:rPr dirty="0" sz="2900" spc="90">
                <a:latin typeface="Tahoma"/>
                <a:cs typeface="Tahoma"/>
              </a:rPr>
              <a:t>bekerja</a:t>
            </a:r>
            <a:r>
              <a:rPr dirty="0" sz="2900" spc="-160">
                <a:latin typeface="Tahoma"/>
                <a:cs typeface="Tahoma"/>
              </a:rPr>
              <a:t> </a:t>
            </a:r>
            <a:r>
              <a:rPr dirty="0" sz="2900" spc="140">
                <a:latin typeface="Tahoma"/>
                <a:cs typeface="Tahoma"/>
              </a:rPr>
              <a:t>secara </a:t>
            </a:r>
            <a:r>
              <a:rPr dirty="0" sz="2900" spc="35">
                <a:latin typeface="Tahoma"/>
                <a:cs typeface="Tahoma"/>
              </a:rPr>
              <a:t>sinkron.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287419" y="2298131"/>
            <a:ext cx="5143500" cy="3189605"/>
            <a:chOff x="12287419" y="2298131"/>
            <a:chExt cx="5143500" cy="3189605"/>
          </a:xfrm>
        </p:grpSpPr>
        <p:sp>
          <p:nvSpPr>
            <p:cNvPr id="3" name="object 3" descr=""/>
            <p:cNvSpPr/>
            <p:nvPr/>
          </p:nvSpPr>
          <p:spPr>
            <a:xfrm>
              <a:off x="13090881" y="2298140"/>
              <a:ext cx="4163695" cy="2466340"/>
            </a:xfrm>
            <a:custGeom>
              <a:avLst/>
              <a:gdLst/>
              <a:ahLst/>
              <a:cxnLst/>
              <a:rect l="l" t="t" r="r" b="b"/>
              <a:pathLst>
                <a:path w="4163694" h="2466340">
                  <a:moveTo>
                    <a:pt x="4163212" y="190246"/>
                  </a:moveTo>
                  <a:lnTo>
                    <a:pt x="4159326" y="152031"/>
                  </a:lnTo>
                  <a:lnTo>
                    <a:pt x="4152493" y="130136"/>
                  </a:lnTo>
                  <a:lnTo>
                    <a:pt x="4152493" y="190246"/>
                  </a:lnTo>
                  <a:lnTo>
                    <a:pt x="4152493" y="2007616"/>
                  </a:lnTo>
                  <a:lnTo>
                    <a:pt x="10718" y="2007616"/>
                  </a:lnTo>
                  <a:lnTo>
                    <a:pt x="10718" y="190246"/>
                  </a:lnTo>
                  <a:lnTo>
                    <a:pt x="24904" y="120535"/>
                  </a:lnTo>
                  <a:lnTo>
                    <a:pt x="63461" y="63461"/>
                  </a:lnTo>
                  <a:lnTo>
                    <a:pt x="120548" y="24879"/>
                  </a:lnTo>
                  <a:lnTo>
                    <a:pt x="190258" y="10718"/>
                  </a:lnTo>
                  <a:lnTo>
                    <a:pt x="3972953" y="10718"/>
                  </a:lnTo>
                  <a:lnTo>
                    <a:pt x="4042664" y="24879"/>
                  </a:lnTo>
                  <a:lnTo>
                    <a:pt x="4099750" y="63461"/>
                  </a:lnTo>
                  <a:lnTo>
                    <a:pt x="4138333" y="120535"/>
                  </a:lnTo>
                  <a:lnTo>
                    <a:pt x="4152493" y="190246"/>
                  </a:lnTo>
                  <a:lnTo>
                    <a:pt x="4152493" y="130136"/>
                  </a:lnTo>
                  <a:lnTo>
                    <a:pt x="4130611" y="84061"/>
                  </a:lnTo>
                  <a:lnTo>
                    <a:pt x="4079151" y="32600"/>
                  </a:lnTo>
                  <a:lnTo>
                    <a:pt x="4033088" y="10718"/>
                  </a:lnTo>
                  <a:lnTo>
                    <a:pt x="4011180" y="3873"/>
                  </a:lnTo>
                  <a:lnTo>
                    <a:pt x="3972953" y="0"/>
                  </a:lnTo>
                  <a:lnTo>
                    <a:pt x="190258" y="0"/>
                  </a:lnTo>
                  <a:lnTo>
                    <a:pt x="152044" y="3873"/>
                  </a:lnTo>
                  <a:lnTo>
                    <a:pt x="84074" y="32600"/>
                  </a:lnTo>
                  <a:lnTo>
                    <a:pt x="32613" y="84061"/>
                  </a:lnTo>
                  <a:lnTo>
                    <a:pt x="3886" y="152031"/>
                  </a:lnTo>
                  <a:lnTo>
                    <a:pt x="0" y="190246"/>
                  </a:lnTo>
                  <a:lnTo>
                    <a:pt x="0" y="2275916"/>
                  </a:lnTo>
                  <a:lnTo>
                    <a:pt x="3886" y="2314130"/>
                  </a:lnTo>
                  <a:lnTo>
                    <a:pt x="32600" y="2382101"/>
                  </a:lnTo>
                  <a:lnTo>
                    <a:pt x="84074" y="2433574"/>
                  </a:lnTo>
                  <a:lnTo>
                    <a:pt x="152044" y="2462288"/>
                  </a:lnTo>
                  <a:lnTo>
                    <a:pt x="190258" y="2466175"/>
                  </a:lnTo>
                  <a:lnTo>
                    <a:pt x="3972953" y="2466175"/>
                  </a:lnTo>
                  <a:lnTo>
                    <a:pt x="4011180" y="2462288"/>
                  </a:lnTo>
                  <a:lnTo>
                    <a:pt x="4079151" y="2433574"/>
                  </a:lnTo>
                  <a:lnTo>
                    <a:pt x="4130611" y="2382101"/>
                  </a:lnTo>
                  <a:lnTo>
                    <a:pt x="4159326" y="2314130"/>
                  </a:lnTo>
                  <a:lnTo>
                    <a:pt x="4163212" y="2275916"/>
                  </a:lnTo>
                  <a:lnTo>
                    <a:pt x="4163212" y="190246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455787" y="3913743"/>
              <a:ext cx="246379" cy="246379"/>
            </a:xfrm>
            <a:custGeom>
              <a:avLst/>
              <a:gdLst/>
              <a:ahLst/>
              <a:cxnLst/>
              <a:rect l="l" t="t" r="r" b="b"/>
              <a:pathLst>
                <a:path w="246380" h="246379">
                  <a:moveTo>
                    <a:pt x="246230" y="246230"/>
                  </a:moveTo>
                  <a:lnTo>
                    <a:pt x="0" y="246230"/>
                  </a:lnTo>
                  <a:lnTo>
                    <a:pt x="0" y="0"/>
                  </a:lnTo>
                  <a:lnTo>
                    <a:pt x="246230" y="0"/>
                  </a:lnTo>
                  <a:lnTo>
                    <a:pt x="246230" y="246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450428" y="3908383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4550" y="256950"/>
                  </a:moveTo>
                  <a:lnTo>
                    <a:pt x="2399" y="256950"/>
                  </a:lnTo>
                  <a:lnTo>
                    <a:pt x="0" y="254550"/>
                  </a:lnTo>
                  <a:lnTo>
                    <a:pt x="0" y="2399"/>
                  </a:lnTo>
                  <a:lnTo>
                    <a:pt x="2399" y="0"/>
                  </a:lnTo>
                  <a:lnTo>
                    <a:pt x="254550" y="0"/>
                  </a:lnTo>
                  <a:lnTo>
                    <a:pt x="256950" y="2399"/>
                  </a:lnTo>
                  <a:lnTo>
                    <a:pt x="256950" y="10719"/>
                  </a:lnTo>
                  <a:lnTo>
                    <a:pt x="10719" y="10719"/>
                  </a:lnTo>
                  <a:lnTo>
                    <a:pt x="10719" y="246230"/>
                  </a:lnTo>
                  <a:lnTo>
                    <a:pt x="256950" y="246230"/>
                  </a:lnTo>
                  <a:lnTo>
                    <a:pt x="256950" y="254550"/>
                  </a:lnTo>
                  <a:lnTo>
                    <a:pt x="254550" y="256950"/>
                  </a:lnTo>
                  <a:close/>
                </a:path>
                <a:path w="257175" h="257175">
                  <a:moveTo>
                    <a:pt x="256950" y="246230"/>
                  </a:moveTo>
                  <a:lnTo>
                    <a:pt x="246230" y="246230"/>
                  </a:lnTo>
                  <a:lnTo>
                    <a:pt x="246230" y="10719"/>
                  </a:lnTo>
                  <a:lnTo>
                    <a:pt x="256950" y="10719"/>
                  </a:lnTo>
                  <a:lnTo>
                    <a:pt x="256950" y="246230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94581" y="3889751"/>
              <a:ext cx="245979" cy="18603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834669" y="3908386"/>
              <a:ext cx="706755" cy="170815"/>
            </a:xfrm>
            <a:custGeom>
              <a:avLst/>
              <a:gdLst/>
              <a:ahLst/>
              <a:cxnLst/>
              <a:rect l="l" t="t" r="r" b="b"/>
              <a:pathLst>
                <a:path w="706755" h="170814">
                  <a:moveTo>
                    <a:pt x="343725" y="2400"/>
                  </a:moveTo>
                  <a:lnTo>
                    <a:pt x="341325" y="0"/>
                  </a:lnTo>
                  <a:lnTo>
                    <a:pt x="2400" y="0"/>
                  </a:lnTo>
                  <a:lnTo>
                    <a:pt x="0" y="2400"/>
                  </a:lnTo>
                  <a:lnTo>
                    <a:pt x="0" y="55702"/>
                  </a:lnTo>
                  <a:lnTo>
                    <a:pt x="2400" y="58102"/>
                  </a:lnTo>
                  <a:lnTo>
                    <a:pt x="341325" y="58102"/>
                  </a:lnTo>
                  <a:lnTo>
                    <a:pt x="343725" y="55702"/>
                  </a:lnTo>
                  <a:lnTo>
                    <a:pt x="343725" y="47383"/>
                  </a:lnTo>
                  <a:lnTo>
                    <a:pt x="343725" y="10718"/>
                  </a:lnTo>
                  <a:lnTo>
                    <a:pt x="343725" y="2400"/>
                  </a:lnTo>
                  <a:close/>
                </a:path>
                <a:path w="706755" h="170814">
                  <a:moveTo>
                    <a:pt x="706374" y="114668"/>
                  </a:moveTo>
                  <a:lnTo>
                    <a:pt x="703973" y="112268"/>
                  </a:lnTo>
                  <a:lnTo>
                    <a:pt x="2400" y="112268"/>
                  </a:lnTo>
                  <a:lnTo>
                    <a:pt x="0" y="114668"/>
                  </a:lnTo>
                  <a:lnTo>
                    <a:pt x="0" y="167970"/>
                  </a:lnTo>
                  <a:lnTo>
                    <a:pt x="2400" y="170370"/>
                  </a:lnTo>
                  <a:lnTo>
                    <a:pt x="703973" y="170370"/>
                  </a:lnTo>
                  <a:lnTo>
                    <a:pt x="706374" y="167970"/>
                  </a:lnTo>
                  <a:lnTo>
                    <a:pt x="706374" y="159626"/>
                  </a:lnTo>
                  <a:lnTo>
                    <a:pt x="706374" y="122961"/>
                  </a:lnTo>
                  <a:lnTo>
                    <a:pt x="706374" y="114668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23272" y="3097578"/>
              <a:ext cx="2143056" cy="6463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636975" y="2499638"/>
              <a:ext cx="358775" cy="184785"/>
            </a:xfrm>
            <a:custGeom>
              <a:avLst/>
              <a:gdLst/>
              <a:ahLst/>
              <a:cxnLst/>
              <a:rect l="l" t="t" r="r" b="b"/>
              <a:pathLst>
                <a:path w="358775" h="184785">
                  <a:moveTo>
                    <a:pt x="358546" y="128892"/>
                  </a:moveTo>
                  <a:lnTo>
                    <a:pt x="356146" y="126492"/>
                  </a:lnTo>
                  <a:lnTo>
                    <a:pt x="2400" y="126492"/>
                  </a:lnTo>
                  <a:lnTo>
                    <a:pt x="0" y="128892"/>
                  </a:lnTo>
                  <a:lnTo>
                    <a:pt x="0" y="182206"/>
                  </a:lnTo>
                  <a:lnTo>
                    <a:pt x="2400" y="184594"/>
                  </a:lnTo>
                  <a:lnTo>
                    <a:pt x="356146" y="184594"/>
                  </a:lnTo>
                  <a:lnTo>
                    <a:pt x="358546" y="182206"/>
                  </a:lnTo>
                  <a:lnTo>
                    <a:pt x="358546" y="173863"/>
                  </a:lnTo>
                  <a:lnTo>
                    <a:pt x="358546" y="137198"/>
                  </a:lnTo>
                  <a:lnTo>
                    <a:pt x="358546" y="128892"/>
                  </a:lnTo>
                  <a:close/>
                </a:path>
                <a:path w="358775" h="184785">
                  <a:moveTo>
                    <a:pt x="358546" y="2400"/>
                  </a:moveTo>
                  <a:lnTo>
                    <a:pt x="356146" y="0"/>
                  </a:lnTo>
                  <a:lnTo>
                    <a:pt x="2400" y="0"/>
                  </a:lnTo>
                  <a:lnTo>
                    <a:pt x="0" y="2400"/>
                  </a:lnTo>
                  <a:lnTo>
                    <a:pt x="0" y="55702"/>
                  </a:lnTo>
                  <a:lnTo>
                    <a:pt x="2400" y="58102"/>
                  </a:lnTo>
                  <a:lnTo>
                    <a:pt x="356146" y="58102"/>
                  </a:lnTo>
                  <a:lnTo>
                    <a:pt x="358546" y="55702"/>
                  </a:lnTo>
                  <a:lnTo>
                    <a:pt x="358546" y="47383"/>
                  </a:lnTo>
                  <a:lnTo>
                    <a:pt x="358546" y="10718"/>
                  </a:lnTo>
                  <a:lnTo>
                    <a:pt x="358546" y="2400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87419" y="2512514"/>
              <a:ext cx="5143412" cy="2974854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61676" y="224583"/>
            <a:ext cx="4210049" cy="9524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1192" y="5987749"/>
            <a:ext cx="5810249" cy="32670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48492" y="2956966"/>
            <a:ext cx="9241155" cy="182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3645"/>
              </a:lnSpc>
              <a:spcBef>
                <a:spcPts val="100"/>
              </a:spcBef>
            </a:pPr>
            <a:r>
              <a:rPr dirty="0" sz="3200" spc="160" b="1">
                <a:solidFill>
                  <a:srgbClr val="12110F"/>
                </a:solidFill>
                <a:latin typeface="Trebuchet MS"/>
                <a:cs typeface="Trebuchet MS"/>
              </a:rPr>
              <a:t>Interaksi</a:t>
            </a:r>
            <a:r>
              <a:rPr dirty="0" sz="3200" spc="-14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80" b="1">
                <a:solidFill>
                  <a:srgbClr val="12110F"/>
                </a:solidFill>
                <a:latin typeface="Trebuchet MS"/>
                <a:cs typeface="Trebuchet MS"/>
              </a:rPr>
              <a:t>Manusia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90" b="1">
                <a:solidFill>
                  <a:srgbClr val="12110F"/>
                </a:solidFill>
                <a:latin typeface="Trebuchet MS"/>
                <a:cs typeface="Trebuchet MS"/>
              </a:rPr>
              <a:t>&amp;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40" b="1">
                <a:solidFill>
                  <a:srgbClr val="12110F"/>
                </a:solidFill>
                <a:latin typeface="Trebuchet MS"/>
                <a:cs typeface="Trebuchet MS"/>
              </a:rPr>
              <a:t>Komputer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204" b="1">
                <a:solidFill>
                  <a:srgbClr val="12110F"/>
                </a:solidFill>
                <a:latin typeface="Trebuchet MS"/>
                <a:cs typeface="Trebuchet MS"/>
              </a:rPr>
              <a:t>(IMK):</a:t>
            </a:r>
            <a:endParaRPr sz="3200">
              <a:latin typeface="Trebuchet MS"/>
              <a:cs typeface="Trebuchet MS"/>
            </a:endParaRPr>
          </a:p>
          <a:p>
            <a:pPr algn="just" marL="12700" marR="5080">
              <a:lnSpc>
                <a:spcPts val="3450"/>
              </a:lnSpc>
              <a:spcBef>
                <a:spcPts val="244"/>
              </a:spcBef>
            </a:pPr>
            <a:r>
              <a:rPr dirty="0" sz="3200" spc="60">
                <a:solidFill>
                  <a:srgbClr val="12110F"/>
                </a:solidFill>
                <a:latin typeface="Tahoma"/>
                <a:cs typeface="Tahoma"/>
              </a:rPr>
              <a:t>Menjadi</a:t>
            </a:r>
            <a:r>
              <a:rPr dirty="0" sz="3200" spc="-18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fondasi</a:t>
            </a:r>
            <a:r>
              <a:rPr dirty="0" sz="3200" spc="-18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12110F"/>
                </a:solidFill>
                <a:latin typeface="Tahoma"/>
                <a:cs typeface="Tahoma"/>
              </a:rPr>
              <a:t>dalam</a:t>
            </a:r>
            <a:r>
              <a:rPr dirty="0" sz="3200" spc="-18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30">
                <a:solidFill>
                  <a:srgbClr val="12110F"/>
                </a:solidFill>
                <a:latin typeface="Tahoma"/>
                <a:cs typeface="Tahoma"/>
              </a:rPr>
              <a:t>merancang</a:t>
            </a:r>
            <a:r>
              <a:rPr dirty="0" sz="3200" spc="-18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>
                <a:solidFill>
                  <a:srgbClr val="12110F"/>
                </a:solidFill>
                <a:latin typeface="Tahoma"/>
                <a:cs typeface="Tahoma"/>
              </a:rPr>
              <a:t>alur</a:t>
            </a:r>
            <a:r>
              <a:rPr dirty="0" sz="3200" spc="-18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40">
                <a:solidFill>
                  <a:srgbClr val="12110F"/>
                </a:solidFill>
                <a:latin typeface="Tahoma"/>
                <a:cs typeface="Tahoma"/>
              </a:rPr>
              <a:t>kerja</a:t>
            </a:r>
            <a:r>
              <a:rPr dirty="0" sz="3200" spc="-18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80">
                <a:solidFill>
                  <a:srgbClr val="12110F"/>
                </a:solidFill>
                <a:latin typeface="Tahoma"/>
                <a:cs typeface="Tahoma"/>
              </a:rPr>
              <a:t>dan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memberikan</a:t>
            </a:r>
            <a:r>
              <a:rPr dirty="0" sz="3200" spc="-19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rekomendasi</a:t>
            </a:r>
            <a:r>
              <a:rPr dirty="0" sz="3200" spc="-19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12110F"/>
                </a:solidFill>
                <a:latin typeface="Tahoma"/>
                <a:cs typeface="Tahoma"/>
              </a:rPr>
              <a:t>desain</a:t>
            </a:r>
            <a:r>
              <a:rPr dirty="0" sz="3200" spc="-19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UI/UX</a:t>
            </a:r>
            <a:r>
              <a:rPr dirty="0" sz="3200" spc="-19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(contoh: </a:t>
            </a:r>
            <a:r>
              <a:rPr dirty="0" sz="3200" spc="75">
                <a:solidFill>
                  <a:srgbClr val="12110F"/>
                </a:solidFill>
                <a:latin typeface="Tahoma"/>
                <a:cs typeface="Tahoma"/>
              </a:rPr>
              <a:t>pemilihan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5">
                <a:solidFill>
                  <a:srgbClr val="12110F"/>
                </a:solidFill>
                <a:latin typeface="Tahoma"/>
                <a:cs typeface="Tahoma"/>
              </a:rPr>
              <a:t>Pie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Chart).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3195" rIns="0" bIns="0" rtlCol="0" vert="horz">
            <a:spAutoFit/>
          </a:bodyPr>
          <a:lstStyle/>
          <a:p>
            <a:pPr marL="12700" marR="5080">
              <a:lnSpc>
                <a:spcPts val="5860"/>
              </a:lnSpc>
              <a:spcBef>
                <a:spcPts val="1285"/>
              </a:spcBef>
            </a:pPr>
            <a:r>
              <a:rPr dirty="0" spc="45"/>
              <a:t>Hubungan</a:t>
            </a:r>
            <a:r>
              <a:rPr dirty="0" spc="70"/>
              <a:t> </a:t>
            </a:r>
            <a:r>
              <a:rPr dirty="0" spc="130"/>
              <a:t>Teori</a:t>
            </a:r>
            <a:r>
              <a:rPr dirty="0" spc="70"/>
              <a:t> </a:t>
            </a:r>
            <a:r>
              <a:rPr dirty="0" spc="140"/>
              <a:t>Akademis</a:t>
            </a:r>
            <a:r>
              <a:rPr dirty="0" spc="70"/>
              <a:t> </a:t>
            </a:r>
            <a:r>
              <a:rPr dirty="0" spc="85"/>
              <a:t>&amp; </a:t>
            </a:r>
            <a:r>
              <a:rPr dirty="0" spc="130"/>
              <a:t>Praktik</a:t>
            </a:r>
            <a:r>
              <a:rPr dirty="0" spc="60"/>
              <a:t> </a:t>
            </a:r>
            <a:r>
              <a:rPr dirty="0" spc="50"/>
              <a:t>di</a:t>
            </a:r>
            <a:r>
              <a:rPr dirty="0" spc="65"/>
              <a:t> </a:t>
            </a:r>
            <a:r>
              <a:rPr dirty="0" spc="55"/>
              <a:t>Lapangan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8187" y="7094341"/>
            <a:ext cx="104774" cy="10477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8187" y="8294491"/>
            <a:ext cx="104774" cy="10477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7916862" y="6427655"/>
            <a:ext cx="9848215" cy="2513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95"/>
              </a:lnSpc>
              <a:spcBef>
                <a:spcPts val="100"/>
              </a:spcBef>
            </a:pPr>
            <a:r>
              <a:rPr dirty="0" sz="3200" spc="125" b="1">
                <a:solidFill>
                  <a:srgbClr val="12110F"/>
                </a:solidFill>
                <a:latin typeface="Trebuchet MS"/>
                <a:cs typeface="Trebuchet MS"/>
              </a:rPr>
              <a:t>Desain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190" b="1">
                <a:solidFill>
                  <a:srgbClr val="12110F"/>
                </a:solidFill>
                <a:latin typeface="Trebuchet MS"/>
                <a:cs typeface="Trebuchet MS"/>
              </a:rPr>
              <a:t>Basis</a:t>
            </a:r>
            <a:r>
              <a:rPr dirty="0" sz="3200" spc="-140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3200" spc="-10" b="1">
                <a:solidFill>
                  <a:srgbClr val="12110F"/>
                </a:solidFill>
                <a:latin typeface="Trebuchet MS"/>
                <a:cs typeface="Trebuchet MS"/>
              </a:rPr>
              <a:t>Data:</a:t>
            </a:r>
            <a:endParaRPr sz="3200">
              <a:latin typeface="Trebuchet MS"/>
              <a:cs typeface="Trebuchet MS"/>
            </a:endParaRPr>
          </a:p>
          <a:p>
            <a:pPr marL="702945" marR="351155">
              <a:lnSpc>
                <a:spcPts val="3150"/>
              </a:lnSpc>
              <a:spcBef>
                <a:spcPts val="334"/>
              </a:spcBef>
            </a:pP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Pemahaman</a:t>
            </a:r>
            <a:r>
              <a:rPr dirty="0" sz="3200" spc="-25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tentang</a:t>
            </a:r>
            <a:r>
              <a:rPr dirty="0" sz="3200" spc="-2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55">
                <a:solidFill>
                  <a:srgbClr val="12110F"/>
                </a:solidFill>
                <a:latin typeface="Tahoma"/>
                <a:cs typeface="Tahoma"/>
              </a:rPr>
              <a:t>struktur,</a:t>
            </a:r>
            <a:r>
              <a:rPr dirty="0" sz="3200" spc="-2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20">
                <a:solidFill>
                  <a:srgbClr val="12110F"/>
                </a:solidFill>
                <a:latin typeface="Tahoma"/>
                <a:cs typeface="Tahoma"/>
              </a:rPr>
              <a:t>relasi,</a:t>
            </a:r>
            <a:r>
              <a:rPr dirty="0" sz="3200" spc="-2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80">
                <a:solidFill>
                  <a:srgbClr val="12110F"/>
                </a:solidFill>
                <a:latin typeface="Tahoma"/>
                <a:cs typeface="Tahoma"/>
              </a:rPr>
              <a:t>dan </a:t>
            </a: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integritas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0">
                <a:solidFill>
                  <a:srgbClr val="12110F"/>
                </a:solidFill>
                <a:latin typeface="Tahoma"/>
                <a:cs typeface="Tahoma"/>
              </a:rPr>
              <a:t>data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sangat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14">
                <a:solidFill>
                  <a:srgbClr val="12110F"/>
                </a:solidFill>
                <a:latin typeface="Tahoma"/>
                <a:cs typeface="Tahoma"/>
              </a:rPr>
              <a:t>penting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25">
                <a:solidFill>
                  <a:srgbClr val="12110F"/>
                </a:solidFill>
                <a:latin typeface="Tahoma"/>
                <a:cs typeface="Tahoma"/>
              </a:rPr>
              <a:t>saat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melakukan </a:t>
            </a:r>
            <a:r>
              <a:rPr dirty="0" sz="3200" spc="90">
                <a:solidFill>
                  <a:srgbClr val="12110F"/>
                </a:solidFill>
                <a:latin typeface="Tahoma"/>
                <a:cs typeface="Tahoma"/>
              </a:rPr>
              <a:t>verifikasi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85">
                <a:solidFill>
                  <a:srgbClr val="12110F"/>
                </a:solidFill>
                <a:latin typeface="Tahoma"/>
                <a:cs typeface="Tahoma"/>
              </a:rPr>
              <a:t>di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35">
                <a:solidFill>
                  <a:srgbClr val="12110F"/>
                </a:solidFill>
                <a:latin typeface="Tahoma"/>
                <a:cs typeface="Tahoma"/>
              </a:rPr>
              <a:t>Firebase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5">
                <a:solidFill>
                  <a:srgbClr val="12110F"/>
                </a:solidFill>
                <a:latin typeface="Tahoma"/>
                <a:cs typeface="Tahoma"/>
              </a:rPr>
              <a:t>Console.</a:t>
            </a:r>
            <a:endParaRPr sz="3200">
              <a:latin typeface="Tahoma"/>
              <a:cs typeface="Tahoma"/>
            </a:endParaRPr>
          </a:p>
          <a:p>
            <a:pPr marL="702945" marR="5080">
              <a:lnSpc>
                <a:spcPts val="3150"/>
              </a:lnSpc>
            </a:pPr>
            <a:r>
              <a:rPr dirty="0" sz="3200" spc="130">
                <a:solidFill>
                  <a:srgbClr val="12110F"/>
                </a:solidFill>
                <a:latin typeface="Tahoma"/>
                <a:cs typeface="Tahoma"/>
              </a:rPr>
              <a:t>Memungkinkan</a:t>
            </a:r>
            <a:r>
              <a:rPr dirty="0" sz="3200" spc="-26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90">
                <a:solidFill>
                  <a:srgbClr val="12110F"/>
                </a:solidFill>
                <a:latin typeface="Tahoma"/>
                <a:cs typeface="Tahoma"/>
              </a:rPr>
              <a:t>identifikasi</a:t>
            </a:r>
            <a:r>
              <a:rPr dirty="0" sz="3200" spc="-25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30">
                <a:solidFill>
                  <a:srgbClr val="12110F"/>
                </a:solidFill>
                <a:latin typeface="Tahoma"/>
                <a:cs typeface="Tahoma"/>
              </a:rPr>
              <a:t>potensi</a:t>
            </a:r>
            <a:r>
              <a:rPr dirty="0" sz="3200" spc="-25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5">
                <a:solidFill>
                  <a:srgbClr val="12110F"/>
                </a:solidFill>
                <a:latin typeface="Tahoma"/>
                <a:cs typeface="Tahoma"/>
              </a:rPr>
              <a:t>anomali</a:t>
            </a:r>
            <a:r>
              <a:rPr dirty="0" sz="3200" spc="-254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100">
                <a:solidFill>
                  <a:srgbClr val="12110F"/>
                </a:solidFill>
                <a:latin typeface="Tahoma"/>
                <a:cs typeface="Tahoma"/>
              </a:rPr>
              <a:t>data </a:t>
            </a:r>
            <a:r>
              <a:rPr dirty="0" sz="3200" spc="150">
                <a:solidFill>
                  <a:srgbClr val="12110F"/>
                </a:solidFill>
                <a:latin typeface="Tahoma"/>
                <a:cs typeface="Tahoma"/>
              </a:rPr>
              <a:t>secara</a:t>
            </a:r>
            <a:r>
              <a:rPr dirty="0" sz="3200" spc="-2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70">
                <a:solidFill>
                  <a:srgbClr val="12110F"/>
                </a:solidFill>
                <a:latin typeface="Tahoma"/>
                <a:cs typeface="Tahoma"/>
              </a:rPr>
              <a:t>lebih</a:t>
            </a:r>
            <a:r>
              <a:rPr dirty="0" sz="3200" spc="-26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3200" spc="-10">
                <a:solidFill>
                  <a:srgbClr val="12110F"/>
                </a:solidFill>
                <a:latin typeface="Tahoma"/>
                <a:cs typeface="Tahoma"/>
              </a:rPr>
              <a:t>efisien.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1987" y="4410917"/>
            <a:ext cx="0" cy="2714625"/>
          </a:xfrm>
          <a:custGeom>
            <a:avLst/>
            <a:gdLst/>
            <a:ahLst/>
            <a:cxnLst/>
            <a:rect l="l" t="t" r="r" b="b"/>
            <a:pathLst>
              <a:path w="0" h="2714625">
                <a:moveTo>
                  <a:pt x="0" y="0"/>
                </a:moveTo>
                <a:lnTo>
                  <a:pt x="0" y="2714624"/>
                </a:lnTo>
              </a:path>
            </a:pathLst>
          </a:custGeom>
          <a:ln w="9524">
            <a:solidFill>
              <a:srgbClr val="E6E3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481762" y="4410917"/>
            <a:ext cx="0" cy="2714625"/>
          </a:xfrm>
          <a:custGeom>
            <a:avLst/>
            <a:gdLst/>
            <a:ahLst/>
            <a:cxnLst/>
            <a:rect l="l" t="t" r="r" b="b"/>
            <a:pathLst>
              <a:path w="0" h="2714625">
                <a:moveTo>
                  <a:pt x="0" y="0"/>
                </a:moveTo>
                <a:lnTo>
                  <a:pt x="0" y="2714624"/>
                </a:lnTo>
              </a:path>
            </a:pathLst>
          </a:custGeom>
          <a:ln w="9524">
            <a:solidFill>
              <a:srgbClr val="E6E3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301536" y="4410917"/>
            <a:ext cx="0" cy="2714625"/>
          </a:xfrm>
          <a:custGeom>
            <a:avLst/>
            <a:gdLst/>
            <a:ahLst/>
            <a:cxnLst/>
            <a:rect l="l" t="t" r="r" b="b"/>
            <a:pathLst>
              <a:path w="0" h="2714625">
                <a:moveTo>
                  <a:pt x="0" y="0"/>
                </a:moveTo>
                <a:lnTo>
                  <a:pt x="0" y="2714624"/>
                </a:lnTo>
              </a:path>
            </a:pathLst>
          </a:custGeom>
          <a:ln w="9524">
            <a:solidFill>
              <a:srgbClr val="E6E3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028164" y="0"/>
            <a:ext cx="3260090" cy="4024629"/>
          </a:xfrm>
          <a:custGeom>
            <a:avLst/>
            <a:gdLst/>
            <a:ahLst/>
            <a:cxnLst/>
            <a:rect l="l" t="t" r="r" b="b"/>
            <a:pathLst>
              <a:path w="3260090" h="4024629">
                <a:moveTo>
                  <a:pt x="461975" y="0"/>
                </a:moveTo>
                <a:lnTo>
                  <a:pt x="239090" y="0"/>
                </a:lnTo>
                <a:lnTo>
                  <a:pt x="0" y="1372603"/>
                </a:lnTo>
                <a:lnTo>
                  <a:pt x="461848" y="4024058"/>
                </a:lnTo>
                <a:lnTo>
                  <a:pt x="461975" y="4024058"/>
                </a:lnTo>
                <a:lnTo>
                  <a:pt x="461975" y="0"/>
                </a:lnTo>
                <a:close/>
              </a:path>
              <a:path w="3260090" h="4024629">
                <a:moveTo>
                  <a:pt x="3259823" y="313004"/>
                </a:moveTo>
                <a:lnTo>
                  <a:pt x="3201835" y="501535"/>
                </a:lnTo>
                <a:lnTo>
                  <a:pt x="3201835" y="0"/>
                </a:lnTo>
                <a:lnTo>
                  <a:pt x="2836545" y="0"/>
                </a:lnTo>
                <a:lnTo>
                  <a:pt x="2653804" y="640156"/>
                </a:lnTo>
                <a:lnTo>
                  <a:pt x="2653804" y="0"/>
                </a:lnTo>
                <a:lnTo>
                  <a:pt x="2317089" y="0"/>
                </a:lnTo>
                <a:lnTo>
                  <a:pt x="2105926" y="802474"/>
                </a:lnTo>
                <a:lnTo>
                  <a:pt x="2105926" y="0"/>
                </a:lnTo>
                <a:lnTo>
                  <a:pt x="1797570" y="0"/>
                </a:lnTo>
                <a:lnTo>
                  <a:pt x="1557896" y="994625"/>
                </a:lnTo>
                <a:lnTo>
                  <a:pt x="1557896" y="0"/>
                </a:lnTo>
                <a:lnTo>
                  <a:pt x="1278064" y="0"/>
                </a:lnTo>
                <a:lnTo>
                  <a:pt x="1010018" y="1225765"/>
                </a:lnTo>
                <a:lnTo>
                  <a:pt x="1010018" y="0"/>
                </a:lnTo>
                <a:lnTo>
                  <a:pt x="758634" y="0"/>
                </a:lnTo>
                <a:lnTo>
                  <a:pt x="488975" y="1372603"/>
                </a:lnTo>
                <a:lnTo>
                  <a:pt x="1009865" y="4024058"/>
                </a:lnTo>
                <a:lnTo>
                  <a:pt x="1010018" y="4024058"/>
                </a:lnTo>
                <a:lnTo>
                  <a:pt x="1010018" y="1519440"/>
                </a:lnTo>
                <a:lnTo>
                  <a:pt x="1557718" y="4024058"/>
                </a:lnTo>
                <a:lnTo>
                  <a:pt x="1557896" y="4024058"/>
                </a:lnTo>
                <a:lnTo>
                  <a:pt x="1557896" y="1750593"/>
                </a:lnTo>
                <a:lnTo>
                  <a:pt x="2105736" y="4024058"/>
                </a:lnTo>
                <a:lnTo>
                  <a:pt x="2105926" y="4024058"/>
                </a:lnTo>
                <a:lnTo>
                  <a:pt x="2105926" y="1942744"/>
                </a:lnTo>
                <a:lnTo>
                  <a:pt x="2653601" y="4024058"/>
                </a:lnTo>
                <a:lnTo>
                  <a:pt x="2653804" y="4024058"/>
                </a:lnTo>
                <a:lnTo>
                  <a:pt x="2653804" y="2105063"/>
                </a:lnTo>
                <a:lnTo>
                  <a:pt x="3201619" y="4024058"/>
                </a:lnTo>
                <a:lnTo>
                  <a:pt x="3201835" y="4024058"/>
                </a:lnTo>
                <a:lnTo>
                  <a:pt x="3201835" y="2243683"/>
                </a:lnTo>
                <a:lnTo>
                  <a:pt x="3259823" y="2432215"/>
                </a:lnTo>
                <a:lnTo>
                  <a:pt x="3259823" y="501535"/>
                </a:lnTo>
                <a:lnTo>
                  <a:pt x="3259823" y="313004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539182" y="0"/>
            <a:ext cx="403225" cy="4024629"/>
          </a:xfrm>
          <a:custGeom>
            <a:avLst/>
            <a:gdLst/>
            <a:ahLst/>
            <a:cxnLst/>
            <a:rect l="l" t="t" r="r" b="b"/>
            <a:pathLst>
              <a:path w="403225" h="4024629">
                <a:moveTo>
                  <a:pt x="403092" y="4024050"/>
                </a:moveTo>
                <a:lnTo>
                  <a:pt x="0" y="1372603"/>
                </a:lnTo>
                <a:lnTo>
                  <a:pt x="208611" y="0"/>
                </a:lnTo>
                <a:lnTo>
                  <a:pt x="403092" y="0"/>
                </a:lnTo>
                <a:lnTo>
                  <a:pt x="403092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050199" y="0"/>
            <a:ext cx="344805" cy="4024629"/>
          </a:xfrm>
          <a:custGeom>
            <a:avLst/>
            <a:gdLst/>
            <a:ahLst/>
            <a:cxnLst/>
            <a:rect l="l" t="t" r="r" b="b"/>
            <a:pathLst>
              <a:path w="344805" h="4024629">
                <a:moveTo>
                  <a:pt x="344198" y="4024050"/>
                </a:moveTo>
                <a:lnTo>
                  <a:pt x="0" y="1372603"/>
                </a:lnTo>
                <a:lnTo>
                  <a:pt x="178132" y="0"/>
                </a:lnTo>
                <a:lnTo>
                  <a:pt x="344198" y="0"/>
                </a:lnTo>
                <a:lnTo>
                  <a:pt x="344198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561215" y="0"/>
            <a:ext cx="285750" cy="4024629"/>
          </a:xfrm>
          <a:custGeom>
            <a:avLst/>
            <a:gdLst/>
            <a:ahLst/>
            <a:cxnLst/>
            <a:rect l="l" t="t" r="r" b="b"/>
            <a:pathLst>
              <a:path w="285750" h="4024629">
                <a:moveTo>
                  <a:pt x="285148" y="4024050"/>
                </a:moveTo>
                <a:lnTo>
                  <a:pt x="0" y="1372603"/>
                </a:lnTo>
                <a:lnTo>
                  <a:pt x="147572" y="0"/>
                </a:lnTo>
                <a:lnTo>
                  <a:pt x="285148" y="0"/>
                </a:lnTo>
                <a:lnTo>
                  <a:pt x="285148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072231" y="0"/>
            <a:ext cx="226695" cy="4024629"/>
          </a:xfrm>
          <a:custGeom>
            <a:avLst/>
            <a:gdLst/>
            <a:ahLst/>
            <a:cxnLst/>
            <a:rect l="l" t="t" r="r" b="b"/>
            <a:pathLst>
              <a:path w="226694" h="4024629">
                <a:moveTo>
                  <a:pt x="226255" y="4024050"/>
                </a:moveTo>
                <a:lnTo>
                  <a:pt x="0" y="1372603"/>
                </a:lnTo>
                <a:lnTo>
                  <a:pt x="117093" y="0"/>
                </a:lnTo>
                <a:lnTo>
                  <a:pt x="226255" y="0"/>
                </a:lnTo>
                <a:lnTo>
                  <a:pt x="226255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583248" y="0"/>
            <a:ext cx="167640" cy="4024629"/>
          </a:xfrm>
          <a:custGeom>
            <a:avLst/>
            <a:gdLst/>
            <a:ahLst/>
            <a:cxnLst/>
            <a:rect l="l" t="t" r="r" b="b"/>
            <a:pathLst>
              <a:path w="167640" h="4024629">
                <a:moveTo>
                  <a:pt x="167204" y="4024050"/>
                </a:moveTo>
                <a:lnTo>
                  <a:pt x="0" y="1372603"/>
                </a:lnTo>
                <a:lnTo>
                  <a:pt x="86533" y="0"/>
                </a:lnTo>
                <a:lnTo>
                  <a:pt x="167204" y="0"/>
                </a:lnTo>
                <a:lnTo>
                  <a:pt x="167204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094264" y="0"/>
            <a:ext cx="108585" cy="4024629"/>
          </a:xfrm>
          <a:custGeom>
            <a:avLst/>
            <a:gdLst/>
            <a:ahLst/>
            <a:cxnLst/>
            <a:rect l="l" t="t" r="r" b="b"/>
            <a:pathLst>
              <a:path w="108584" h="4024629">
                <a:moveTo>
                  <a:pt x="108312" y="4024050"/>
                </a:moveTo>
                <a:lnTo>
                  <a:pt x="0" y="1372603"/>
                </a:lnTo>
                <a:lnTo>
                  <a:pt x="56054" y="0"/>
                </a:lnTo>
                <a:lnTo>
                  <a:pt x="108312" y="0"/>
                </a:lnTo>
                <a:lnTo>
                  <a:pt x="108312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605911" y="0"/>
            <a:ext cx="48895" cy="4024629"/>
          </a:xfrm>
          <a:custGeom>
            <a:avLst/>
            <a:gdLst/>
            <a:ahLst/>
            <a:cxnLst/>
            <a:rect l="l" t="t" r="r" b="b"/>
            <a:pathLst>
              <a:path w="48895" h="4024629">
                <a:moveTo>
                  <a:pt x="48630" y="4024050"/>
                </a:moveTo>
                <a:lnTo>
                  <a:pt x="0" y="1406592"/>
                </a:lnTo>
                <a:lnTo>
                  <a:pt x="0" y="1338613"/>
                </a:lnTo>
                <a:lnTo>
                  <a:pt x="24862" y="0"/>
                </a:lnTo>
                <a:lnTo>
                  <a:pt x="48630" y="0"/>
                </a:lnTo>
                <a:lnTo>
                  <a:pt x="48630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40535" y="437636"/>
            <a:ext cx="7547609" cy="326390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z="8000" spc="110">
                <a:solidFill>
                  <a:srgbClr val="F5F5F5"/>
                </a:solidFill>
              </a:rPr>
              <a:t>Peningkatan </a:t>
            </a:r>
            <a:r>
              <a:rPr dirty="0" sz="8000" spc="235">
                <a:solidFill>
                  <a:srgbClr val="F5F5F5"/>
                </a:solidFill>
              </a:rPr>
              <a:t>Kompetensi</a:t>
            </a:r>
            <a:r>
              <a:rPr dirty="0" sz="8000" spc="110">
                <a:solidFill>
                  <a:srgbClr val="F5F5F5"/>
                </a:solidFill>
              </a:rPr>
              <a:t> </a:t>
            </a:r>
            <a:r>
              <a:rPr dirty="0" sz="8000" spc="135">
                <a:solidFill>
                  <a:srgbClr val="F5F5F5"/>
                </a:solidFill>
              </a:rPr>
              <a:t>&amp; </a:t>
            </a:r>
            <a:r>
              <a:rPr dirty="0" sz="8000" spc="65">
                <a:solidFill>
                  <a:srgbClr val="F5F5F5"/>
                </a:solidFill>
              </a:rPr>
              <a:t>Keahlian</a:t>
            </a:r>
            <a:endParaRPr sz="8000"/>
          </a:p>
        </p:txBody>
      </p:sp>
      <p:sp>
        <p:nvSpPr>
          <p:cNvPr id="15" name="object 15" descr=""/>
          <p:cNvSpPr txBox="1"/>
          <p:nvPr/>
        </p:nvSpPr>
        <p:spPr>
          <a:xfrm>
            <a:off x="649287" y="7901480"/>
            <a:ext cx="11932920" cy="111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dirty="0" sz="2400" spc="100">
                <a:solidFill>
                  <a:srgbClr val="F5F5F5"/>
                </a:solidFill>
                <a:latin typeface="Tahoma"/>
                <a:cs typeface="Tahoma"/>
              </a:rPr>
              <a:t>Pemahaman</a:t>
            </a:r>
            <a:r>
              <a:rPr dirty="0" sz="2400" spc="-204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5F5F5"/>
                </a:solidFill>
                <a:latin typeface="Tahoma"/>
                <a:cs typeface="Tahoma"/>
              </a:rPr>
              <a:t>yang</a:t>
            </a:r>
            <a:r>
              <a:rPr dirty="0" sz="2400" spc="-20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5F5F5"/>
                </a:solidFill>
                <a:latin typeface="Tahoma"/>
                <a:cs typeface="Tahoma"/>
              </a:rPr>
              <a:t>didapat</a:t>
            </a:r>
            <a:r>
              <a:rPr dirty="0" sz="2400" spc="-20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-560">
                <a:solidFill>
                  <a:srgbClr val="F5F5F5"/>
                </a:solidFill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400" spc="85">
                <a:solidFill>
                  <a:srgbClr val="F5F5F5"/>
                </a:solidFill>
                <a:latin typeface="Tahoma"/>
                <a:cs typeface="Tahoma"/>
              </a:rPr>
              <a:t>Peran</a:t>
            </a:r>
            <a:r>
              <a:rPr dirty="0" sz="2400" spc="-19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204">
                <a:solidFill>
                  <a:srgbClr val="F5F5F5"/>
                </a:solidFill>
                <a:latin typeface="Tahoma"/>
                <a:cs typeface="Tahoma"/>
              </a:rPr>
              <a:t>QA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5F5F5"/>
                </a:solidFill>
                <a:latin typeface="Tahoma"/>
                <a:cs typeface="Tahoma"/>
              </a:rPr>
              <a:t>sangat</a:t>
            </a:r>
            <a:r>
              <a:rPr dirty="0" sz="2400" spc="-19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5F5F5"/>
                </a:solidFill>
                <a:latin typeface="Tahoma"/>
                <a:cs typeface="Tahoma"/>
              </a:rPr>
              <a:t>krusial,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F5F5F5"/>
                </a:solidFill>
                <a:latin typeface="Tahoma"/>
                <a:cs typeface="Tahoma"/>
              </a:rPr>
              <a:t>yaitu</a:t>
            </a:r>
            <a:r>
              <a:rPr dirty="0" sz="2400" spc="-19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F5F5F5"/>
                </a:solidFill>
                <a:latin typeface="Tahoma"/>
                <a:cs typeface="Tahoma"/>
              </a:rPr>
              <a:t>memastikan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F5F5F5"/>
                </a:solidFill>
                <a:latin typeface="Tahoma"/>
                <a:cs typeface="Tahoma"/>
              </a:rPr>
              <a:t>produk</a:t>
            </a:r>
            <a:r>
              <a:rPr dirty="0" sz="2400" spc="-19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5F5F5"/>
                </a:solidFill>
                <a:latin typeface="Tahoma"/>
                <a:cs typeface="Tahoma"/>
              </a:rPr>
              <a:t>tidak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F5F5F5"/>
                </a:solidFill>
                <a:latin typeface="Tahoma"/>
                <a:cs typeface="Tahoma"/>
              </a:rPr>
              <a:t>hanya</a:t>
            </a:r>
            <a:r>
              <a:rPr dirty="0" sz="2400" spc="-19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45">
                <a:solidFill>
                  <a:srgbClr val="F5F5F5"/>
                </a:solidFill>
                <a:latin typeface="Tahoma"/>
                <a:cs typeface="Tahoma"/>
              </a:rPr>
              <a:t>berfungsi,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5F5F5"/>
                </a:solidFill>
                <a:latin typeface="Tahoma"/>
                <a:cs typeface="Tahoma"/>
              </a:rPr>
              <a:t>tetapi</a:t>
            </a:r>
            <a:r>
              <a:rPr dirty="0" sz="2400" spc="-1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F5F5F5"/>
                </a:solidFill>
                <a:latin typeface="Tahoma"/>
                <a:cs typeface="Tahoma"/>
              </a:rPr>
              <a:t>juga </a:t>
            </a:r>
            <a:r>
              <a:rPr dirty="0" sz="2400" spc="105">
                <a:solidFill>
                  <a:srgbClr val="F5F5F5"/>
                </a:solidFill>
                <a:latin typeface="Tahoma"/>
                <a:cs typeface="Tahoma"/>
              </a:rPr>
              <a:t>memberikan</a:t>
            </a:r>
            <a:r>
              <a:rPr dirty="0" sz="24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5F5F5"/>
                </a:solidFill>
                <a:latin typeface="Tahoma"/>
                <a:cs typeface="Tahoma"/>
              </a:rPr>
              <a:t>nilai</a:t>
            </a:r>
            <a:r>
              <a:rPr dirty="0" sz="24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F5F5F5"/>
                </a:solidFill>
                <a:latin typeface="Tahoma"/>
                <a:cs typeface="Tahoma"/>
              </a:rPr>
              <a:t>dan</a:t>
            </a:r>
            <a:r>
              <a:rPr dirty="0" sz="24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5F5F5"/>
                </a:solidFill>
                <a:latin typeface="Tahoma"/>
                <a:cs typeface="Tahoma"/>
              </a:rPr>
              <a:t>kemudahan</a:t>
            </a:r>
            <a:r>
              <a:rPr dirty="0" sz="2400" spc="-17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F5F5F5"/>
                </a:solidFill>
                <a:latin typeface="Tahoma"/>
                <a:cs typeface="Tahoma"/>
              </a:rPr>
              <a:t>bagi</a:t>
            </a:r>
            <a:r>
              <a:rPr dirty="0" sz="24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35">
                <a:solidFill>
                  <a:srgbClr val="F5F5F5"/>
                </a:solidFill>
                <a:latin typeface="Tahoma"/>
                <a:cs typeface="Tahoma"/>
              </a:rPr>
              <a:t>pengguna.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170232" y="5145847"/>
            <a:ext cx="4533265" cy="11169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34"/>
              </a:spcBef>
            </a:pPr>
            <a:r>
              <a:rPr dirty="0" sz="3600" spc="150">
                <a:solidFill>
                  <a:srgbClr val="F5F5F5"/>
                </a:solidFill>
                <a:latin typeface="Tahoma"/>
                <a:cs typeface="Tahoma"/>
              </a:rPr>
              <a:t>Mendokumentasikan </a:t>
            </a:r>
            <a:r>
              <a:rPr dirty="0" sz="3600" spc="170">
                <a:solidFill>
                  <a:srgbClr val="F5F5F5"/>
                </a:solidFill>
                <a:latin typeface="Tahoma"/>
                <a:cs typeface="Tahoma"/>
              </a:rPr>
              <a:t>bug</a:t>
            </a:r>
            <a:r>
              <a:rPr dirty="0" sz="3600" spc="-3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75">
                <a:solidFill>
                  <a:srgbClr val="F5F5F5"/>
                </a:solidFill>
                <a:latin typeface="Tahoma"/>
                <a:cs typeface="Tahoma"/>
              </a:rPr>
              <a:t>secara</a:t>
            </a:r>
            <a:r>
              <a:rPr dirty="0" sz="3600" spc="-3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-10">
                <a:solidFill>
                  <a:srgbClr val="F5F5F5"/>
                </a:solidFill>
                <a:latin typeface="Tahoma"/>
                <a:cs typeface="Tahoma"/>
              </a:rPr>
              <a:t>rinci.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82514" y="4557510"/>
            <a:ext cx="5408930" cy="22028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5"/>
              </a:spcBef>
            </a:pPr>
            <a:r>
              <a:rPr dirty="0" sz="3600" spc="145">
                <a:solidFill>
                  <a:srgbClr val="F5F5F5"/>
                </a:solidFill>
                <a:latin typeface="Tahoma"/>
                <a:cs typeface="Tahoma"/>
              </a:rPr>
              <a:t>Berkomunikasi</a:t>
            </a:r>
            <a:r>
              <a:rPr dirty="0" sz="3600" spc="-3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45">
                <a:solidFill>
                  <a:srgbClr val="F5F5F5"/>
                </a:solidFill>
                <a:latin typeface="Tahoma"/>
                <a:cs typeface="Tahoma"/>
              </a:rPr>
              <a:t>teknis </a:t>
            </a:r>
            <a:r>
              <a:rPr dirty="0" sz="3600" spc="140">
                <a:solidFill>
                  <a:srgbClr val="F5F5F5"/>
                </a:solidFill>
                <a:latin typeface="Tahoma"/>
                <a:cs typeface="Tahoma"/>
              </a:rPr>
              <a:t>dengan</a:t>
            </a:r>
            <a:r>
              <a:rPr dirty="0" sz="3600" spc="-3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55">
                <a:solidFill>
                  <a:srgbClr val="F5F5F5"/>
                </a:solidFill>
                <a:latin typeface="Tahoma"/>
                <a:cs typeface="Tahoma"/>
              </a:rPr>
              <a:t>tim</a:t>
            </a:r>
            <a:r>
              <a:rPr dirty="0" sz="3600" spc="-3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60">
                <a:solidFill>
                  <a:srgbClr val="F5F5F5"/>
                </a:solidFill>
                <a:latin typeface="Tahoma"/>
                <a:cs typeface="Tahoma"/>
              </a:rPr>
              <a:t>pengembang </a:t>
            </a:r>
            <a:r>
              <a:rPr dirty="0" sz="3600" spc="135">
                <a:solidFill>
                  <a:srgbClr val="F5F5F5"/>
                </a:solidFill>
                <a:latin typeface="Tahoma"/>
                <a:cs typeface="Tahoma"/>
              </a:rPr>
              <a:t>untuk</a:t>
            </a:r>
            <a:r>
              <a:rPr dirty="0" sz="3600" spc="-29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95">
                <a:solidFill>
                  <a:srgbClr val="F5F5F5"/>
                </a:solidFill>
                <a:latin typeface="Tahoma"/>
                <a:cs typeface="Tahoma"/>
              </a:rPr>
              <a:t>mempercepat </a:t>
            </a:r>
            <a:r>
              <a:rPr dirty="0" sz="3600" spc="190">
                <a:solidFill>
                  <a:srgbClr val="F5F5F5"/>
                </a:solidFill>
                <a:latin typeface="Tahoma"/>
                <a:cs typeface="Tahoma"/>
              </a:rPr>
              <a:t>proses</a:t>
            </a:r>
            <a:r>
              <a:rPr dirty="0" sz="3600" spc="-3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45">
                <a:solidFill>
                  <a:srgbClr val="F5F5F5"/>
                </a:solidFill>
                <a:latin typeface="Tahoma"/>
                <a:cs typeface="Tahoma"/>
              </a:rPr>
              <a:t>perbaikan.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49350" y="4874385"/>
            <a:ext cx="401637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spc="185">
                <a:solidFill>
                  <a:srgbClr val="F5F5F5"/>
                </a:solidFill>
                <a:latin typeface="Tahoma"/>
                <a:cs typeface="Tahoma"/>
              </a:rPr>
              <a:t>Membuat</a:t>
            </a:r>
            <a:r>
              <a:rPr dirty="0" sz="3600" spc="-2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25">
                <a:solidFill>
                  <a:srgbClr val="F5F5F5"/>
                </a:solidFill>
                <a:latin typeface="Tahoma"/>
                <a:cs typeface="Tahoma"/>
              </a:rPr>
              <a:t>skenario </a:t>
            </a:r>
            <a:r>
              <a:rPr dirty="0" sz="3600" spc="70">
                <a:solidFill>
                  <a:srgbClr val="F5F5F5"/>
                </a:solidFill>
                <a:latin typeface="Tahoma"/>
                <a:cs typeface="Tahoma"/>
              </a:rPr>
              <a:t>pengujian</a:t>
            </a:r>
            <a:r>
              <a:rPr dirty="0" sz="3600" spc="-27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600" spc="120">
                <a:solidFill>
                  <a:srgbClr val="F5F5F5"/>
                </a:solidFill>
                <a:latin typeface="Tahoma"/>
                <a:cs typeface="Tahoma"/>
              </a:rPr>
              <a:t>yang </a:t>
            </a:r>
            <a:r>
              <a:rPr dirty="0" sz="3600" spc="60">
                <a:solidFill>
                  <a:srgbClr val="F5F5F5"/>
                </a:solidFill>
                <a:latin typeface="Tahoma"/>
                <a:cs typeface="Tahoma"/>
              </a:rPr>
              <a:t>efektif.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66749" y="3672103"/>
            <a:ext cx="6786880" cy="4493895"/>
            <a:chOff x="666749" y="3672103"/>
            <a:chExt cx="6786880" cy="4493895"/>
          </a:xfrm>
        </p:grpSpPr>
        <p:sp>
          <p:nvSpPr>
            <p:cNvPr id="4" name="object 4" descr=""/>
            <p:cNvSpPr/>
            <p:nvPr/>
          </p:nvSpPr>
          <p:spPr>
            <a:xfrm>
              <a:off x="666749" y="3672103"/>
              <a:ext cx="6786880" cy="4493895"/>
            </a:xfrm>
            <a:custGeom>
              <a:avLst/>
              <a:gdLst/>
              <a:ahLst/>
              <a:cxnLst/>
              <a:rect l="l" t="t" r="r" b="b"/>
              <a:pathLst>
                <a:path w="6786880" h="4493895">
                  <a:moveTo>
                    <a:pt x="6786561" y="4493739"/>
                  </a:moveTo>
                  <a:lnTo>
                    <a:pt x="0" y="4493739"/>
                  </a:lnTo>
                  <a:lnTo>
                    <a:pt x="0" y="0"/>
                  </a:lnTo>
                  <a:lnTo>
                    <a:pt x="6786561" y="0"/>
                  </a:lnTo>
                  <a:lnTo>
                    <a:pt x="6786561" y="4493739"/>
                  </a:lnTo>
                  <a:close/>
                </a:path>
              </a:pathLst>
            </a:custGeom>
            <a:solidFill>
              <a:srgbClr val="CCC8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3672103"/>
              <a:ext cx="6229349" cy="41624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4049" y="638841"/>
            <a:ext cx="6822440" cy="2480945"/>
          </a:xfrm>
          <a:prstGeom prst="rect"/>
        </p:spPr>
        <p:txBody>
          <a:bodyPr wrap="square" lIns="0" tIns="238125" rIns="0" bIns="0" rtlCol="0" vert="horz">
            <a:spAutoFit/>
          </a:bodyPr>
          <a:lstStyle/>
          <a:p>
            <a:pPr marL="12700" marR="5080">
              <a:lnSpc>
                <a:spcPts val="8780"/>
              </a:lnSpc>
              <a:spcBef>
                <a:spcPts val="1875"/>
              </a:spcBef>
            </a:pPr>
            <a:r>
              <a:rPr dirty="0" sz="8800" spc="145"/>
              <a:t>Kesimpulan </a:t>
            </a:r>
            <a:r>
              <a:rPr dirty="0" sz="8800" spc="95"/>
              <a:t>Proyek</a:t>
            </a:r>
            <a:endParaRPr sz="8800"/>
          </a:p>
        </p:txBody>
      </p:sp>
      <p:sp>
        <p:nvSpPr>
          <p:cNvPr id="7" name="object 7" descr=""/>
          <p:cNvSpPr/>
          <p:nvPr/>
        </p:nvSpPr>
        <p:spPr>
          <a:xfrm>
            <a:off x="8297920" y="4339344"/>
            <a:ext cx="8734425" cy="0"/>
          </a:xfrm>
          <a:custGeom>
            <a:avLst/>
            <a:gdLst/>
            <a:ahLst/>
            <a:cxnLst/>
            <a:rect l="l" t="t" r="r" b="b"/>
            <a:pathLst>
              <a:path w="8734425" h="0">
                <a:moveTo>
                  <a:pt x="87340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297964" y="3510426"/>
            <a:ext cx="405765" cy="405765"/>
          </a:xfrm>
          <a:custGeom>
            <a:avLst/>
            <a:gdLst/>
            <a:ahLst/>
            <a:cxnLst/>
            <a:rect l="l" t="t" r="r" b="b"/>
            <a:pathLst>
              <a:path w="405765" h="405764">
                <a:moveTo>
                  <a:pt x="405498" y="405498"/>
                </a:moveTo>
                <a:lnTo>
                  <a:pt x="30654" y="405498"/>
                </a:lnTo>
                <a:lnTo>
                  <a:pt x="30654" y="318806"/>
                </a:lnTo>
                <a:lnTo>
                  <a:pt x="257511" y="318806"/>
                </a:lnTo>
                <a:lnTo>
                  <a:pt x="0" y="61294"/>
                </a:lnTo>
                <a:lnTo>
                  <a:pt x="61294" y="0"/>
                </a:lnTo>
                <a:lnTo>
                  <a:pt x="318806" y="257511"/>
                </a:lnTo>
                <a:lnTo>
                  <a:pt x="318806" y="30654"/>
                </a:lnTo>
                <a:lnTo>
                  <a:pt x="405498" y="30654"/>
                </a:lnTo>
                <a:lnTo>
                  <a:pt x="405498" y="405498"/>
                </a:lnTo>
                <a:close/>
              </a:path>
            </a:pathLst>
          </a:custGeom>
          <a:solidFill>
            <a:srgbClr val="176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285308" y="1098345"/>
            <a:ext cx="9297670" cy="14903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>
              <a:lnSpc>
                <a:spcPts val="2975"/>
              </a:lnSpc>
              <a:spcBef>
                <a:spcPts val="120"/>
              </a:spcBef>
            </a:pPr>
            <a:r>
              <a:rPr dirty="0" sz="2650" spc="114" b="1">
                <a:solidFill>
                  <a:srgbClr val="12110F"/>
                </a:solidFill>
                <a:latin typeface="Trebuchet MS"/>
                <a:cs typeface="Trebuchet MS"/>
              </a:rPr>
              <a:t>Pencapaian</a:t>
            </a:r>
            <a:r>
              <a:rPr dirty="0" sz="2650" spc="-125" b="1">
                <a:solidFill>
                  <a:srgbClr val="12110F"/>
                </a:solidFill>
                <a:latin typeface="Trebuchet MS"/>
                <a:cs typeface="Trebuchet MS"/>
              </a:rPr>
              <a:t> </a:t>
            </a:r>
            <a:r>
              <a:rPr dirty="0" sz="2650" spc="-10" b="1">
                <a:solidFill>
                  <a:srgbClr val="12110F"/>
                </a:solidFill>
                <a:latin typeface="Trebuchet MS"/>
                <a:cs typeface="Trebuchet MS"/>
              </a:rPr>
              <a:t>Utama:</a:t>
            </a:r>
            <a:endParaRPr sz="2650">
              <a:latin typeface="Trebuchet MS"/>
              <a:cs typeface="Trebuchet MS"/>
            </a:endParaRPr>
          </a:p>
          <a:p>
            <a:pPr algn="just" marL="12700" marR="5080">
              <a:lnSpc>
                <a:spcPts val="2780"/>
              </a:lnSpc>
              <a:spcBef>
                <a:spcPts val="225"/>
              </a:spcBef>
            </a:pPr>
            <a:r>
              <a:rPr dirty="0" sz="2650" spc="75">
                <a:solidFill>
                  <a:srgbClr val="12110F"/>
                </a:solidFill>
                <a:latin typeface="Tahoma"/>
                <a:cs typeface="Tahoma"/>
              </a:rPr>
              <a:t>Berhasil</a:t>
            </a:r>
            <a:r>
              <a:rPr dirty="0" sz="2650" spc="-1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25">
                <a:solidFill>
                  <a:srgbClr val="12110F"/>
                </a:solidFill>
                <a:latin typeface="Tahoma"/>
                <a:cs typeface="Tahoma"/>
              </a:rPr>
              <a:t>membangun</a:t>
            </a:r>
            <a:r>
              <a:rPr dirty="0" sz="2650" spc="-1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25">
                <a:solidFill>
                  <a:srgbClr val="12110F"/>
                </a:solidFill>
                <a:latin typeface="Tahoma"/>
                <a:cs typeface="Tahoma"/>
              </a:rPr>
              <a:t>prototipe</a:t>
            </a:r>
            <a:r>
              <a:rPr dirty="0" sz="2650" spc="-1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12110F"/>
                </a:solidFill>
                <a:latin typeface="Tahoma"/>
                <a:cs typeface="Tahoma"/>
              </a:rPr>
              <a:t>fungsional</a:t>
            </a:r>
            <a:r>
              <a:rPr dirty="0" sz="2650" spc="-15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55">
                <a:solidFill>
                  <a:srgbClr val="12110F"/>
                </a:solidFill>
                <a:latin typeface="Tahoma"/>
                <a:cs typeface="Tahoma"/>
              </a:rPr>
              <a:t>"Smart</a:t>
            </a:r>
            <a:r>
              <a:rPr dirty="0" sz="2650" spc="-14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35">
                <a:solidFill>
                  <a:srgbClr val="12110F"/>
                </a:solidFill>
                <a:latin typeface="Tahoma"/>
                <a:cs typeface="Tahoma"/>
              </a:rPr>
              <a:t>Expense </a:t>
            </a:r>
            <a:r>
              <a:rPr dirty="0" sz="2650" spc="60">
                <a:solidFill>
                  <a:srgbClr val="12110F"/>
                </a:solidFill>
                <a:latin typeface="Tahoma"/>
                <a:cs typeface="Tahoma"/>
              </a:rPr>
              <a:t>Tracker"</a:t>
            </a:r>
            <a:r>
              <a:rPr dirty="0" sz="2650" spc="-1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12110F"/>
                </a:solidFill>
                <a:latin typeface="Tahoma"/>
                <a:cs typeface="Tahoma"/>
              </a:rPr>
              <a:t>yang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40">
                <a:solidFill>
                  <a:srgbClr val="12110F"/>
                </a:solidFill>
                <a:latin typeface="Tahoma"/>
                <a:cs typeface="Tahoma"/>
              </a:rPr>
              <a:t>mampu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bertindak</a:t>
            </a:r>
            <a:r>
              <a:rPr dirty="0" sz="2650" spc="-175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12110F"/>
                </a:solidFill>
                <a:latin typeface="Tahoma"/>
                <a:cs typeface="Tahoma"/>
              </a:rPr>
              <a:t>sebagai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12110F"/>
                </a:solidFill>
                <a:latin typeface="Tahoma"/>
                <a:cs typeface="Tahoma"/>
              </a:rPr>
              <a:t>asisten</a:t>
            </a:r>
            <a:r>
              <a:rPr dirty="0" sz="2650" spc="-170">
                <a:solidFill>
                  <a:srgbClr val="12110F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12110F"/>
                </a:solidFill>
                <a:latin typeface="Tahoma"/>
                <a:cs typeface="Tahoma"/>
              </a:rPr>
              <a:t>keuangan </a:t>
            </a:r>
            <a:r>
              <a:rPr dirty="0" sz="2650" spc="-10">
                <a:solidFill>
                  <a:srgbClr val="12110F"/>
                </a:solidFill>
                <a:latin typeface="Tahoma"/>
                <a:cs typeface="Tahoma"/>
              </a:rPr>
              <a:t>pribadi.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019431" y="666703"/>
            <a:ext cx="0" cy="8254365"/>
          </a:xfrm>
          <a:custGeom>
            <a:avLst/>
            <a:gdLst/>
            <a:ahLst/>
            <a:cxnLst/>
            <a:rect l="l" t="t" r="r" b="b"/>
            <a:pathLst>
              <a:path w="0" h="8254365">
                <a:moveTo>
                  <a:pt x="0" y="8253802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297964" y="4611589"/>
            <a:ext cx="405765" cy="405765"/>
          </a:xfrm>
          <a:custGeom>
            <a:avLst/>
            <a:gdLst/>
            <a:ahLst/>
            <a:cxnLst/>
            <a:rect l="l" t="t" r="r" b="b"/>
            <a:pathLst>
              <a:path w="405765" h="405764">
                <a:moveTo>
                  <a:pt x="405498" y="405498"/>
                </a:moveTo>
                <a:lnTo>
                  <a:pt x="30654" y="405498"/>
                </a:lnTo>
                <a:lnTo>
                  <a:pt x="30654" y="318806"/>
                </a:lnTo>
                <a:lnTo>
                  <a:pt x="257511" y="318806"/>
                </a:lnTo>
                <a:lnTo>
                  <a:pt x="0" y="61294"/>
                </a:lnTo>
                <a:lnTo>
                  <a:pt x="61294" y="0"/>
                </a:lnTo>
                <a:lnTo>
                  <a:pt x="318806" y="257511"/>
                </a:lnTo>
                <a:lnTo>
                  <a:pt x="318806" y="30654"/>
                </a:lnTo>
                <a:lnTo>
                  <a:pt x="405498" y="30654"/>
                </a:lnTo>
                <a:lnTo>
                  <a:pt x="405498" y="405498"/>
                </a:lnTo>
                <a:close/>
              </a:path>
            </a:pathLst>
          </a:custGeom>
          <a:solidFill>
            <a:srgbClr val="176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297964" y="5816081"/>
            <a:ext cx="405765" cy="405765"/>
          </a:xfrm>
          <a:custGeom>
            <a:avLst/>
            <a:gdLst/>
            <a:ahLst/>
            <a:cxnLst/>
            <a:rect l="l" t="t" r="r" b="b"/>
            <a:pathLst>
              <a:path w="405765" h="405764">
                <a:moveTo>
                  <a:pt x="405498" y="405498"/>
                </a:moveTo>
                <a:lnTo>
                  <a:pt x="30654" y="405498"/>
                </a:lnTo>
                <a:lnTo>
                  <a:pt x="30654" y="318806"/>
                </a:lnTo>
                <a:lnTo>
                  <a:pt x="257511" y="318806"/>
                </a:lnTo>
                <a:lnTo>
                  <a:pt x="0" y="61294"/>
                </a:lnTo>
                <a:lnTo>
                  <a:pt x="61294" y="0"/>
                </a:lnTo>
                <a:lnTo>
                  <a:pt x="318806" y="257511"/>
                </a:lnTo>
                <a:lnTo>
                  <a:pt x="318806" y="30654"/>
                </a:lnTo>
                <a:lnTo>
                  <a:pt x="405498" y="30654"/>
                </a:lnTo>
                <a:lnTo>
                  <a:pt x="405498" y="405498"/>
                </a:lnTo>
                <a:close/>
              </a:path>
            </a:pathLst>
          </a:custGeom>
          <a:solidFill>
            <a:srgbClr val="1761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221407" y="7490507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4" h="306704">
                <a:moveTo>
                  <a:pt x="306404" y="306404"/>
                </a:moveTo>
                <a:lnTo>
                  <a:pt x="0" y="306404"/>
                </a:lnTo>
                <a:lnTo>
                  <a:pt x="0" y="0"/>
                </a:lnTo>
                <a:lnTo>
                  <a:pt x="306404" y="0"/>
                </a:lnTo>
                <a:lnTo>
                  <a:pt x="306404" y="306404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pc="90"/>
              <a:t>Keberhasilan</a:t>
            </a:r>
            <a:r>
              <a:rPr dirty="0" spc="-125"/>
              <a:t> </a:t>
            </a:r>
            <a:r>
              <a:rPr dirty="0" spc="175"/>
              <a:t>Integrasi</a:t>
            </a:r>
            <a:r>
              <a:rPr dirty="0" spc="-125"/>
              <a:t> </a:t>
            </a:r>
            <a:r>
              <a:rPr dirty="0" spc="114"/>
              <a:t>&amp;</a:t>
            </a:r>
            <a:r>
              <a:rPr dirty="0" spc="-120"/>
              <a:t> </a:t>
            </a:r>
            <a:r>
              <a:rPr dirty="0" spc="160"/>
              <a:t>Implementasi</a:t>
            </a:r>
            <a:r>
              <a:rPr dirty="0" spc="-125"/>
              <a:t> </a:t>
            </a:r>
            <a:r>
              <a:rPr dirty="0" spc="480"/>
              <a:t>AI</a:t>
            </a:r>
          </a:p>
          <a:p>
            <a:pPr marL="620395" marR="904240">
              <a:lnSpc>
                <a:spcPts val="2400"/>
              </a:lnSpc>
              <a:spcBef>
                <a:spcPts val="935"/>
              </a:spcBef>
            </a:pPr>
            <a:r>
              <a:rPr dirty="0" sz="2400" spc="120" b="0">
                <a:latin typeface="Tahoma"/>
                <a:cs typeface="Tahoma"/>
              </a:rPr>
              <a:t>Fitur-</a:t>
            </a:r>
            <a:r>
              <a:rPr dirty="0" sz="2400" spc="75" b="0">
                <a:latin typeface="Tahoma"/>
                <a:cs typeface="Tahoma"/>
              </a:rPr>
              <a:t>fitur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85" b="0">
                <a:latin typeface="Tahoma"/>
                <a:cs typeface="Tahoma"/>
              </a:rPr>
              <a:t>esensial</a:t>
            </a:r>
            <a:r>
              <a:rPr dirty="0" sz="2400" spc="-195" b="0">
                <a:latin typeface="Tahoma"/>
                <a:cs typeface="Tahoma"/>
              </a:rPr>
              <a:t> </a:t>
            </a:r>
            <a:r>
              <a:rPr dirty="0" sz="2400" spc="105" b="0">
                <a:latin typeface="Tahoma"/>
                <a:cs typeface="Tahoma"/>
              </a:rPr>
              <a:t>seperti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114" b="0">
                <a:latin typeface="Tahoma"/>
                <a:cs typeface="Tahoma"/>
              </a:rPr>
              <a:t>pencatatan</a:t>
            </a:r>
            <a:r>
              <a:rPr dirty="0" sz="2400" spc="-195" b="0">
                <a:latin typeface="Tahoma"/>
                <a:cs typeface="Tahoma"/>
              </a:rPr>
              <a:t> </a:t>
            </a:r>
            <a:r>
              <a:rPr dirty="0" sz="2400" spc="40" b="0">
                <a:latin typeface="Tahoma"/>
                <a:cs typeface="Tahoma"/>
              </a:rPr>
              <a:t>transaksi, </a:t>
            </a:r>
            <a:r>
              <a:rPr dirty="0" sz="2400" b="0">
                <a:latin typeface="Tahoma"/>
                <a:cs typeface="Tahoma"/>
              </a:rPr>
              <a:t>anggaran,</a:t>
            </a:r>
            <a:r>
              <a:rPr dirty="0" sz="2400" spc="-140" b="0">
                <a:latin typeface="Tahoma"/>
                <a:cs typeface="Tahoma"/>
              </a:rPr>
              <a:t> </a:t>
            </a:r>
            <a:r>
              <a:rPr dirty="0" sz="2400" spc="95" b="0">
                <a:latin typeface="Tahoma"/>
                <a:cs typeface="Tahoma"/>
              </a:rPr>
              <a:t>dan</a:t>
            </a:r>
            <a:r>
              <a:rPr dirty="0" sz="2400" spc="-140" b="0">
                <a:latin typeface="Tahoma"/>
                <a:cs typeface="Tahoma"/>
              </a:rPr>
              <a:t> </a:t>
            </a:r>
            <a:r>
              <a:rPr dirty="0" sz="2400" spc="85" b="0">
                <a:latin typeface="Tahoma"/>
                <a:cs typeface="Tahoma"/>
              </a:rPr>
              <a:t>prioritas</a:t>
            </a:r>
            <a:r>
              <a:rPr dirty="0" sz="2400" spc="-135" b="0">
                <a:latin typeface="Tahoma"/>
                <a:cs typeface="Tahoma"/>
              </a:rPr>
              <a:t> </a:t>
            </a:r>
            <a:r>
              <a:rPr dirty="0" sz="2400" spc="95" b="0">
                <a:latin typeface="Tahoma"/>
                <a:cs typeface="Tahoma"/>
              </a:rPr>
              <a:t>keuangan</a:t>
            </a:r>
            <a:r>
              <a:rPr dirty="0" sz="2400" spc="-140" b="0">
                <a:latin typeface="Tahoma"/>
                <a:cs typeface="Tahoma"/>
              </a:rPr>
              <a:t> </a:t>
            </a:r>
            <a:r>
              <a:rPr dirty="0" sz="2400" spc="75" b="0">
                <a:latin typeface="Tahoma"/>
                <a:cs typeface="Tahoma"/>
              </a:rPr>
              <a:t>berhasil</a:t>
            </a:r>
            <a:r>
              <a:rPr dirty="0" sz="2400" spc="-135" b="0">
                <a:latin typeface="Tahoma"/>
                <a:cs typeface="Tahoma"/>
              </a:rPr>
              <a:t> </a:t>
            </a:r>
            <a:r>
              <a:rPr dirty="0" sz="2400" spc="40" b="0">
                <a:latin typeface="Tahoma"/>
                <a:cs typeface="Tahoma"/>
              </a:rPr>
              <a:t>diintegrasikan.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2400">
              <a:latin typeface="Tahoma"/>
              <a:cs typeface="Tahoma"/>
            </a:endParaRPr>
          </a:p>
          <a:p>
            <a:pPr marL="620395">
              <a:lnSpc>
                <a:spcPct val="100000"/>
              </a:lnSpc>
            </a:pPr>
            <a:r>
              <a:rPr dirty="0" sz="2400" spc="135" b="0">
                <a:latin typeface="Tahoma"/>
                <a:cs typeface="Tahoma"/>
              </a:rPr>
              <a:t>Semua</a:t>
            </a:r>
            <a:r>
              <a:rPr dirty="0" sz="2400" spc="-195" b="0">
                <a:latin typeface="Tahoma"/>
                <a:cs typeface="Tahoma"/>
              </a:rPr>
              <a:t> </a:t>
            </a:r>
            <a:r>
              <a:rPr dirty="0" sz="2400" spc="100" b="0">
                <a:latin typeface="Tahoma"/>
                <a:cs typeface="Tahoma"/>
              </a:rPr>
              <a:t>terhubung</a:t>
            </a:r>
            <a:r>
              <a:rPr dirty="0" sz="2400" spc="-190" b="0">
                <a:latin typeface="Tahoma"/>
                <a:cs typeface="Tahoma"/>
              </a:rPr>
              <a:t> </a:t>
            </a:r>
            <a:r>
              <a:rPr dirty="0" sz="2400" spc="105" b="0">
                <a:latin typeface="Tahoma"/>
                <a:cs typeface="Tahoma"/>
              </a:rPr>
              <a:t>dengan</a:t>
            </a:r>
            <a:r>
              <a:rPr dirty="0" sz="2400" spc="-195" b="0">
                <a:latin typeface="Tahoma"/>
                <a:cs typeface="Tahoma"/>
              </a:rPr>
              <a:t> </a:t>
            </a:r>
            <a:r>
              <a:rPr dirty="0" sz="2400" spc="110" b="0">
                <a:latin typeface="Tahoma"/>
                <a:cs typeface="Tahoma"/>
              </a:rPr>
              <a:t>database</a:t>
            </a:r>
            <a:r>
              <a:rPr dirty="0" sz="2400" spc="-190" b="0">
                <a:latin typeface="Tahoma"/>
                <a:cs typeface="Tahoma"/>
              </a:rPr>
              <a:t> </a:t>
            </a:r>
            <a:r>
              <a:rPr dirty="0" sz="2400" spc="95" b="0">
                <a:latin typeface="Tahoma"/>
                <a:cs typeface="Tahoma"/>
              </a:rPr>
              <a:t>real-</a:t>
            </a:r>
            <a:r>
              <a:rPr dirty="0" sz="2400" spc="110" b="0">
                <a:latin typeface="Tahoma"/>
                <a:cs typeface="Tahoma"/>
              </a:rPr>
              <a:t>time</a:t>
            </a:r>
            <a:r>
              <a:rPr dirty="0" sz="2400" spc="-195" b="0">
                <a:latin typeface="Tahoma"/>
                <a:cs typeface="Tahoma"/>
              </a:rPr>
              <a:t> </a:t>
            </a:r>
            <a:r>
              <a:rPr dirty="0" sz="2400" spc="-10" b="0">
                <a:latin typeface="Tahoma"/>
                <a:cs typeface="Tahoma"/>
              </a:rPr>
              <a:t>(Firebase).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400">
              <a:latin typeface="Tahoma"/>
              <a:cs typeface="Tahoma"/>
            </a:endParaRPr>
          </a:p>
          <a:p>
            <a:pPr marL="620395" marR="1083310">
              <a:lnSpc>
                <a:spcPts val="2400"/>
              </a:lnSpc>
            </a:pPr>
            <a:r>
              <a:rPr dirty="0" sz="2400" spc="135" b="0">
                <a:latin typeface="Tahoma"/>
                <a:cs typeface="Tahoma"/>
              </a:rPr>
              <a:t>Google</a:t>
            </a:r>
            <a:r>
              <a:rPr dirty="0" sz="2400" spc="-190" b="0">
                <a:latin typeface="Tahoma"/>
                <a:cs typeface="Tahoma"/>
              </a:rPr>
              <a:t> </a:t>
            </a:r>
            <a:r>
              <a:rPr dirty="0" sz="2400" spc="100" b="0">
                <a:latin typeface="Tahoma"/>
                <a:cs typeface="Tahoma"/>
              </a:rPr>
              <a:t>Gemini</a:t>
            </a:r>
            <a:r>
              <a:rPr dirty="0" sz="2400" spc="-185" b="0">
                <a:latin typeface="Tahoma"/>
                <a:cs typeface="Tahoma"/>
              </a:rPr>
              <a:t> </a:t>
            </a:r>
            <a:r>
              <a:rPr dirty="0" sz="2400" spc="229" b="0">
                <a:latin typeface="Tahoma"/>
                <a:cs typeface="Tahoma"/>
              </a:rPr>
              <a:t>API</a:t>
            </a:r>
            <a:r>
              <a:rPr dirty="0" sz="2400" spc="-185" b="0">
                <a:latin typeface="Tahoma"/>
                <a:cs typeface="Tahoma"/>
              </a:rPr>
              <a:t> </a:t>
            </a:r>
            <a:r>
              <a:rPr dirty="0" sz="2400" spc="75" b="0">
                <a:latin typeface="Tahoma"/>
                <a:cs typeface="Tahoma"/>
              </a:rPr>
              <a:t>berhasil</a:t>
            </a:r>
            <a:r>
              <a:rPr dirty="0" sz="2400" spc="-185" b="0">
                <a:latin typeface="Tahoma"/>
                <a:cs typeface="Tahoma"/>
              </a:rPr>
              <a:t> </a:t>
            </a:r>
            <a:r>
              <a:rPr dirty="0" sz="2400" spc="95" b="0">
                <a:latin typeface="Tahoma"/>
                <a:cs typeface="Tahoma"/>
              </a:rPr>
              <a:t>diterapkan</a:t>
            </a:r>
            <a:r>
              <a:rPr dirty="0" sz="2400" spc="-185" b="0">
                <a:latin typeface="Tahoma"/>
                <a:cs typeface="Tahoma"/>
              </a:rPr>
              <a:t> </a:t>
            </a:r>
            <a:r>
              <a:rPr dirty="0" sz="2400" spc="90" b="0">
                <a:latin typeface="Tahoma"/>
                <a:cs typeface="Tahoma"/>
              </a:rPr>
              <a:t>untuk </a:t>
            </a:r>
            <a:r>
              <a:rPr dirty="0" sz="2400" spc="105" b="0">
                <a:latin typeface="Tahoma"/>
                <a:cs typeface="Tahoma"/>
              </a:rPr>
              <a:t>menyediakan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60" b="0">
                <a:latin typeface="Tahoma"/>
                <a:cs typeface="Tahoma"/>
              </a:rPr>
              <a:t>analisis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105" b="0">
                <a:latin typeface="Tahoma"/>
                <a:cs typeface="Tahoma"/>
              </a:rPr>
              <a:t>yang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65" b="0">
                <a:latin typeface="Tahoma"/>
                <a:cs typeface="Tahoma"/>
              </a:rPr>
              <a:t>lebih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65" b="0">
                <a:latin typeface="Tahoma"/>
                <a:cs typeface="Tahoma"/>
              </a:rPr>
              <a:t>dari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110" b="0">
                <a:latin typeface="Tahoma"/>
                <a:cs typeface="Tahoma"/>
              </a:rPr>
              <a:t>sekadar</a:t>
            </a:r>
            <a:r>
              <a:rPr dirty="0" sz="2400" spc="-200" b="0">
                <a:latin typeface="Tahoma"/>
                <a:cs typeface="Tahoma"/>
              </a:rPr>
              <a:t> </a:t>
            </a:r>
            <a:r>
              <a:rPr dirty="0" sz="2400" spc="80" b="0">
                <a:latin typeface="Tahoma"/>
                <a:cs typeface="Tahoma"/>
              </a:rPr>
              <a:t>pelaporan </a:t>
            </a:r>
            <a:r>
              <a:rPr dirty="0" sz="2400" spc="-10" b="0">
                <a:latin typeface="Tahoma"/>
                <a:cs typeface="Tahoma"/>
              </a:rPr>
              <a:t>data.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pc="114"/>
              <a:t>Jawaban</a:t>
            </a:r>
            <a:r>
              <a:rPr dirty="0" spc="-125"/>
              <a:t> </a:t>
            </a:r>
            <a:r>
              <a:rPr dirty="0" spc="155"/>
              <a:t>atas</a:t>
            </a:r>
            <a:r>
              <a:rPr dirty="0" spc="-125"/>
              <a:t> </a:t>
            </a:r>
            <a:r>
              <a:rPr dirty="0" spc="160"/>
              <a:t>Masalah</a:t>
            </a:r>
          </a:p>
          <a:p>
            <a:pPr marL="365760" marR="5080">
              <a:lnSpc>
                <a:spcPts val="2550"/>
              </a:lnSpc>
              <a:spcBef>
                <a:spcPts val="2820"/>
              </a:spcBef>
            </a:pPr>
            <a:r>
              <a:rPr dirty="0" sz="2550" spc="120" b="0">
                <a:latin typeface="Tahoma"/>
                <a:cs typeface="Tahoma"/>
              </a:rPr>
              <a:t>Prototipe</a:t>
            </a:r>
            <a:r>
              <a:rPr dirty="0" sz="2550" spc="-190" b="0">
                <a:latin typeface="Tahoma"/>
                <a:cs typeface="Tahoma"/>
              </a:rPr>
              <a:t> </a:t>
            </a:r>
            <a:r>
              <a:rPr dirty="0" sz="2550" spc="110" b="0">
                <a:latin typeface="Tahoma"/>
                <a:cs typeface="Tahoma"/>
              </a:rPr>
              <a:t>yang</a:t>
            </a:r>
            <a:r>
              <a:rPr dirty="0" sz="2550" spc="-185" b="0">
                <a:latin typeface="Tahoma"/>
                <a:cs typeface="Tahoma"/>
              </a:rPr>
              <a:t> </a:t>
            </a:r>
            <a:r>
              <a:rPr dirty="0" sz="2550" spc="114" b="0">
                <a:latin typeface="Tahoma"/>
                <a:cs typeface="Tahoma"/>
              </a:rPr>
              <a:t>dikembangkan</a:t>
            </a:r>
            <a:r>
              <a:rPr dirty="0" sz="2550" spc="-185" b="0">
                <a:latin typeface="Tahoma"/>
                <a:cs typeface="Tahoma"/>
              </a:rPr>
              <a:t> </a:t>
            </a:r>
            <a:r>
              <a:rPr dirty="0" sz="2550" spc="75" b="0">
                <a:latin typeface="Tahoma"/>
                <a:cs typeface="Tahoma"/>
              </a:rPr>
              <a:t>berhasil</a:t>
            </a:r>
            <a:r>
              <a:rPr dirty="0" sz="2550" spc="-185" b="0">
                <a:latin typeface="Tahoma"/>
                <a:cs typeface="Tahoma"/>
              </a:rPr>
              <a:t> </a:t>
            </a:r>
            <a:r>
              <a:rPr dirty="0" sz="2550" spc="114" b="0">
                <a:latin typeface="Tahoma"/>
                <a:cs typeface="Tahoma"/>
              </a:rPr>
              <a:t>memberikan</a:t>
            </a:r>
            <a:r>
              <a:rPr dirty="0" sz="2550" spc="-190" b="0">
                <a:latin typeface="Tahoma"/>
                <a:cs typeface="Tahoma"/>
              </a:rPr>
              <a:t> </a:t>
            </a:r>
            <a:r>
              <a:rPr dirty="0" sz="2550" spc="75" b="0">
                <a:latin typeface="Tahoma"/>
                <a:cs typeface="Tahoma"/>
              </a:rPr>
              <a:t>jawaban </a:t>
            </a:r>
            <a:r>
              <a:rPr dirty="0" sz="2550" spc="114" b="0">
                <a:latin typeface="Tahoma"/>
                <a:cs typeface="Tahoma"/>
              </a:rPr>
              <a:t>awal</a:t>
            </a:r>
            <a:r>
              <a:rPr dirty="0" sz="2550" spc="-204" b="0">
                <a:latin typeface="Tahoma"/>
                <a:cs typeface="Tahoma"/>
              </a:rPr>
              <a:t> </a:t>
            </a:r>
            <a:r>
              <a:rPr dirty="0" sz="2550" spc="105" b="0">
                <a:latin typeface="Tahoma"/>
                <a:cs typeface="Tahoma"/>
              </a:rPr>
              <a:t>terhadap</a:t>
            </a:r>
            <a:r>
              <a:rPr dirty="0" sz="2550" spc="-200" b="0">
                <a:latin typeface="Tahoma"/>
                <a:cs typeface="Tahoma"/>
              </a:rPr>
              <a:t> </a:t>
            </a:r>
            <a:r>
              <a:rPr dirty="0" sz="2550" spc="90" b="0">
                <a:latin typeface="Tahoma"/>
                <a:cs typeface="Tahoma"/>
              </a:rPr>
              <a:t>permasalahan</a:t>
            </a:r>
            <a:r>
              <a:rPr dirty="0" sz="2550" spc="-200" b="0">
                <a:latin typeface="Tahoma"/>
                <a:cs typeface="Tahoma"/>
              </a:rPr>
              <a:t> </a:t>
            </a:r>
            <a:r>
              <a:rPr dirty="0" sz="2550" spc="65" b="0">
                <a:latin typeface="Tahoma"/>
                <a:cs typeface="Tahoma"/>
              </a:rPr>
              <a:t>literasi</a:t>
            </a:r>
            <a:r>
              <a:rPr dirty="0" sz="2550" spc="-200" b="0">
                <a:latin typeface="Tahoma"/>
                <a:cs typeface="Tahoma"/>
              </a:rPr>
              <a:t> </a:t>
            </a:r>
            <a:r>
              <a:rPr dirty="0" sz="2550" spc="55" b="0">
                <a:latin typeface="Tahoma"/>
                <a:cs typeface="Tahoma"/>
              </a:rPr>
              <a:t>finansial</a:t>
            </a:r>
            <a:r>
              <a:rPr dirty="0" sz="2550" spc="-204" b="0">
                <a:latin typeface="Tahoma"/>
                <a:cs typeface="Tahoma"/>
              </a:rPr>
              <a:t> </a:t>
            </a:r>
            <a:r>
              <a:rPr dirty="0" sz="2550" spc="75" b="0">
                <a:latin typeface="Tahoma"/>
                <a:cs typeface="Tahoma"/>
              </a:rPr>
              <a:t>di</a:t>
            </a:r>
            <a:r>
              <a:rPr dirty="0" sz="2550" spc="-200" b="0">
                <a:latin typeface="Tahoma"/>
                <a:cs typeface="Tahoma"/>
              </a:rPr>
              <a:t> </a:t>
            </a:r>
            <a:r>
              <a:rPr dirty="0" sz="2550" spc="70" b="0">
                <a:latin typeface="Tahoma"/>
                <a:cs typeface="Tahoma"/>
              </a:rPr>
              <a:t>kalangan </a:t>
            </a:r>
            <a:r>
              <a:rPr dirty="0" sz="2550" spc="114" b="0">
                <a:latin typeface="Tahoma"/>
                <a:cs typeface="Tahoma"/>
              </a:rPr>
              <a:t>mahasiswa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297920" y="5324967"/>
            <a:ext cx="8734425" cy="0"/>
          </a:xfrm>
          <a:custGeom>
            <a:avLst/>
            <a:gdLst/>
            <a:ahLst/>
            <a:cxnLst/>
            <a:rect l="l" t="t" r="r" b="b"/>
            <a:pathLst>
              <a:path w="8734425" h="0">
                <a:moveTo>
                  <a:pt x="87340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0" y="9057995"/>
            <a:ext cx="3629024" cy="5619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211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67164" y="4658130"/>
            <a:ext cx="0" cy="4962525"/>
          </a:xfrm>
          <a:custGeom>
            <a:avLst/>
            <a:gdLst/>
            <a:ahLst/>
            <a:cxnLst/>
            <a:rect l="l" t="t" r="r" b="b"/>
            <a:pathLst>
              <a:path w="0" h="4962525">
                <a:moveTo>
                  <a:pt x="0" y="0"/>
                </a:moveTo>
                <a:lnTo>
                  <a:pt x="0" y="4962159"/>
                </a:lnTo>
              </a:path>
            </a:pathLst>
          </a:custGeom>
          <a:ln w="9524">
            <a:solidFill>
              <a:srgbClr val="E6E3E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028164" y="0"/>
            <a:ext cx="3260090" cy="4024629"/>
          </a:xfrm>
          <a:custGeom>
            <a:avLst/>
            <a:gdLst/>
            <a:ahLst/>
            <a:cxnLst/>
            <a:rect l="l" t="t" r="r" b="b"/>
            <a:pathLst>
              <a:path w="3260090" h="4024629">
                <a:moveTo>
                  <a:pt x="461975" y="0"/>
                </a:moveTo>
                <a:lnTo>
                  <a:pt x="239090" y="0"/>
                </a:lnTo>
                <a:lnTo>
                  <a:pt x="0" y="1372603"/>
                </a:lnTo>
                <a:lnTo>
                  <a:pt x="461848" y="4024058"/>
                </a:lnTo>
                <a:lnTo>
                  <a:pt x="461975" y="4024058"/>
                </a:lnTo>
                <a:lnTo>
                  <a:pt x="461975" y="0"/>
                </a:lnTo>
                <a:close/>
              </a:path>
              <a:path w="3260090" h="4024629">
                <a:moveTo>
                  <a:pt x="3259823" y="313004"/>
                </a:moveTo>
                <a:lnTo>
                  <a:pt x="3201835" y="501535"/>
                </a:lnTo>
                <a:lnTo>
                  <a:pt x="3201835" y="0"/>
                </a:lnTo>
                <a:lnTo>
                  <a:pt x="2836545" y="0"/>
                </a:lnTo>
                <a:lnTo>
                  <a:pt x="2653804" y="640156"/>
                </a:lnTo>
                <a:lnTo>
                  <a:pt x="2653804" y="0"/>
                </a:lnTo>
                <a:lnTo>
                  <a:pt x="2317089" y="0"/>
                </a:lnTo>
                <a:lnTo>
                  <a:pt x="2105926" y="802474"/>
                </a:lnTo>
                <a:lnTo>
                  <a:pt x="2105926" y="0"/>
                </a:lnTo>
                <a:lnTo>
                  <a:pt x="1797570" y="0"/>
                </a:lnTo>
                <a:lnTo>
                  <a:pt x="1557896" y="994625"/>
                </a:lnTo>
                <a:lnTo>
                  <a:pt x="1557896" y="0"/>
                </a:lnTo>
                <a:lnTo>
                  <a:pt x="1278064" y="0"/>
                </a:lnTo>
                <a:lnTo>
                  <a:pt x="1010018" y="1225765"/>
                </a:lnTo>
                <a:lnTo>
                  <a:pt x="1010018" y="0"/>
                </a:lnTo>
                <a:lnTo>
                  <a:pt x="758634" y="0"/>
                </a:lnTo>
                <a:lnTo>
                  <a:pt x="488975" y="1372603"/>
                </a:lnTo>
                <a:lnTo>
                  <a:pt x="1009865" y="4024058"/>
                </a:lnTo>
                <a:lnTo>
                  <a:pt x="1010018" y="4024058"/>
                </a:lnTo>
                <a:lnTo>
                  <a:pt x="1010018" y="1519440"/>
                </a:lnTo>
                <a:lnTo>
                  <a:pt x="1557718" y="4024058"/>
                </a:lnTo>
                <a:lnTo>
                  <a:pt x="1557896" y="4024058"/>
                </a:lnTo>
                <a:lnTo>
                  <a:pt x="1557896" y="1750593"/>
                </a:lnTo>
                <a:lnTo>
                  <a:pt x="2105736" y="4024058"/>
                </a:lnTo>
                <a:lnTo>
                  <a:pt x="2105926" y="4024058"/>
                </a:lnTo>
                <a:lnTo>
                  <a:pt x="2105926" y="1942744"/>
                </a:lnTo>
                <a:lnTo>
                  <a:pt x="2653601" y="4024058"/>
                </a:lnTo>
                <a:lnTo>
                  <a:pt x="2653804" y="4024058"/>
                </a:lnTo>
                <a:lnTo>
                  <a:pt x="2653804" y="2105063"/>
                </a:lnTo>
                <a:lnTo>
                  <a:pt x="3201619" y="4024058"/>
                </a:lnTo>
                <a:lnTo>
                  <a:pt x="3201835" y="4024058"/>
                </a:lnTo>
                <a:lnTo>
                  <a:pt x="3201835" y="2243683"/>
                </a:lnTo>
                <a:lnTo>
                  <a:pt x="3259823" y="2432215"/>
                </a:lnTo>
                <a:lnTo>
                  <a:pt x="3259823" y="501535"/>
                </a:lnTo>
                <a:lnTo>
                  <a:pt x="3259823" y="313004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539182" y="0"/>
            <a:ext cx="403225" cy="4024629"/>
          </a:xfrm>
          <a:custGeom>
            <a:avLst/>
            <a:gdLst/>
            <a:ahLst/>
            <a:cxnLst/>
            <a:rect l="l" t="t" r="r" b="b"/>
            <a:pathLst>
              <a:path w="403225" h="4024629">
                <a:moveTo>
                  <a:pt x="403092" y="4024050"/>
                </a:moveTo>
                <a:lnTo>
                  <a:pt x="0" y="1372603"/>
                </a:lnTo>
                <a:lnTo>
                  <a:pt x="208611" y="0"/>
                </a:lnTo>
                <a:lnTo>
                  <a:pt x="403092" y="0"/>
                </a:lnTo>
                <a:lnTo>
                  <a:pt x="403092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050199" y="0"/>
            <a:ext cx="344805" cy="4024629"/>
          </a:xfrm>
          <a:custGeom>
            <a:avLst/>
            <a:gdLst/>
            <a:ahLst/>
            <a:cxnLst/>
            <a:rect l="l" t="t" r="r" b="b"/>
            <a:pathLst>
              <a:path w="344805" h="4024629">
                <a:moveTo>
                  <a:pt x="344198" y="4024050"/>
                </a:moveTo>
                <a:lnTo>
                  <a:pt x="0" y="1372603"/>
                </a:lnTo>
                <a:lnTo>
                  <a:pt x="178132" y="0"/>
                </a:lnTo>
                <a:lnTo>
                  <a:pt x="344198" y="0"/>
                </a:lnTo>
                <a:lnTo>
                  <a:pt x="344198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561215" y="0"/>
            <a:ext cx="285750" cy="4024629"/>
          </a:xfrm>
          <a:custGeom>
            <a:avLst/>
            <a:gdLst/>
            <a:ahLst/>
            <a:cxnLst/>
            <a:rect l="l" t="t" r="r" b="b"/>
            <a:pathLst>
              <a:path w="285750" h="4024629">
                <a:moveTo>
                  <a:pt x="285148" y="4024050"/>
                </a:moveTo>
                <a:lnTo>
                  <a:pt x="0" y="1372603"/>
                </a:lnTo>
                <a:lnTo>
                  <a:pt x="147572" y="0"/>
                </a:lnTo>
                <a:lnTo>
                  <a:pt x="285148" y="0"/>
                </a:lnTo>
                <a:lnTo>
                  <a:pt x="285148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072231" y="0"/>
            <a:ext cx="226695" cy="4024629"/>
          </a:xfrm>
          <a:custGeom>
            <a:avLst/>
            <a:gdLst/>
            <a:ahLst/>
            <a:cxnLst/>
            <a:rect l="l" t="t" r="r" b="b"/>
            <a:pathLst>
              <a:path w="226694" h="4024629">
                <a:moveTo>
                  <a:pt x="226255" y="4024050"/>
                </a:moveTo>
                <a:lnTo>
                  <a:pt x="0" y="1372603"/>
                </a:lnTo>
                <a:lnTo>
                  <a:pt x="117093" y="0"/>
                </a:lnTo>
                <a:lnTo>
                  <a:pt x="226255" y="0"/>
                </a:lnTo>
                <a:lnTo>
                  <a:pt x="226255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583248" y="0"/>
            <a:ext cx="167640" cy="4024629"/>
          </a:xfrm>
          <a:custGeom>
            <a:avLst/>
            <a:gdLst/>
            <a:ahLst/>
            <a:cxnLst/>
            <a:rect l="l" t="t" r="r" b="b"/>
            <a:pathLst>
              <a:path w="167640" h="4024629">
                <a:moveTo>
                  <a:pt x="167204" y="4024050"/>
                </a:moveTo>
                <a:lnTo>
                  <a:pt x="0" y="1372603"/>
                </a:lnTo>
                <a:lnTo>
                  <a:pt x="86533" y="0"/>
                </a:lnTo>
                <a:lnTo>
                  <a:pt x="167204" y="0"/>
                </a:lnTo>
                <a:lnTo>
                  <a:pt x="167204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2094264" y="0"/>
            <a:ext cx="108585" cy="4024629"/>
          </a:xfrm>
          <a:custGeom>
            <a:avLst/>
            <a:gdLst/>
            <a:ahLst/>
            <a:cxnLst/>
            <a:rect l="l" t="t" r="r" b="b"/>
            <a:pathLst>
              <a:path w="108584" h="4024629">
                <a:moveTo>
                  <a:pt x="108312" y="4024050"/>
                </a:moveTo>
                <a:lnTo>
                  <a:pt x="0" y="1372603"/>
                </a:lnTo>
                <a:lnTo>
                  <a:pt x="56054" y="0"/>
                </a:lnTo>
                <a:lnTo>
                  <a:pt x="108312" y="0"/>
                </a:lnTo>
                <a:lnTo>
                  <a:pt x="108312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1605911" y="0"/>
            <a:ext cx="48895" cy="4024629"/>
          </a:xfrm>
          <a:custGeom>
            <a:avLst/>
            <a:gdLst/>
            <a:ahLst/>
            <a:cxnLst/>
            <a:rect l="l" t="t" r="r" b="b"/>
            <a:pathLst>
              <a:path w="48895" h="4024629">
                <a:moveTo>
                  <a:pt x="48630" y="4024050"/>
                </a:moveTo>
                <a:lnTo>
                  <a:pt x="0" y="1406592"/>
                </a:lnTo>
                <a:lnTo>
                  <a:pt x="0" y="1338613"/>
                </a:lnTo>
                <a:lnTo>
                  <a:pt x="24862" y="0"/>
                </a:lnTo>
                <a:lnTo>
                  <a:pt x="48630" y="0"/>
                </a:lnTo>
                <a:lnTo>
                  <a:pt x="48630" y="4024050"/>
                </a:lnTo>
                <a:close/>
              </a:path>
            </a:pathLst>
          </a:custGeom>
          <a:solidFill>
            <a:srgbClr val="F5F5F5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54049" y="772276"/>
            <a:ext cx="8191500" cy="326390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z="8000" spc="210">
                <a:solidFill>
                  <a:srgbClr val="F5F5F5"/>
                </a:solidFill>
              </a:rPr>
              <a:t>Saran</a:t>
            </a:r>
            <a:r>
              <a:rPr dirty="0" sz="8000" spc="-25">
                <a:solidFill>
                  <a:srgbClr val="F5F5F5"/>
                </a:solidFill>
              </a:rPr>
              <a:t> </a:t>
            </a:r>
            <a:r>
              <a:rPr dirty="0" sz="8000" spc="175">
                <a:solidFill>
                  <a:srgbClr val="F5F5F5"/>
                </a:solidFill>
              </a:rPr>
              <a:t>untuk </a:t>
            </a:r>
            <a:r>
              <a:rPr dirty="0" sz="8000" spc="110">
                <a:solidFill>
                  <a:srgbClr val="F5F5F5"/>
                </a:solidFill>
              </a:rPr>
              <a:t>Pengembangan </a:t>
            </a:r>
            <a:r>
              <a:rPr dirty="0" sz="8000" spc="140">
                <a:solidFill>
                  <a:srgbClr val="F5F5F5"/>
                </a:solidFill>
              </a:rPr>
              <a:t>Selanjutnya</a:t>
            </a:r>
            <a:endParaRPr sz="8000"/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67" y="5552623"/>
            <a:ext cx="85725" cy="857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67" y="6428923"/>
            <a:ext cx="85725" cy="8572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15967" y="4854981"/>
            <a:ext cx="8277225" cy="3092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6105" marR="771525" indent="-574040">
              <a:lnSpc>
                <a:spcPct val="108500"/>
              </a:lnSpc>
              <a:spcBef>
                <a:spcPts val="95"/>
              </a:spcBef>
            </a:pPr>
            <a:r>
              <a:rPr dirty="0" sz="2650" spc="110" b="1">
                <a:solidFill>
                  <a:srgbClr val="F5F5F5"/>
                </a:solidFill>
                <a:latin typeface="Trebuchet MS"/>
                <a:cs typeface="Trebuchet MS"/>
              </a:rPr>
              <a:t>Peningkatan</a:t>
            </a:r>
            <a:r>
              <a:rPr dirty="0" sz="2650" spc="-110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120" b="1">
                <a:solidFill>
                  <a:srgbClr val="F5F5F5"/>
                </a:solidFill>
                <a:latin typeface="Trebuchet MS"/>
                <a:cs typeface="Trebuchet MS"/>
              </a:rPr>
              <a:t>Konsistensi</a:t>
            </a:r>
            <a:r>
              <a:rPr dirty="0" sz="2650" spc="-110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170" b="1">
                <a:solidFill>
                  <a:srgbClr val="F5F5F5"/>
                </a:solidFill>
                <a:latin typeface="Trebuchet MS"/>
                <a:cs typeface="Trebuchet MS"/>
              </a:rPr>
              <a:t>Respons</a:t>
            </a:r>
            <a:r>
              <a:rPr dirty="0" sz="2650" spc="-105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450" b="1">
                <a:solidFill>
                  <a:srgbClr val="F5F5F5"/>
                </a:solidFill>
                <a:latin typeface="Trebuchet MS"/>
                <a:cs typeface="Trebuchet MS"/>
              </a:rPr>
              <a:t>AI </a:t>
            </a:r>
            <a:r>
              <a:rPr dirty="0" sz="2650" spc="105">
                <a:solidFill>
                  <a:srgbClr val="F5F5F5"/>
                </a:solidFill>
                <a:latin typeface="Tahoma"/>
                <a:cs typeface="Tahoma"/>
              </a:rPr>
              <a:t>Melakukan</a:t>
            </a:r>
            <a:r>
              <a:rPr dirty="0" sz="2650" spc="-229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0">
                <a:solidFill>
                  <a:srgbClr val="F5F5F5"/>
                </a:solidFill>
                <a:latin typeface="Tahoma"/>
                <a:cs typeface="Tahoma"/>
              </a:rPr>
              <a:t>riset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45">
                <a:solidFill>
                  <a:srgbClr val="F5F5F5"/>
                </a:solidFill>
                <a:latin typeface="Tahoma"/>
                <a:cs typeface="Tahoma"/>
              </a:rPr>
              <a:t>prompt</a:t>
            </a:r>
            <a:r>
              <a:rPr dirty="0" sz="2650" spc="-229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F5F5F5"/>
                </a:solidFill>
                <a:latin typeface="Tahoma"/>
                <a:cs typeface="Tahoma"/>
              </a:rPr>
              <a:t>engineering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F5F5F5"/>
                </a:solidFill>
                <a:latin typeface="Tahoma"/>
                <a:cs typeface="Tahoma"/>
              </a:rPr>
              <a:t>tingkat </a:t>
            </a:r>
            <a:r>
              <a:rPr dirty="0" sz="2650" spc="-10">
                <a:solidFill>
                  <a:srgbClr val="F5F5F5"/>
                </a:solidFill>
                <a:latin typeface="Tahoma"/>
                <a:cs typeface="Tahoma"/>
              </a:rPr>
              <a:t>lanjut.</a:t>
            </a:r>
            <a:endParaRPr sz="2650">
              <a:latin typeface="Tahoma"/>
              <a:cs typeface="Tahoma"/>
            </a:endParaRPr>
          </a:p>
          <a:p>
            <a:pPr marL="586105" marR="5080">
              <a:lnSpc>
                <a:spcPct val="108500"/>
              </a:lnSpc>
            </a:pPr>
            <a:r>
              <a:rPr dirty="0" sz="2650" spc="125">
                <a:solidFill>
                  <a:srgbClr val="F5F5F5"/>
                </a:solidFill>
                <a:latin typeface="Tahoma"/>
                <a:cs typeface="Tahoma"/>
              </a:rPr>
              <a:t>Mempertimbangkan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0">
                <a:solidFill>
                  <a:srgbClr val="F5F5F5"/>
                </a:solidFill>
                <a:latin typeface="Tahoma"/>
                <a:cs typeface="Tahoma"/>
              </a:rPr>
              <a:t>penggunaan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20">
                <a:solidFill>
                  <a:srgbClr val="F5F5F5"/>
                </a:solidFill>
                <a:latin typeface="Tahoma"/>
                <a:cs typeface="Tahoma"/>
              </a:rPr>
              <a:t>model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300">
                <a:solidFill>
                  <a:srgbClr val="F5F5F5"/>
                </a:solidFill>
                <a:latin typeface="Tahoma"/>
                <a:cs typeface="Tahoma"/>
              </a:rPr>
              <a:t>AI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F5F5F5"/>
                </a:solidFill>
                <a:latin typeface="Tahoma"/>
                <a:cs typeface="Tahoma"/>
              </a:rPr>
              <a:t>yang </a:t>
            </a:r>
            <a:r>
              <a:rPr dirty="0" sz="2650" spc="75">
                <a:solidFill>
                  <a:srgbClr val="F5F5F5"/>
                </a:solidFill>
                <a:latin typeface="Tahoma"/>
                <a:cs typeface="Tahoma"/>
              </a:rPr>
              <a:t>telah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45">
                <a:solidFill>
                  <a:srgbClr val="F5F5F5"/>
                </a:solidFill>
                <a:latin typeface="Tahoma"/>
                <a:cs typeface="Tahoma"/>
              </a:rPr>
              <a:t>di-</a:t>
            </a:r>
            <a:r>
              <a:rPr dirty="0" sz="2650" spc="114">
                <a:solidFill>
                  <a:srgbClr val="F5F5F5"/>
                </a:solidFill>
                <a:latin typeface="Tahoma"/>
                <a:cs typeface="Tahoma"/>
              </a:rPr>
              <a:t>fine-tuned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F5F5F5"/>
                </a:solidFill>
                <a:latin typeface="Tahoma"/>
                <a:cs typeface="Tahoma"/>
              </a:rPr>
              <a:t>dengan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F5F5F5"/>
                </a:solidFill>
                <a:latin typeface="Tahoma"/>
                <a:cs typeface="Tahoma"/>
              </a:rPr>
              <a:t>data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F5F5F5"/>
                </a:solidFill>
                <a:latin typeface="Tahoma"/>
                <a:cs typeface="Tahoma"/>
              </a:rPr>
              <a:t>spesifik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90">
                <a:solidFill>
                  <a:srgbClr val="F5F5F5"/>
                </a:solidFill>
                <a:latin typeface="Tahoma"/>
                <a:cs typeface="Tahoma"/>
              </a:rPr>
              <a:t>untuk menghasilkan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F5F5F5"/>
                </a:solidFill>
                <a:latin typeface="Tahoma"/>
                <a:cs typeface="Tahoma"/>
              </a:rPr>
              <a:t>keluaran</a:t>
            </a:r>
            <a:r>
              <a:rPr dirty="0" sz="2650" spc="-2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F5F5F5"/>
                </a:solidFill>
                <a:latin typeface="Tahoma"/>
                <a:cs typeface="Tahoma"/>
              </a:rPr>
              <a:t>yang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F5F5F5"/>
                </a:solidFill>
                <a:latin typeface="Tahoma"/>
                <a:cs typeface="Tahoma"/>
              </a:rPr>
              <a:t>lebih</a:t>
            </a:r>
            <a:r>
              <a:rPr dirty="0" sz="2650" spc="-2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F5F5F5"/>
                </a:solidFill>
                <a:latin typeface="Tahoma"/>
                <a:cs typeface="Tahoma"/>
              </a:rPr>
              <a:t>akurat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75">
                <a:solidFill>
                  <a:srgbClr val="F5F5F5"/>
                </a:solidFill>
                <a:latin typeface="Tahoma"/>
                <a:cs typeface="Tahoma"/>
              </a:rPr>
              <a:t>dan </a:t>
            </a:r>
            <a:r>
              <a:rPr dirty="0" sz="2650" spc="65">
                <a:solidFill>
                  <a:srgbClr val="F5F5F5"/>
                </a:solidFill>
                <a:latin typeface="Tahoma"/>
                <a:cs typeface="Tahoma"/>
              </a:rPr>
              <a:t>relevan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6780" y="5552623"/>
            <a:ext cx="85725" cy="8572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6780" y="6867073"/>
            <a:ext cx="85725" cy="8572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3043" y="7300461"/>
            <a:ext cx="95250" cy="9524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93043" y="8176761"/>
            <a:ext cx="95250" cy="9524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9561180" y="4854981"/>
            <a:ext cx="7826375" cy="3968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6105" marR="5080" indent="-574040">
              <a:lnSpc>
                <a:spcPct val="108500"/>
              </a:lnSpc>
              <a:spcBef>
                <a:spcPts val="95"/>
              </a:spcBef>
            </a:pPr>
            <a:r>
              <a:rPr dirty="0" sz="2650" spc="145" b="1">
                <a:solidFill>
                  <a:srgbClr val="F5F5F5"/>
                </a:solidFill>
                <a:latin typeface="Trebuchet MS"/>
                <a:cs typeface="Trebuchet MS"/>
              </a:rPr>
              <a:t>Implementasi</a:t>
            </a:r>
            <a:r>
              <a:rPr dirty="0" sz="2650" spc="-85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b="1">
                <a:solidFill>
                  <a:srgbClr val="F5F5F5"/>
                </a:solidFill>
                <a:latin typeface="Trebuchet MS"/>
                <a:cs typeface="Trebuchet MS"/>
              </a:rPr>
              <a:t>Fitur</a:t>
            </a:r>
            <a:r>
              <a:rPr dirty="0" sz="2650" spc="-85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105" b="1">
                <a:solidFill>
                  <a:srgbClr val="F5F5F5"/>
                </a:solidFill>
                <a:latin typeface="Trebuchet MS"/>
                <a:cs typeface="Trebuchet MS"/>
              </a:rPr>
              <a:t>Pencatatan</a:t>
            </a:r>
            <a:r>
              <a:rPr dirty="0" sz="2650" spc="-85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135" b="1">
                <a:solidFill>
                  <a:srgbClr val="F5F5F5"/>
                </a:solidFill>
                <a:latin typeface="Trebuchet MS"/>
                <a:cs typeface="Trebuchet MS"/>
              </a:rPr>
              <a:t>Pemasukan </a:t>
            </a:r>
            <a:r>
              <a:rPr dirty="0" sz="2650" spc="114">
                <a:solidFill>
                  <a:srgbClr val="F5F5F5"/>
                </a:solidFill>
                <a:latin typeface="Tahoma"/>
                <a:cs typeface="Tahoma"/>
              </a:rPr>
              <a:t>Menambahkan</a:t>
            </a:r>
            <a:r>
              <a:rPr dirty="0" sz="2650" spc="-20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F5F5F5"/>
                </a:solidFill>
                <a:latin typeface="Tahoma"/>
                <a:cs typeface="Tahoma"/>
              </a:rPr>
              <a:t>fungsionalitas</a:t>
            </a:r>
            <a:r>
              <a:rPr dirty="0" sz="2650" spc="-20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0">
                <a:solidFill>
                  <a:srgbClr val="F5F5F5"/>
                </a:solidFill>
                <a:latin typeface="Tahoma"/>
                <a:cs typeface="Tahoma"/>
              </a:rPr>
              <a:t>untuk</a:t>
            </a:r>
            <a:r>
              <a:rPr dirty="0" sz="2650" spc="-19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25">
                <a:solidFill>
                  <a:srgbClr val="F5F5F5"/>
                </a:solidFill>
                <a:latin typeface="Tahoma"/>
                <a:cs typeface="Tahoma"/>
              </a:rPr>
              <a:t>mencatat </a:t>
            </a:r>
            <a:r>
              <a:rPr dirty="0" sz="2650" spc="120">
                <a:solidFill>
                  <a:srgbClr val="F5F5F5"/>
                </a:solidFill>
                <a:latin typeface="Tahoma"/>
                <a:cs typeface="Tahoma"/>
              </a:rPr>
              <a:t>pemasukan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F5F5F5"/>
                </a:solidFill>
                <a:latin typeface="Tahoma"/>
                <a:cs typeface="Tahoma"/>
              </a:rPr>
              <a:t>agar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65">
                <a:solidFill>
                  <a:srgbClr val="F5F5F5"/>
                </a:solidFill>
                <a:latin typeface="Tahoma"/>
                <a:cs typeface="Tahoma"/>
              </a:rPr>
              <a:t>analisis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300">
                <a:solidFill>
                  <a:srgbClr val="F5F5F5"/>
                </a:solidFill>
                <a:latin typeface="Tahoma"/>
                <a:cs typeface="Tahoma"/>
              </a:rPr>
              <a:t>AI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60">
                <a:solidFill>
                  <a:srgbClr val="F5F5F5"/>
                </a:solidFill>
                <a:latin typeface="Tahoma"/>
                <a:cs typeface="Tahoma"/>
              </a:rPr>
              <a:t>menjadi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55">
                <a:solidFill>
                  <a:srgbClr val="F5F5F5"/>
                </a:solidFill>
                <a:latin typeface="Tahoma"/>
                <a:cs typeface="Tahoma"/>
              </a:rPr>
              <a:t>lebih </a:t>
            </a:r>
            <a:r>
              <a:rPr dirty="0" sz="2650" spc="-10">
                <a:solidFill>
                  <a:srgbClr val="F5F5F5"/>
                </a:solidFill>
                <a:latin typeface="Tahoma"/>
                <a:cs typeface="Tahoma"/>
              </a:rPr>
              <a:t>menyeluruh.</a:t>
            </a:r>
            <a:endParaRPr sz="2650">
              <a:latin typeface="Tahoma"/>
              <a:cs typeface="Tahoma"/>
            </a:endParaRPr>
          </a:p>
          <a:p>
            <a:pPr marL="1160145" marR="1322705" indent="-574040">
              <a:lnSpc>
                <a:spcPct val="108500"/>
              </a:lnSpc>
            </a:pPr>
            <a:r>
              <a:rPr dirty="0" sz="2650" spc="160" b="1">
                <a:solidFill>
                  <a:srgbClr val="F5F5F5"/>
                </a:solidFill>
                <a:latin typeface="Trebuchet MS"/>
                <a:cs typeface="Trebuchet MS"/>
              </a:rPr>
              <a:t>Contoh</a:t>
            </a:r>
            <a:r>
              <a:rPr dirty="0" sz="2650" spc="-120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110" b="1">
                <a:solidFill>
                  <a:srgbClr val="F5F5F5"/>
                </a:solidFill>
                <a:latin typeface="Trebuchet MS"/>
                <a:cs typeface="Trebuchet MS"/>
              </a:rPr>
              <a:t>Peningkatan</a:t>
            </a:r>
            <a:r>
              <a:rPr dirty="0" sz="2650" spc="-120" b="1">
                <a:solidFill>
                  <a:srgbClr val="F5F5F5"/>
                </a:solidFill>
                <a:latin typeface="Trebuchet MS"/>
                <a:cs typeface="Trebuchet MS"/>
              </a:rPr>
              <a:t> </a:t>
            </a:r>
            <a:r>
              <a:rPr dirty="0" sz="2650" spc="-10" b="1">
                <a:solidFill>
                  <a:srgbClr val="F5F5F5"/>
                </a:solidFill>
                <a:latin typeface="Trebuchet MS"/>
                <a:cs typeface="Trebuchet MS"/>
              </a:rPr>
              <a:t>Analisis: </a:t>
            </a:r>
            <a:r>
              <a:rPr dirty="0" sz="2650" spc="75">
                <a:solidFill>
                  <a:srgbClr val="F5F5F5"/>
                </a:solidFill>
                <a:latin typeface="Tahoma"/>
                <a:cs typeface="Tahoma"/>
              </a:rPr>
              <a:t>Kalkulasi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85">
                <a:solidFill>
                  <a:srgbClr val="F5F5F5"/>
                </a:solidFill>
                <a:latin typeface="Tahoma"/>
                <a:cs typeface="Tahoma"/>
              </a:rPr>
              <a:t>rasio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0">
                <a:solidFill>
                  <a:srgbClr val="F5F5F5"/>
                </a:solidFill>
                <a:latin typeface="Tahoma"/>
                <a:cs typeface="Tahoma"/>
              </a:rPr>
              <a:t>tabungan</a:t>
            </a:r>
            <a:r>
              <a:rPr dirty="0" sz="2650" spc="-2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95">
                <a:solidFill>
                  <a:srgbClr val="F5F5F5"/>
                </a:solidFill>
                <a:latin typeface="Tahoma"/>
                <a:cs typeface="Tahoma"/>
              </a:rPr>
              <a:t>terhadap </a:t>
            </a:r>
            <a:r>
              <a:rPr dirty="0" sz="2650" spc="50">
                <a:solidFill>
                  <a:srgbClr val="F5F5F5"/>
                </a:solidFill>
                <a:latin typeface="Tahoma"/>
                <a:cs typeface="Tahoma"/>
              </a:rPr>
              <a:t>pendapatan.</a:t>
            </a:r>
            <a:endParaRPr sz="2650">
              <a:latin typeface="Tahoma"/>
              <a:cs typeface="Tahoma"/>
            </a:endParaRPr>
          </a:p>
          <a:p>
            <a:pPr marL="1160145" marR="1065530">
              <a:lnSpc>
                <a:spcPct val="108500"/>
              </a:lnSpc>
            </a:pPr>
            <a:r>
              <a:rPr dirty="0" sz="2650" spc="90">
                <a:solidFill>
                  <a:srgbClr val="F5F5F5"/>
                </a:solidFill>
                <a:latin typeface="Tahoma"/>
                <a:cs typeface="Tahoma"/>
              </a:rPr>
              <a:t>Analisis</a:t>
            </a:r>
            <a:r>
              <a:rPr dirty="0" sz="2650" spc="-23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90">
                <a:solidFill>
                  <a:srgbClr val="F5F5F5"/>
                </a:solidFill>
                <a:latin typeface="Tahoma"/>
                <a:cs typeface="Tahoma"/>
              </a:rPr>
              <a:t>arus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35">
                <a:solidFill>
                  <a:srgbClr val="F5F5F5"/>
                </a:solidFill>
                <a:latin typeface="Tahoma"/>
                <a:cs typeface="Tahoma"/>
              </a:rPr>
              <a:t>kas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70">
                <a:solidFill>
                  <a:srgbClr val="F5F5F5"/>
                </a:solidFill>
                <a:latin typeface="Tahoma"/>
                <a:cs typeface="Tahoma"/>
              </a:rPr>
              <a:t>bulanan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105">
                <a:solidFill>
                  <a:srgbClr val="F5F5F5"/>
                </a:solidFill>
                <a:latin typeface="Tahoma"/>
                <a:cs typeface="Tahoma"/>
              </a:rPr>
              <a:t>yang</a:t>
            </a:r>
            <a:r>
              <a:rPr dirty="0" sz="2650" spc="-2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650" spc="45">
                <a:solidFill>
                  <a:srgbClr val="F5F5F5"/>
                </a:solidFill>
                <a:latin typeface="Tahoma"/>
                <a:cs typeface="Tahoma"/>
              </a:rPr>
              <a:t>lebih </a:t>
            </a:r>
            <a:r>
              <a:rPr dirty="0" sz="2650" spc="35">
                <a:solidFill>
                  <a:srgbClr val="F5F5F5"/>
                </a:solidFill>
                <a:latin typeface="Tahoma"/>
                <a:cs typeface="Tahoma"/>
              </a:rPr>
              <a:t>mendetail.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NADIYAH AZIZAH</dc:creator>
  <cp:keywords>DAGwZonfwkE,BAFNB3kEoT0,0</cp:keywords>
  <dc:title>Slide Presentasi UPKP Hafizh Naufal</dc:title>
  <dcterms:created xsi:type="dcterms:W3CDTF">2025-08-19T09:02:32Z</dcterms:created>
  <dcterms:modified xsi:type="dcterms:W3CDTF">2025-08-19T09:02:32Z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2025-08-19T00:00:00Z</vt:filetime>
  </property>
  <property fmtid="{D5CDD505-2E9C-101B-9397-08002B2CF9AE}" pid="5" name="Producer">
    <vt:lpwstr>Canva</vt:lpwstr>
  </property>
</Properties>
</file>